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1.xml" ContentType="application/vnd.openxmlformats-officedocument.drawingml.chartshapes+xml"/>
  <Override PartName="/ppt/notesSlides/notesSlide7.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8.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9.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0.xml" ContentType="application/vnd.openxmlformats-officedocument.presentationml.notesSlide+xml"/>
  <Override PartName="/ppt/charts/chart11.xml" ContentType="application/vnd.openxmlformats-officedocument.drawingml.chart+xml"/>
  <Override PartName="/ppt/charts/chart12.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1.xml" ContentType="application/vnd.openxmlformats-officedocument.presentationml.notesSlide+xml"/>
  <Override PartName="/ppt/charts/chart13.xml" ContentType="application/vnd.openxmlformats-officedocument.drawingml.chart+xml"/>
  <Override PartName="/ppt/charts/chart14.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2.xml" ContentType="application/vnd.openxmlformats-officedocument.presentationml.notesSlide+xml"/>
  <Override PartName="/ppt/charts/chart15.xml" ContentType="application/vnd.openxmlformats-officedocument.drawingml.chart+xml"/>
  <Override PartName="/ppt/charts/chart16.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3.xml" ContentType="application/vnd.openxmlformats-officedocument.presentationml.notesSlide+xml"/>
  <Override PartName="/ppt/charts/chart17.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75" r:id="rId3"/>
    <p:sldId id="273" r:id="rId4"/>
    <p:sldId id="257" r:id="rId5"/>
    <p:sldId id="258" r:id="rId6"/>
    <p:sldId id="266" r:id="rId7"/>
    <p:sldId id="267" r:id="rId8"/>
    <p:sldId id="268" r:id="rId9"/>
    <p:sldId id="269" r:id="rId10"/>
    <p:sldId id="270" r:id="rId11"/>
    <p:sldId id="271" r:id="rId12"/>
    <p:sldId id="272" r:id="rId13"/>
    <p:sldId id="262" r:id="rId14"/>
    <p:sldId id="264" r:id="rId15"/>
    <p:sldId id="274" r:id="rId16"/>
    <p:sldId id="265" r:id="rId17"/>
    <p:sldId id="277" r:id="rId18"/>
    <p:sldId id="276"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90" d="100"/>
          <a:sy n="90" d="100"/>
        </p:scale>
        <p:origin x="8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oleObject" Target="file:///C:\Users\USER\Documents\Data%20Analyst%20Course\Project%20File\Retail_Transaction\Retail_Transaction_Dataset.xlsx" TargetMode="External"/><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4.xml.rels><?xml version="1.0" encoding="UTF-8" standalone="yes"?>
<Relationships xmlns="http://schemas.openxmlformats.org/package/2006/relationships"><Relationship Id="rId3" Type="http://schemas.openxmlformats.org/officeDocument/2006/relationships/oleObject" Target="file:///C:\Users\USER\Documents\Data%20Analyst%20Course\Project%20File\Retail_Transaction\Retail_Transaction_Dataset.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1.xml"/></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6.xml.rels><?xml version="1.0" encoding="UTF-8" standalone="yes"?>
<Relationships xmlns="http://schemas.openxmlformats.org/package/2006/relationships"><Relationship Id="rId3" Type="http://schemas.openxmlformats.org/officeDocument/2006/relationships/oleObject" Target="file:///C:\Users\USER\Documents\Data%20Analyst%20Course\Project%20File\Retail_Transaction\Retail_Transaction_Dataset.xlsx" TargetMode="External"/><Relationship Id="rId2" Type="http://schemas.microsoft.com/office/2011/relationships/chartColorStyle" Target="colors3.xml"/><Relationship Id="rId1" Type="http://schemas.microsoft.com/office/2011/relationships/chartStyle" Target="style3.xml"/></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8.xml.rels><?xml version="1.0" encoding="UTF-8" standalone="yes"?>
<Relationships xmlns="http://schemas.openxmlformats.org/package/2006/relationships"><Relationship Id="rId3" Type="http://schemas.openxmlformats.org/officeDocument/2006/relationships/oleObject" Target="file:///C:\Users\USER\Documents\Data%20Analyst%20Course\Project%20File\Retail_Transaction\Retail_Transaction_Dataset.xlsx" TargetMode="External"/><Relationship Id="rId2" Type="http://schemas.microsoft.com/office/2011/relationships/chartColorStyle" Target="colors4.xml"/><Relationship Id="rId1" Type="http://schemas.microsoft.com/office/2011/relationships/chartStyle" Target="style4.xml"/></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10.xml.rels><?xml version="1.0" encoding="UTF-8" standalone="yes"?>
<Relationships xmlns="http://schemas.openxmlformats.org/package/2006/relationships"><Relationship Id="rId3" Type="http://schemas.openxmlformats.org/officeDocument/2006/relationships/oleObject" Target="file:///C:\Users\USER\Documents\Data%20Analyst%20Course\Project%20File\Retail_Transaction\Retail_Transaction.xlsx" TargetMode="External"/><Relationship Id="rId2" Type="http://schemas.microsoft.com/office/2011/relationships/chartColorStyle" Target="colors5.xml"/><Relationship Id="rId1" Type="http://schemas.microsoft.com/office/2011/relationships/chartStyle" Target="style5.xml"/></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12.xml.rels><?xml version="1.0" encoding="UTF-8" standalone="yes"?>
<Relationships xmlns="http://schemas.openxmlformats.org/package/2006/relationships"><Relationship Id="rId3" Type="http://schemas.openxmlformats.org/officeDocument/2006/relationships/oleObject" Target="file:///C:\Users\USER\Documents\Data%20Analyst%20Course\Project%20File\Retail_Transaction\Retail_Transaction.xlsx" TargetMode="External"/><Relationship Id="rId2" Type="http://schemas.microsoft.com/office/2011/relationships/chartColorStyle" Target="colors6.xml"/><Relationship Id="rId1" Type="http://schemas.microsoft.com/office/2011/relationships/chartStyle" Target="style6.xml"/></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14.xml.rels><?xml version="1.0" encoding="UTF-8" standalone="yes"?>
<Relationships xmlns="http://schemas.openxmlformats.org/package/2006/relationships"><Relationship Id="rId3" Type="http://schemas.openxmlformats.org/officeDocument/2006/relationships/oleObject" Target="file:///C:\Users\USER\Documents\Data%20Analyst%20Course\Project%20File\Retail_Transaction\Retail_Transaction.xlsx" TargetMode="External"/><Relationship Id="rId2" Type="http://schemas.microsoft.com/office/2011/relationships/chartColorStyle" Target="colors7.xml"/><Relationship Id="rId1" Type="http://schemas.microsoft.com/office/2011/relationships/chartStyle" Target="style7.xml"/></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16.xml.rels><?xml version="1.0" encoding="UTF-8" standalone="yes"?>
<Relationships xmlns="http://schemas.openxmlformats.org/package/2006/relationships"><Relationship Id="rId3" Type="http://schemas.openxmlformats.org/officeDocument/2006/relationships/oleObject" Target="file:///C:\Users\USER\Documents\Data%20Analyst%20Course\Project%20File\Retail_Transaction\Retail_Transaction.xlsx" TargetMode="External"/><Relationship Id="rId2" Type="http://schemas.microsoft.com/office/2011/relationships/chartColorStyle" Target="colors8.xml"/><Relationship Id="rId1" Type="http://schemas.microsoft.com/office/2011/relationships/chartStyle" Target="style8.xml"/></Relationships>
</file>

<file path=ppt/charts/_rels/chart17.xml.rels><?xml version="1.0" encoding="UTF-8" standalone="yes"?>
<Relationships xmlns="http://schemas.openxmlformats.org/package/2006/relationships"><Relationship Id="rId3" Type="http://schemas.openxmlformats.org/officeDocument/2006/relationships/oleObject" Target="file:///C:\Users\USER\Documents\Data%20Analyst%20Course\Project%20File\Retail_Transaction\Retail_Transaction.xlsx" TargetMode="External"/><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ysClr val="windowText" lastClr="000000"/>
                </a:solidFill>
                <a:latin typeface="Unesa" pitchFamily="50" charset="0"/>
                <a:ea typeface="+mn-ea"/>
                <a:cs typeface="+mn-cs"/>
              </a:defRPr>
            </a:pPr>
            <a:r>
              <a:rPr lang="en-US" sz="1200" b="0" i="0" u="none" strike="noStrike" baseline="0" dirty="0">
                <a:solidFill>
                  <a:sysClr val="windowText" lastClr="000000"/>
                </a:solidFill>
                <a:latin typeface="Unesa" pitchFamily="50" charset="0"/>
              </a:rPr>
              <a:t>Monthly Revenue &amp; MoM Growth Rate (May 2023 – Apr 2024)</a:t>
            </a:r>
            <a:endParaRPr lang="en-US" sz="1200" dirty="0">
              <a:solidFill>
                <a:sysClr val="windowText" lastClr="000000"/>
              </a:solidFill>
              <a:latin typeface="Unesa" pitchFamily="50" charset="0"/>
            </a:endParaRPr>
          </a:p>
        </c:rich>
      </c:tx>
      <c:layout>
        <c:manualLayout>
          <c:xMode val="edge"/>
          <c:yMode val="edge"/>
          <c:x val="0.15554349430601011"/>
          <c:y val="3.3865066333204852E-2"/>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ysClr val="windowText" lastClr="000000"/>
              </a:solidFill>
              <a:latin typeface="Unesa" pitchFamily="50" charset="0"/>
              <a:ea typeface="+mn-ea"/>
              <a:cs typeface="+mn-cs"/>
            </a:defRPr>
          </a:pPr>
          <a:endParaRPr lang="en-US"/>
        </a:p>
      </c:txPr>
    </c:title>
    <c:autoTitleDeleted val="0"/>
    <c:plotArea>
      <c:layout/>
      <c:barChart>
        <c:barDir val="col"/>
        <c:grouping val="clustered"/>
        <c:varyColors val="0"/>
        <c:ser>
          <c:idx val="0"/>
          <c:order val="0"/>
          <c:tx>
            <c:strRef>
              <c:f>mom_report!$E$1</c:f>
              <c:strCache>
                <c:ptCount val="1"/>
                <c:pt idx="0">
                  <c:v>Net revenue</c:v>
                </c:pt>
              </c:strCache>
            </c:strRef>
          </c:tx>
          <c:spPr>
            <a:solidFill>
              <a:schemeClr val="accent1">
                <a:lumMod val="75000"/>
              </a:schemeClr>
            </a:solidFill>
            <a:ln w="117475">
              <a:solidFill>
                <a:schemeClr val="accent1">
                  <a:lumMod val="75000"/>
                </a:schemeClr>
              </a:solidFill>
            </a:ln>
            <a:effectLst/>
          </c:spPr>
          <c:invertIfNegative val="0"/>
          <c:dPt>
            <c:idx val="11"/>
            <c:invertIfNegative val="0"/>
            <c:bubble3D val="0"/>
            <c:spPr>
              <a:solidFill>
                <a:srgbClr val="FF0000"/>
              </a:solidFill>
              <a:ln w="117475">
                <a:solidFill>
                  <a:srgbClr val="FF0000"/>
                </a:solidFill>
              </a:ln>
              <a:effectLst/>
            </c:spPr>
            <c:extLst>
              <c:ext xmlns:c16="http://schemas.microsoft.com/office/drawing/2014/chart" uri="{C3380CC4-5D6E-409C-BE32-E72D297353CC}">
                <c16:uniqueId val="{00000001-04A2-4EDC-B854-55F3216FE04E}"/>
              </c:ext>
            </c:extLst>
          </c:dPt>
          <c:dLbls>
            <c:dLbl>
              <c:idx val="2"/>
              <c:layout>
                <c:manualLayout>
                  <c:x val="0"/>
                  <c:y val="-2.380952380952382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4A2-4EDC-B854-55F3216FE04E}"/>
                </c:ext>
              </c:extLst>
            </c:dLbl>
            <c:dLbl>
              <c:idx val="4"/>
              <c:layout>
                <c:manualLayout>
                  <c:x val="-7.3961144269057855E-17"/>
                  <c:y val="-2.380952380952380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4A2-4EDC-B854-55F3216FE04E}"/>
                </c:ext>
              </c:extLst>
            </c:dLbl>
            <c:dLbl>
              <c:idx val="6"/>
              <c:layout>
                <c:manualLayout>
                  <c:x val="-2.0171454183957414E-3"/>
                  <c:y val="-2.777777777777777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04A2-4EDC-B854-55F3216FE04E}"/>
                </c:ext>
              </c:extLst>
            </c:dLbl>
            <c:dLbl>
              <c:idx val="8"/>
              <c:layout>
                <c:manualLayout>
                  <c:x val="-7.3961144269057855E-17"/>
                  <c:y val="-3.5714285714285733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Unesa" pitchFamily="50" charset="0"/>
                        <a:ea typeface="+mn-ea"/>
                        <a:cs typeface="+mn-cs"/>
                      </a:defRPr>
                    </a:pPr>
                    <a:fld id="{073323EC-BA36-47A0-8C76-9AB92A526095}" type="VALUE">
                      <a:rPr lang="en-US" sz="900" b="1">
                        <a:solidFill>
                          <a:schemeClr val="bg1"/>
                        </a:solidFill>
                      </a:rPr>
                      <a:pPr>
                        <a:defRPr>
                          <a:solidFill>
                            <a:schemeClr val="bg1"/>
                          </a:solidFill>
                          <a:latin typeface="Unesa" pitchFamily="50" charset="0"/>
                        </a:defRPr>
                      </a:pPr>
                      <a:t>[VALUE]</a:t>
                    </a:fld>
                    <a:endParaRPr lang="en-US"/>
                  </a:p>
                </c:rich>
              </c:tx>
              <c:spPr>
                <a:solidFill>
                  <a:schemeClr val="accent6"/>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Unesa" pitchFamily="50"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04A2-4EDC-B854-55F3216FE04E}"/>
                </c:ext>
              </c:extLst>
            </c:dLbl>
            <c:dLbl>
              <c:idx val="10"/>
              <c:layout>
                <c:manualLayout>
                  <c:x val="-1.4792228853811571E-16"/>
                  <c:y val="-4.761904761904763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04A2-4EDC-B854-55F3216FE04E}"/>
                </c:ext>
              </c:extLst>
            </c:dLbl>
            <c:dLbl>
              <c:idx val="11"/>
              <c:layout>
                <c:manualLayout>
                  <c:x val="0"/>
                  <c:y val="-1.984126984126984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Unesa" pitchFamily="50" charset="0"/>
                        <a:ea typeface="+mn-ea"/>
                        <a:cs typeface="+mn-cs"/>
                      </a:defRPr>
                    </a:pPr>
                    <a:fld id="{EFC70F29-C1D0-42CF-92CB-B98C166758F7}" type="VALUE">
                      <a:rPr lang="en-US" sz="900" b="1">
                        <a:solidFill>
                          <a:schemeClr val="bg1"/>
                        </a:solidFill>
                      </a:rPr>
                      <a:pPr>
                        <a:defRPr>
                          <a:solidFill>
                            <a:schemeClr val="bg1"/>
                          </a:solidFill>
                          <a:latin typeface="Unesa" pitchFamily="50" charset="0"/>
                        </a:defRPr>
                      </a:pPr>
                      <a:t>[VALUE]</a:t>
                    </a:fld>
                    <a:endParaRPr lang="en-US"/>
                  </a:p>
                </c:rich>
              </c:tx>
              <c:spPr>
                <a:solidFill>
                  <a:srgbClr val="FF0000"/>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Unesa" pitchFamily="50"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04A2-4EDC-B854-55F3216FE04E}"/>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Unesa" pitchFamily="50"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mom_report!$D$2:$D$13</c:f>
              <c:strCache>
                <c:ptCount val="12"/>
                <c:pt idx="0">
                  <c:v>May</c:v>
                </c:pt>
                <c:pt idx="1">
                  <c:v>Jun</c:v>
                </c:pt>
                <c:pt idx="2">
                  <c:v>Jul</c:v>
                </c:pt>
                <c:pt idx="3">
                  <c:v>Aug</c:v>
                </c:pt>
                <c:pt idx="4">
                  <c:v>Sep</c:v>
                </c:pt>
                <c:pt idx="5">
                  <c:v>Oct</c:v>
                </c:pt>
                <c:pt idx="6">
                  <c:v>Nov</c:v>
                </c:pt>
                <c:pt idx="7">
                  <c:v>Dec</c:v>
                </c:pt>
                <c:pt idx="8">
                  <c:v>Jan</c:v>
                </c:pt>
                <c:pt idx="9">
                  <c:v>Feb</c:v>
                </c:pt>
                <c:pt idx="10">
                  <c:v>Mar</c:v>
                </c:pt>
                <c:pt idx="11">
                  <c:v>Apr</c:v>
                </c:pt>
              </c:strCache>
            </c:strRef>
          </c:cat>
          <c:val>
            <c:numRef>
              <c:f>mom_report!$E$2:$E$13</c:f>
              <c:numCache>
                <c:formatCode>_("$"* #,##0_);_("$"* \(#,##0\);_("$"* "-"??_);_(@_)</c:formatCode>
                <c:ptCount val="12"/>
                <c:pt idx="0">
                  <c:v>2074679.86033151</c:v>
                </c:pt>
                <c:pt idx="1">
                  <c:v>2042988.4475447654</c:v>
                </c:pt>
                <c:pt idx="2">
                  <c:v>2102673.1825161427</c:v>
                </c:pt>
                <c:pt idx="3">
                  <c:v>2085996.3853574933</c:v>
                </c:pt>
                <c:pt idx="4">
                  <c:v>2028227.5429631188</c:v>
                </c:pt>
                <c:pt idx="5">
                  <c:v>2021436.1384636704</c:v>
                </c:pt>
                <c:pt idx="6">
                  <c:v>2029802.0994230558</c:v>
                </c:pt>
                <c:pt idx="7">
                  <c:v>2095471.8370329384</c:v>
                </c:pt>
                <c:pt idx="8">
                  <c:v>2103979.8459603209</c:v>
                </c:pt>
                <c:pt idx="9">
                  <c:v>1956309.6931255225</c:v>
                </c:pt>
                <c:pt idx="10">
                  <c:v>2078231.9563271536</c:v>
                </c:pt>
                <c:pt idx="11">
                  <c:v>1855812.9690606764</c:v>
                </c:pt>
              </c:numCache>
            </c:numRef>
          </c:val>
          <c:extLst>
            <c:ext xmlns:c16="http://schemas.microsoft.com/office/drawing/2014/chart" uri="{C3380CC4-5D6E-409C-BE32-E72D297353CC}">
              <c16:uniqueId val="{00000007-04A2-4EDC-B854-55F3216FE04E}"/>
            </c:ext>
          </c:extLst>
        </c:ser>
        <c:dLbls>
          <c:showLegendKey val="0"/>
          <c:showVal val="0"/>
          <c:showCatName val="0"/>
          <c:showSerName val="0"/>
          <c:showPercent val="0"/>
          <c:showBubbleSize val="0"/>
        </c:dLbls>
        <c:gapWidth val="230"/>
        <c:overlap val="-27"/>
        <c:axId val="116149328"/>
        <c:axId val="116137264"/>
      </c:barChart>
      <c:lineChart>
        <c:grouping val="standard"/>
        <c:varyColors val="0"/>
        <c:ser>
          <c:idx val="2"/>
          <c:order val="1"/>
          <c:tx>
            <c:strRef>
              <c:f>mom_report!$G$1</c:f>
              <c:strCache>
                <c:ptCount val="1"/>
                <c:pt idx="0">
                  <c:v>MOM %</c:v>
                </c:pt>
              </c:strCache>
            </c:strRef>
          </c:tx>
          <c:spPr>
            <a:ln w="34925" cap="rnd">
              <a:solidFill>
                <a:srgbClr val="CC0000"/>
              </a:solidFill>
              <a:round/>
            </a:ln>
            <a:effectLst/>
          </c:spPr>
          <c:marker>
            <c:symbol val="circle"/>
            <c:size val="6"/>
            <c:spPr>
              <a:solidFill>
                <a:srgbClr val="FF0000"/>
              </a:solidFill>
              <a:ln w="6350" cap="rnd">
                <a:solidFill>
                  <a:srgbClr val="FF0000"/>
                </a:solidFill>
              </a:ln>
              <a:effectLst/>
            </c:spPr>
          </c:marker>
          <c:dLbls>
            <c:dLbl>
              <c:idx val="10"/>
              <c:layout>
                <c:manualLayout>
                  <c:x val="-3.2978511231244741E-2"/>
                  <c:y val="9.763904511936008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04A2-4EDC-B854-55F3216FE04E}"/>
                </c:ext>
              </c:extLst>
            </c:dLbl>
            <c:dLbl>
              <c:idx val="11"/>
              <c:layout>
                <c:manualLayout>
                  <c:x val="-3.887243949878183E-2"/>
                  <c:y val="1.324644096662083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04A2-4EDC-B854-55F3216FE04E}"/>
                </c:ext>
              </c:extLst>
            </c:dLbl>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bg1"/>
                    </a:solidFill>
                    <a:latin typeface="Unesa" pitchFamily="50" charset="0"/>
                    <a:ea typeface="+mn-ea"/>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mom_report!$D$2:$D$13</c:f>
              <c:strCache>
                <c:ptCount val="12"/>
                <c:pt idx="0">
                  <c:v>May</c:v>
                </c:pt>
                <c:pt idx="1">
                  <c:v>Jun</c:v>
                </c:pt>
                <c:pt idx="2">
                  <c:v>Jul</c:v>
                </c:pt>
                <c:pt idx="3">
                  <c:v>Aug</c:v>
                </c:pt>
                <c:pt idx="4">
                  <c:v>Sep</c:v>
                </c:pt>
                <c:pt idx="5">
                  <c:v>Oct</c:v>
                </c:pt>
                <c:pt idx="6">
                  <c:v>Nov</c:v>
                </c:pt>
                <c:pt idx="7">
                  <c:v>Dec</c:v>
                </c:pt>
                <c:pt idx="8">
                  <c:v>Jan</c:v>
                </c:pt>
                <c:pt idx="9">
                  <c:v>Feb</c:v>
                </c:pt>
                <c:pt idx="10">
                  <c:v>Mar</c:v>
                </c:pt>
                <c:pt idx="11">
                  <c:v>Apr</c:v>
                </c:pt>
              </c:strCache>
            </c:strRef>
          </c:cat>
          <c:val>
            <c:numRef>
              <c:f>mom_report!$G$2:$G$13</c:f>
              <c:numCache>
                <c:formatCode>0.00</c:formatCode>
                <c:ptCount val="12"/>
                <c:pt idx="1">
                  <c:v>-1.5275326758934564</c:v>
                </c:pt>
                <c:pt idx="2">
                  <c:v>2.9214426074266631</c:v>
                </c:pt>
                <c:pt idx="3">
                  <c:v>-0.79312359606419203</c:v>
                </c:pt>
                <c:pt idx="4">
                  <c:v>-2.7693644533556681</c:v>
                </c:pt>
                <c:pt idx="5">
                  <c:v>-0.33484430891449862</c:v>
                </c:pt>
                <c:pt idx="6">
                  <c:v>0.41386224378790765</c:v>
                </c:pt>
                <c:pt idx="7">
                  <c:v>3.2352778445025923</c:v>
                </c:pt>
                <c:pt idx="8">
                  <c:v>0.40601876756450977</c:v>
                </c:pt>
                <c:pt idx="9">
                  <c:v>-7.0186106163672521</c:v>
                </c:pt>
                <c:pt idx="10">
                  <c:v>6.2322577877146088</c:v>
                </c:pt>
                <c:pt idx="11">
                  <c:v>-10.702317736445401</c:v>
                </c:pt>
              </c:numCache>
            </c:numRef>
          </c:val>
          <c:smooth val="1"/>
          <c:extLst>
            <c:ext xmlns:c16="http://schemas.microsoft.com/office/drawing/2014/chart" uri="{C3380CC4-5D6E-409C-BE32-E72D297353CC}">
              <c16:uniqueId val="{0000000A-04A2-4EDC-B854-55F3216FE04E}"/>
            </c:ext>
          </c:extLst>
        </c:ser>
        <c:dLbls>
          <c:showLegendKey val="0"/>
          <c:showVal val="0"/>
          <c:showCatName val="0"/>
          <c:showSerName val="0"/>
          <c:showPercent val="0"/>
          <c:showBubbleSize val="0"/>
        </c:dLbls>
        <c:marker val="1"/>
        <c:smooth val="0"/>
        <c:axId val="116150992"/>
        <c:axId val="116135184"/>
      </c:lineChart>
      <c:catAx>
        <c:axId val="1161493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Unesa" pitchFamily="50" charset="0"/>
                <a:ea typeface="+mn-ea"/>
                <a:cs typeface="+mn-cs"/>
              </a:defRPr>
            </a:pPr>
            <a:endParaRPr lang="en-US"/>
          </a:p>
        </c:txPr>
        <c:crossAx val="116137264"/>
        <c:crosses val="autoZero"/>
        <c:auto val="1"/>
        <c:lblAlgn val="ctr"/>
        <c:lblOffset val="100"/>
        <c:noMultiLvlLbl val="0"/>
      </c:catAx>
      <c:valAx>
        <c:axId val="116137264"/>
        <c:scaling>
          <c:orientation val="minMax"/>
        </c:scaling>
        <c:delete val="0"/>
        <c:axPos val="l"/>
        <c:numFmt formatCode="_(&quot;$&quot;* #,##0_);_(&quot;$&quot;* \(#,##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ysClr val="windowText" lastClr="000000"/>
                </a:solidFill>
                <a:latin typeface="Unesa" pitchFamily="50" charset="0"/>
                <a:ea typeface="+mn-ea"/>
                <a:cs typeface="+mn-cs"/>
              </a:defRPr>
            </a:pPr>
            <a:endParaRPr lang="en-US"/>
          </a:p>
        </c:txPr>
        <c:crossAx val="116149328"/>
        <c:crosses val="autoZero"/>
        <c:crossBetween val="between"/>
      </c:valAx>
      <c:valAx>
        <c:axId val="116135184"/>
        <c:scaling>
          <c:orientation val="minMax"/>
        </c:scaling>
        <c:delete val="0"/>
        <c:axPos val="r"/>
        <c:numFmt formatCode="0.0"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Unesa" pitchFamily="50" charset="0"/>
                <a:ea typeface="+mn-ea"/>
                <a:cs typeface="+mn-cs"/>
              </a:defRPr>
            </a:pPr>
            <a:endParaRPr lang="en-US"/>
          </a:p>
        </c:txPr>
        <c:crossAx val="116150992"/>
        <c:crosses val="max"/>
        <c:crossBetween val="between"/>
      </c:valAx>
      <c:catAx>
        <c:axId val="116150992"/>
        <c:scaling>
          <c:orientation val="minMax"/>
        </c:scaling>
        <c:delete val="1"/>
        <c:axPos val="b"/>
        <c:numFmt formatCode="General" sourceLinked="1"/>
        <c:majorTickMark val="out"/>
        <c:minorTickMark val="none"/>
        <c:tickLblPos val="nextTo"/>
        <c:crossAx val="116135184"/>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Unesa" pitchFamily="50"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25400" cap="flat" cmpd="sng" algn="ctr">
      <a:solidFill>
        <a:schemeClr val="bg1">
          <a:lumMod val="95000"/>
        </a:schemeClr>
      </a:solidFill>
      <a:round/>
    </a:ln>
    <a:effectLst>
      <a:outerShdw blurRad="50800" dist="38100" dir="2700000" algn="tl" rotWithShape="0">
        <a:prstClr val="black">
          <a:alpha val="40000"/>
        </a:prstClr>
      </a:outerShdw>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ysClr val="windowText" lastClr="000000"/>
                </a:solidFill>
                <a:latin typeface="+mn-lt"/>
                <a:ea typeface="+mn-ea"/>
                <a:cs typeface="+mn-cs"/>
              </a:defRPr>
            </a:pPr>
            <a:r>
              <a:rPr lang="en-US" sz="1200" b="0" i="0" u="none" strike="noStrike" baseline="0">
                <a:solidFill>
                  <a:sysClr val="windowText" lastClr="000000"/>
                </a:solidFill>
                <a:latin typeface="Unesa" pitchFamily="50" charset="0"/>
              </a:rPr>
              <a:t>Net Revenue by Product Category (May 2023 – Apr 2024)</a:t>
            </a:r>
            <a:endParaRPr lang="en-US" sz="1200">
              <a:solidFill>
                <a:sysClr val="windowText" lastClr="000000"/>
              </a:solidFill>
              <a:latin typeface="Unesa" pitchFamily="50" charset="0"/>
            </a:endParaRPr>
          </a:p>
        </c:rich>
      </c:tx>
      <c:layout>
        <c:manualLayout>
          <c:xMode val="edge"/>
          <c:yMode val="edge"/>
          <c:x val="0.12863132736429345"/>
          <c:y val="5.9581135901957197E-2"/>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ysClr val="windowText" lastClr="000000"/>
              </a:solidFill>
              <a:latin typeface="+mn-lt"/>
              <a:ea typeface="+mn-ea"/>
              <a:cs typeface="+mn-cs"/>
            </a:defRPr>
          </a:pPr>
          <a:endParaRPr lang="en-US"/>
        </a:p>
      </c:txPr>
    </c:title>
    <c:autoTitleDeleted val="0"/>
    <c:plotArea>
      <c:layout>
        <c:manualLayout>
          <c:layoutTarget val="inner"/>
          <c:xMode val="edge"/>
          <c:yMode val="edge"/>
          <c:x val="0.13176435483083271"/>
          <c:y val="0.1574946921443737"/>
          <c:w val="0.84905318709911726"/>
          <c:h val="0.75489710283029909"/>
        </c:manualLayout>
      </c:layout>
      <c:barChart>
        <c:barDir val="bar"/>
        <c:grouping val="clustered"/>
        <c:varyColors val="0"/>
        <c:ser>
          <c:idx val="0"/>
          <c:order val="0"/>
          <c:tx>
            <c:strRef>
              <c:f>product_performance_report!$I$21</c:f>
              <c:strCache>
                <c:ptCount val="1"/>
                <c:pt idx="0">
                  <c:v>net_revenue</c:v>
                </c:pt>
              </c:strCache>
            </c:strRef>
          </c:tx>
          <c:spPr>
            <a:solidFill>
              <a:schemeClr val="accent1">
                <a:lumMod val="75000"/>
              </a:schemeClr>
            </a:solidFill>
            <a:ln w="114300">
              <a:solidFill>
                <a:schemeClr val="accent1">
                  <a:lumMod val="75000"/>
                </a:schemeClr>
              </a:solidFill>
            </a:ln>
            <a:effectLst/>
          </c:spPr>
          <c:invertIfNegative val="0"/>
          <c:dLbls>
            <c:dLbl>
              <c:idx val="0"/>
              <c:layout>
                <c:manualLayout>
                  <c:x val="0"/>
                  <c:y val="-8.492569002123142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CA2-4C2F-8B85-E431AE83CF1E}"/>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ysClr val="windowText" lastClr="000000"/>
                    </a:solidFill>
                    <a:latin typeface="Unesa" pitchFamily="50"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product_performance_report!$H$22:$H$25</c:f>
              <c:strCache>
                <c:ptCount val="4"/>
                <c:pt idx="0">
                  <c:v>Home Decor</c:v>
                </c:pt>
                <c:pt idx="1">
                  <c:v>Electronics</c:v>
                </c:pt>
                <c:pt idx="2">
                  <c:v>Clothing</c:v>
                </c:pt>
                <c:pt idx="3">
                  <c:v>Books</c:v>
                </c:pt>
              </c:strCache>
            </c:strRef>
          </c:cat>
          <c:val>
            <c:numRef>
              <c:f>product_performance_report!$I$22:$I$25</c:f>
              <c:numCache>
                <c:formatCode>_("$"* #,##0_);_("$"* \(#,##0\);_("$"* "-"??_);_(@_)</c:formatCode>
                <c:ptCount val="4"/>
                <c:pt idx="0">
                  <c:v>6089886.1671705395</c:v>
                </c:pt>
                <c:pt idx="1">
                  <c:v>6107315.3733772412</c:v>
                </c:pt>
                <c:pt idx="2">
                  <c:v>6115482.6233249027</c:v>
                </c:pt>
                <c:pt idx="3">
                  <c:v>6162925.7942336695</c:v>
                </c:pt>
              </c:numCache>
            </c:numRef>
          </c:val>
          <c:extLst>
            <c:ext xmlns:c16="http://schemas.microsoft.com/office/drawing/2014/chart" uri="{C3380CC4-5D6E-409C-BE32-E72D297353CC}">
              <c16:uniqueId val="{00000001-DCA2-4C2F-8B85-E431AE83CF1E}"/>
            </c:ext>
          </c:extLst>
        </c:ser>
        <c:dLbls>
          <c:dLblPos val="outEnd"/>
          <c:showLegendKey val="0"/>
          <c:showVal val="1"/>
          <c:showCatName val="0"/>
          <c:showSerName val="0"/>
          <c:showPercent val="0"/>
          <c:showBubbleSize val="0"/>
        </c:dLbls>
        <c:gapWidth val="219"/>
        <c:axId val="1033644272"/>
        <c:axId val="1033645104"/>
      </c:barChart>
      <c:catAx>
        <c:axId val="103364427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Unesa" pitchFamily="50" charset="0"/>
                <a:ea typeface="+mn-ea"/>
                <a:cs typeface="+mn-cs"/>
              </a:defRPr>
            </a:pPr>
            <a:endParaRPr lang="en-US"/>
          </a:p>
        </c:txPr>
        <c:crossAx val="1033645104"/>
        <c:crosses val="autoZero"/>
        <c:auto val="1"/>
        <c:lblAlgn val="ctr"/>
        <c:lblOffset val="100"/>
        <c:noMultiLvlLbl val="0"/>
      </c:catAx>
      <c:valAx>
        <c:axId val="1033645104"/>
        <c:scaling>
          <c:orientation val="minMax"/>
        </c:scaling>
        <c:delete val="0"/>
        <c:axPos val="b"/>
        <c:numFmt formatCode="_(&quot;$&quot;* #,##0_);_(&quot;$&quot;* \(#,##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ysClr val="windowText" lastClr="000000"/>
                </a:solidFill>
                <a:latin typeface="Unesa" pitchFamily="50" charset="0"/>
                <a:ea typeface="+mn-ea"/>
                <a:cs typeface="+mn-cs"/>
              </a:defRPr>
            </a:pPr>
            <a:endParaRPr lang="en-US"/>
          </a:p>
        </c:txPr>
        <c:crossAx val="103364427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28575" cap="rnd" cmpd="sng" algn="ctr">
      <a:solidFill>
        <a:schemeClr val="tx1">
          <a:lumMod val="15000"/>
          <a:lumOff val="85000"/>
        </a:schemeClr>
      </a:solidFill>
      <a:round/>
    </a:ln>
    <a:effectLst>
      <a:outerShdw blurRad="50800" dist="38100" dir="2700000" algn="tl" rotWithShape="0">
        <a:prstClr val="black">
          <a:alpha val="40000"/>
        </a:prstClr>
      </a:outerShdw>
    </a:effectLst>
  </c:spPr>
  <c:txPr>
    <a:bodyPr/>
    <a:lstStyle/>
    <a:p>
      <a:pPr>
        <a:defRPr/>
      </a:pPr>
      <a:endParaRPr lang="en-US"/>
    </a:p>
  </c:txPr>
  <c:externalData r:id="rId3">
    <c:autoUpdate val="0"/>
  </c:externalData>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100" b="0" i="0" u="none" strike="noStrike" kern="1200" spc="0" baseline="0">
                <a:solidFill>
                  <a:sysClr val="windowText" lastClr="000000"/>
                </a:solidFill>
                <a:latin typeface="+mn-lt"/>
                <a:ea typeface="+mn-ea"/>
                <a:cs typeface="+mn-cs"/>
              </a:defRPr>
            </a:pPr>
            <a:r>
              <a:rPr lang="en-US" sz="1100" b="0" i="0" u="none" strike="noStrike" baseline="0" dirty="0">
                <a:solidFill>
                  <a:sysClr val="windowText" lastClr="000000"/>
                </a:solidFill>
                <a:latin typeface="Unesa" pitchFamily="50" charset="0"/>
              </a:rPr>
              <a:t>Total Units Sold &amp; Distribution % by Product Category (May 2023 – Apr 2024)</a:t>
            </a:r>
            <a:endParaRPr lang="en-US" sz="1100" dirty="0">
              <a:solidFill>
                <a:sysClr val="windowText" lastClr="000000"/>
              </a:solidFill>
              <a:latin typeface="Unesa" pitchFamily="50" charset="0"/>
            </a:endParaRPr>
          </a:p>
        </c:rich>
      </c:tx>
      <c:overlay val="0"/>
      <c:spPr>
        <a:noFill/>
        <a:ln>
          <a:noFill/>
        </a:ln>
        <a:effectLst/>
      </c:spPr>
      <c:txPr>
        <a:bodyPr rot="0" spcFirstLastPara="1" vertOverflow="ellipsis" vert="horz" wrap="square" anchor="ctr" anchorCtr="1"/>
        <a:lstStyle/>
        <a:p>
          <a:pPr>
            <a:defRPr sz="1100" b="0" i="0" u="none" strike="noStrike" kern="1200" spc="0" baseline="0">
              <a:solidFill>
                <a:sysClr val="windowText" lastClr="000000"/>
              </a:solidFill>
              <a:latin typeface="+mn-lt"/>
              <a:ea typeface="+mn-ea"/>
              <a:cs typeface="+mn-cs"/>
            </a:defRPr>
          </a:pPr>
          <a:endParaRPr lang="en-US"/>
        </a:p>
      </c:txPr>
    </c:title>
    <c:autoTitleDeleted val="0"/>
    <c:plotArea>
      <c:layout/>
      <c:barChart>
        <c:barDir val="col"/>
        <c:grouping val="clustered"/>
        <c:varyColors val="0"/>
        <c:ser>
          <c:idx val="0"/>
          <c:order val="0"/>
          <c:tx>
            <c:strRef>
              <c:f>product_performance_report!$J$21</c:f>
              <c:strCache>
                <c:ptCount val="1"/>
                <c:pt idx="0">
                  <c:v>total_sold</c:v>
                </c:pt>
              </c:strCache>
            </c:strRef>
          </c:tx>
          <c:spPr>
            <a:solidFill>
              <a:schemeClr val="accent1">
                <a:lumMod val="75000"/>
              </a:schemeClr>
            </a:solidFill>
            <a:ln w="101600" cap="rnd">
              <a:solidFill>
                <a:schemeClr val="accent1">
                  <a:lumMod val="75000"/>
                </a:schemeClr>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Unesa" pitchFamily="50"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product_performance_report!$H$22:$H$25</c:f>
              <c:strCache>
                <c:ptCount val="4"/>
                <c:pt idx="0">
                  <c:v>Home Decor</c:v>
                </c:pt>
                <c:pt idx="1">
                  <c:v>Electronics</c:v>
                </c:pt>
                <c:pt idx="2">
                  <c:v>Clothing</c:v>
                </c:pt>
                <c:pt idx="3">
                  <c:v>Books</c:v>
                </c:pt>
              </c:strCache>
            </c:strRef>
          </c:cat>
          <c:val>
            <c:numRef>
              <c:f>product_performance_report!$J$22:$J$25</c:f>
              <c:numCache>
                <c:formatCode>_(* #,##0_);_(* \(#,##0\);_(* "-"??_);_(@_)</c:formatCode>
                <c:ptCount val="4"/>
                <c:pt idx="0">
                  <c:v>122673</c:v>
                </c:pt>
                <c:pt idx="1">
                  <c:v>123566</c:v>
                </c:pt>
                <c:pt idx="2">
                  <c:v>123253</c:v>
                </c:pt>
                <c:pt idx="3">
                  <c:v>124164</c:v>
                </c:pt>
              </c:numCache>
            </c:numRef>
          </c:val>
          <c:extLst>
            <c:ext xmlns:c16="http://schemas.microsoft.com/office/drawing/2014/chart" uri="{C3380CC4-5D6E-409C-BE32-E72D297353CC}">
              <c16:uniqueId val="{00000000-6ECA-42D5-AD17-6C3D9748FBB3}"/>
            </c:ext>
          </c:extLst>
        </c:ser>
        <c:dLbls>
          <c:showLegendKey val="0"/>
          <c:showVal val="0"/>
          <c:showCatName val="0"/>
          <c:showSerName val="0"/>
          <c:showPercent val="0"/>
          <c:showBubbleSize val="0"/>
        </c:dLbls>
        <c:gapWidth val="219"/>
        <c:overlap val="-27"/>
        <c:axId val="828837247"/>
        <c:axId val="828839743"/>
      </c:barChart>
      <c:lineChart>
        <c:grouping val="standard"/>
        <c:varyColors val="0"/>
        <c:ser>
          <c:idx val="1"/>
          <c:order val="1"/>
          <c:tx>
            <c:strRef>
              <c:f>product_performance_report!$K$21</c:f>
              <c:strCache>
                <c:ptCount val="1"/>
                <c:pt idx="0">
                  <c:v>sold %</c:v>
                </c:pt>
              </c:strCache>
            </c:strRef>
          </c:tx>
          <c:spPr>
            <a:ln w="31750" cap="rnd">
              <a:solidFill>
                <a:srgbClr val="FF0000"/>
              </a:solidFill>
              <a:round/>
            </a:ln>
            <a:effectLst/>
          </c:spPr>
          <c:marker>
            <c:symbol val="circle"/>
            <c:size val="8"/>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bg1"/>
                    </a:solidFill>
                    <a:latin typeface="Unesa" pitchFamily="50" charset="0"/>
                    <a:ea typeface="+mn-ea"/>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product_performance_report!$H$22:$H$25</c:f>
              <c:strCache>
                <c:ptCount val="4"/>
                <c:pt idx="0">
                  <c:v>Home Decor</c:v>
                </c:pt>
                <c:pt idx="1">
                  <c:v>Electronics</c:v>
                </c:pt>
                <c:pt idx="2">
                  <c:v>Clothing</c:v>
                </c:pt>
                <c:pt idx="3">
                  <c:v>Books</c:v>
                </c:pt>
              </c:strCache>
            </c:strRef>
          </c:cat>
          <c:val>
            <c:numRef>
              <c:f>product_performance_report!$K$22:$K$25</c:f>
              <c:numCache>
                <c:formatCode>0.00</c:formatCode>
                <c:ptCount val="4"/>
                <c:pt idx="0">
                  <c:v>24.849895473771209</c:v>
                </c:pt>
                <c:pt idx="1">
                  <c:v>25.030790672046933</c:v>
                </c:pt>
                <c:pt idx="2">
                  <c:v>24.967386196055553</c:v>
                </c:pt>
                <c:pt idx="3">
                  <c:v>25.151927658126304</c:v>
                </c:pt>
              </c:numCache>
            </c:numRef>
          </c:val>
          <c:smooth val="1"/>
          <c:extLst>
            <c:ext xmlns:c16="http://schemas.microsoft.com/office/drawing/2014/chart" uri="{C3380CC4-5D6E-409C-BE32-E72D297353CC}">
              <c16:uniqueId val="{00000001-6ECA-42D5-AD17-6C3D9748FBB3}"/>
            </c:ext>
          </c:extLst>
        </c:ser>
        <c:dLbls>
          <c:showLegendKey val="0"/>
          <c:showVal val="0"/>
          <c:showCatName val="0"/>
          <c:showSerName val="0"/>
          <c:showPercent val="0"/>
          <c:showBubbleSize val="0"/>
        </c:dLbls>
        <c:marker val="1"/>
        <c:smooth val="0"/>
        <c:axId val="828836831"/>
        <c:axId val="828835583"/>
      </c:lineChart>
      <c:catAx>
        <c:axId val="8288372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Unesa" pitchFamily="50" charset="0"/>
                <a:ea typeface="+mn-ea"/>
                <a:cs typeface="+mn-cs"/>
              </a:defRPr>
            </a:pPr>
            <a:endParaRPr lang="en-US"/>
          </a:p>
        </c:txPr>
        <c:crossAx val="828839743"/>
        <c:crosses val="autoZero"/>
        <c:auto val="1"/>
        <c:lblAlgn val="ctr"/>
        <c:lblOffset val="100"/>
        <c:noMultiLvlLbl val="0"/>
      </c:catAx>
      <c:valAx>
        <c:axId val="828839743"/>
        <c:scaling>
          <c:orientation val="minMax"/>
        </c:scaling>
        <c:delete val="0"/>
        <c:axPos val="l"/>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Unesa" pitchFamily="50" charset="0"/>
                <a:ea typeface="+mn-ea"/>
                <a:cs typeface="+mn-cs"/>
              </a:defRPr>
            </a:pPr>
            <a:endParaRPr lang="en-US"/>
          </a:p>
        </c:txPr>
        <c:crossAx val="828837247"/>
        <c:crosses val="autoZero"/>
        <c:crossBetween val="between"/>
      </c:valAx>
      <c:valAx>
        <c:axId val="828835583"/>
        <c:scaling>
          <c:orientation val="minMax"/>
        </c:scaling>
        <c:delete val="0"/>
        <c:axPos val="r"/>
        <c:numFmt formatCode="#,##0.00"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Unesa" pitchFamily="50" charset="0"/>
                <a:ea typeface="+mn-ea"/>
                <a:cs typeface="+mn-cs"/>
              </a:defRPr>
            </a:pPr>
            <a:endParaRPr lang="en-US"/>
          </a:p>
        </c:txPr>
        <c:crossAx val="828836831"/>
        <c:crosses val="max"/>
        <c:crossBetween val="between"/>
      </c:valAx>
      <c:catAx>
        <c:axId val="828836831"/>
        <c:scaling>
          <c:orientation val="minMax"/>
        </c:scaling>
        <c:delete val="1"/>
        <c:axPos val="b"/>
        <c:numFmt formatCode="General" sourceLinked="1"/>
        <c:majorTickMark val="out"/>
        <c:minorTickMark val="none"/>
        <c:tickLblPos val="nextTo"/>
        <c:crossAx val="828835583"/>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Unesa" pitchFamily="50"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31750" cap="rnd" cmpd="sng" algn="ctr">
      <a:solidFill>
        <a:schemeClr val="tx1">
          <a:lumMod val="15000"/>
          <a:lumOff val="85000"/>
        </a:schemeClr>
      </a:solidFill>
      <a:round/>
    </a:ln>
    <a:effectLst>
      <a:outerShdw blurRad="50800" dist="38100" dir="2700000" algn="tl" rotWithShape="0">
        <a:prstClr val="black">
          <a:alpha val="40000"/>
        </a:prstClr>
      </a:outerShdw>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ysClr val="windowText" lastClr="000000"/>
                </a:solidFill>
                <a:latin typeface="+mn-lt"/>
                <a:ea typeface="+mn-ea"/>
                <a:cs typeface="+mn-cs"/>
              </a:defRPr>
            </a:pPr>
            <a:r>
              <a:rPr lang="en-US" sz="1600">
                <a:solidFill>
                  <a:sysClr val="windowText" lastClr="000000"/>
                </a:solidFill>
                <a:latin typeface="Unesa" pitchFamily="50" charset="0"/>
              </a:rPr>
              <a:t>When</a:t>
            </a:r>
            <a:r>
              <a:rPr lang="en-US" sz="1600" baseline="0">
                <a:solidFill>
                  <a:sysClr val="windowText" lastClr="000000"/>
                </a:solidFill>
                <a:latin typeface="Unesa" pitchFamily="50" charset="0"/>
              </a:rPr>
              <a:t> do customers make the most transaction ?</a:t>
            </a:r>
            <a:endParaRPr lang="en-US" sz="1600">
              <a:solidFill>
                <a:sysClr val="windowText" lastClr="000000"/>
              </a:solidFill>
              <a:latin typeface="Unesa" pitchFamily="50"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ysClr val="windowText" lastClr="000000"/>
              </a:solidFill>
              <a:latin typeface="+mn-lt"/>
              <a:ea typeface="+mn-ea"/>
              <a:cs typeface="+mn-cs"/>
            </a:defRPr>
          </a:pPr>
          <a:endParaRPr lang="en-US"/>
        </a:p>
      </c:txPr>
    </c:title>
    <c:autoTitleDeleted val="0"/>
    <c:plotArea>
      <c:layout>
        <c:manualLayout>
          <c:layoutTarget val="inner"/>
          <c:xMode val="edge"/>
          <c:yMode val="edge"/>
          <c:x val="6.4762043871963618E-2"/>
          <c:y val="0.12541681839789587"/>
          <c:w val="0.91370868552042372"/>
          <c:h val="0.78435950714494018"/>
        </c:manualLayout>
      </c:layout>
      <c:lineChart>
        <c:grouping val="stacked"/>
        <c:varyColors val="0"/>
        <c:ser>
          <c:idx val="0"/>
          <c:order val="0"/>
          <c:tx>
            <c:strRef>
              <c:f>mom_report!$F$26</c:f>
              <c:strCache>
                <c:ptCount val="1"/>
                <c:pt idx="0">
                  <c:v>order per hour</c:v>
                </c:pt>
              </c:strCache>
            </c:strRef>
          </c:tx>
          <c:spPr>
            <a:ln w="34925" cap="rnd">
              <a:solidFill>
                <a:schemeClr val="accent1">
                  <a:lumMod val="75000"/>
                </a:schemeClr>
              </a:solidFill>
              <a:round/>
            </a:ln>
            <a:effectLst/>
          </c:spPr>
          <c:marker>
            <c:symbol val="circle"/>
            <c:size val="6"/>
            <c:spPr>
              <a:solidFill>
                <a:schemeClr val="accent2">
                  <a:lumMod val="60000"/>
                  <a:lumOff val="40000"/>
                </a:schemeClr>
              </a:solidFill>
              <a:ln w="9525" cap="rnd">
                <a:solidFill>
                  <a:schemeClr val="accent2">
                    <a:lumMod val="40000"/>
                    <a:lumOff val="60000"/>
                  </a:schemeClr>
                </a:solidFill>
              </a:ln>
              <a:effectLst/>
            </c:spPr>
          </c:marker>
          <c:dLbls>
            <c:dLbl>
              <c:idx val="3"/>
              <c:layout>
                <c:manualLayout>
                  <c:x val="-4.6513225695637241E-2"/>
                  <c:y val="0.10243914306578307"/>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03AC-4FE2-A939-70BE18A1E9A1}"/>
                </c:ext>
              </c:extLst>
            </c:dLbl>
            <c:dLbl>
              <c:idx val="17"/>
              <c:layout>
                <c:manualLayout>
                  <c:x val="-4.1692521172744253E-2"/>
                  <c:y val="8.282188806811358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03AC-4FE2-A939-70BE18A1E9A1}"/>
                </c:ext>
              </c:extLst>
            </c:dLbl>
            <c:dLbl>
              <c:idx val="19"/>
              <c:spPr>
                <a:solidFill>
                  <a:schemeClr val="accent6"/>
                </a:solid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bg1"/>
                      </a:solidFill>
                      <a:latin typeface="Unesa" pitchFamily="50" charset="0"/>
                      <a:ea typeface="+mn-ea"/>
                      <a:cs typeface="+mn-cs"/>
                    </a:defRPr>
                  </a:pPr>
                  <a:endParaRPr lang="en-US"/>
                </a:p>
              </c:txPr>
              <c:dLblPos val="b"/>
              <c:showLegendKey val="0"/>
              <c:showVal val="1"/>
              <c:showCatName val="0"/>
              <c:showSerName val="0"/>
              <c:showPercent val="0"/>
              <c:showBubbleSize val="0"/>
              <c:extLst>
                <c:ext xmlns:c16="http://schemas.microsoft.com/office/drawing/2014/chart" uri="{C3380CC4-5D6E-409C-BE32-E72D297353CC}">
                  <c16:uniqueId val="{00000000-03AC-4FE2-A939-70BE18A1E9A1}"/>
                </c:ext>
              </c:extLst>
            </c:dLbl>
            <c:dLbl>
              <c:idx val="21"/>
              <c:layout>
                <c:manualLayout>
                  <c:x val="-9.7789991984426894E-3"/>
                  <c:y val="-5.5144567198177775E-4"/>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3AC-4FE2-A939-70BE18A1E9A1}"/>
                </c:ext>
              </c:extLst>
            </c:dLbl>
            <c:dLbl>
              <c:idx val="22"/>
              <c:spPr>
                <a:solidFill>
                  <a:srgbClr val="FF0000"/>
                </a:solid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bg1"/>
                      </a:solidFill>
                      <a:latin typeface="Unesa" pitchFamily="50" charset="0"/>
                      <a:ea typeface="+mn-ea"/>
                      <a:cs typeface="+mn-cs"/>
                    </a:defRPr>
                  </a:pPr>
                  <a:endParaRPr lang="en-US"/>
                </a:p>
              </c:txPr>
              <c:dLblPos val="b"/>
              <c:showLegendKey val="0"/>
              <c:showVal val="1"/>
              <c:showCatName val="0"/>
              <c:showSerName val="0"/>
              <c:showPercent val="0"/>
              <c:showBubbleSize val="0"/>
              <c:extLst>
                <c:ext xmlns:c16="http://schemas.microsoft.com/office/drawing/2014/chart" uri="{C3380CC4-5D6E-409C-BE32-E72D297353CC}">
                  <c16:uniqueId val="{00000001-03AC-4FE2-A939-70BE18A1E9A1}"/>
                </c:ext>
              </c:extLst>
            </c:dLbl>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Unesa" pitchFamily="50" charset="0"/>
                    <a:ea typeface="+mn-ea"/>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mom_report!$E$27:$E$50</c:f>
              <c:strCache>
                <c:ptCount val="24"/>
                <c:pt idx="0">
                  <c:v>12 AM</c:v>
                </c:pt>
                <c:pt idx="1">
                  <c:v>1 AM</c:v>
                </c:pt>
                <c:pt idx="2">
                  <c:v>2 AM</c:v>
                </c:pt>
                <c:pt idx="3">
                  <c:v>3 AM</c:v>
                </c:pt>
                <c:pt idx="4">
                  <c:v>4 AM</c:v>
                </c:pt>
                <c:pt idx="5">
                  <c:v>5 AM</c:v>
                </c:pt>
                <c:pt idx="6">
                  <c:v>6 AM</c:v>
                </c:pt>
                <c:pt idx="7">
                  <c:v>7 AM</c:v>
                </c:pt>
                <c:pt idx="8">
                  <c:v>8 AM</c:v>
                </c:pt>
                <c:pt idx="9">
                  <c:v>9 AM</c:v>
                </c:pt>
                <c:pt idx="10">
                  <c:v>10 AM</c:v>
                </c:pt>
                <c:pt idx="11">
                  <c:v>11 AM</c:v>
                </c:pt>
                <c:pt idx="12">
                  <c:v>12 PM</c:v>
                </c:pt>
                <c:pt idx="13">
                  <c:v>1 PM</c:v>
                </c:pt>
                <c:pt idx="14">
                  <c:v>2 PM</c:v>
                </c:pt>
                <c:pt idx="15">
                  <c:v>3 PM</c:v>
                </c:pt>
                <c:pt idx="16">
                  <c:v>4 PM</c:v>
                </c:pt>
                <c:pt idx="17">
                  <c:v>5 PM</c:v>
                </c:pt>
                <c:pt idx="18">
                  <c:v>6 PM</c:v>
                </c:pt>
                <c:pt idx="19">
                  <c:v>7 PM</c:v>
                </c:pt>
                <c:pt idx="20">
                  <c:v>8 PM</c:v>
                </c:pt>
                <c:pt idx="21">
                  <c:v>9 PM</c:v>
                </c:pt>
                <c:pt idx="22">
                  <c:v>10 PM</c:v>
                </c:pt>
                <c:pt idx="23">
                  <c:v>11 PM</c:v>
                </c:pt>
              </c:strCache>
            </c:strRef>
          </c:cat>
          <c:val>
            <c:numRef>
              <c:f>mom_report!$F$27:$F$50</c:f>
              <c:numCache>
                <c:formatCode>General</c:formatCode>
                <c:ptCount val="24"/>
                <c:pt idx="0">
                  <c:v>4060</c:v>
                </c:pt>
                <c:pt idx="1">
                  <c:v>4192</c:v>
                </c:pt>
                <c:pt idx="2">
                  <c:v>4085</c:v>
                </c:pt>
                <c:pt idx="3">
                  <c:v>4076</c:v>
                </c:pt>
                <c:pt idx="4">
                  <c:v>4171</c:v>
                </c:pt>
                <c:pt idx="5">
                  <c:v>4131</c:v>
                </c:pt>
                <c:pt idx="6">
                  <c:v>4110</c:v>
                </c:pt>
                <c:pt idx="7">
                  <c:v>4160</c:v>
                </c:pt>
                <c:pt idx="8">
                  <c:v>4111</c:v>
                </c:pt>
                <c:pt idx="9">
                  <c:v>4171</c:v>
                </c:pt>
                <c:pt idx="10">
                  <c:v>4096</c:v>
                </c:pt>
                <c:pt idx="11">
                  <c:v>4115</c:v>
                </c:pt>
                <c:pt idx="12">
                  <c:v>4012</c:v>
                </c:pt>
                <c:pt idx="13">
                  <c:v>4064</c:v>
                </c:pt>
                <c:pt idx="14">
                  <c:v>4081</c:v>
                </c:pt>
                <c:pt idx="15">
                  <c:v>3983</c:v>
                </c:pt>
                <c:pt idx="16">
                  <c:v>4153</c:v>
                </c:pt>
                <c:pt idx="17">
                  <c:v>4121</c:v>
                </c:pt>
                <c:pt idx="18">
                  <c:v>4130</c:v>
                </c:pt>
                <c:pt idx="19">
                  <c:v>4221</c:v>
                </c:pt>
                <c:pt idx="20">
                  <c:v>4127</c:v>
                </c:pt>
                <c:pt idx="21">
                  <c:v>4129</c:v>
                </c:pt>
                <c:pt idx="22">
                  <c:v>3946</c:v>
                </c:pt>
                <c:pt idx="23">
                  <c:v>4056</c:v>
                </c:pt>
              </c:numCache>
            </c:numRef>
          </c:val>
          <c:smooth val="1"/>
          <c:extLst>
            <c:ext xmlns:c16="http://schemas.microsoft.com/office/drawing/2014/chart" uri="{C3380CC4-5D6E-409C-BE32-E72D297353CC}">
              <c16:uniqueId val="{00000002-03AC-4FE2-A939-70BE18A1E9A1}"/>
            </c:ext>
          </c:extLst>
        </c:ser>
        <c:dLbls>
          <c:dLblPos val="t"/>
          <c:showLegendKey val="0"/>
          <c:showVal val="1"/>
          <c:showCatName val="0"/>
          <c:showSerName val="0"/>
          <c:showPercent val="0"/>
          <c:showBubbleSize val="0"/>
        </c:dLbls>
        <c:marker val="1"/>
        <c:smooth val="0"/>
        <c:axId val="2092264256"/>
        <c:axId val="2092279648"/>
      </c:lineChart>
      <c:catAx>
        <c:axId val="20922642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ysClr val="windowText" lastClr="000000"/>
                </a:solidFill>
                <a:latin typeface="Unesa" pitchFamily="50" charset="0"/>
                <a:ea typeface="+mn-ea"/>
                <a:cs typeface="+mn-cs"/>
              </a:defRPr>
            </a:pPr>
            <a:endParaRPr lang="en-US"/>
          </a:p>
        </c:txPr>
        <c:crossAx val="2092279648"/>
        <c:crosses val="autoZero"/>
        <c:auto val="1"/>
        <c:lblAlgn val="ctr"/>
        <c:lblOffset val="100"/>
        <c:noMultiLvlLbl val="0"/>
      </c:catAx>
      <c:valAx>
        <c:axId val="2092279648"/>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ysClr val="windowText" lastClr="000000"/>
                </a:solidFill>
                <a:latin typeface="Unesa" pitchFamily="50" charset="0"/>
                <a:ea typeface="+mn-ea"/>
                <a:cs typeface="+mn-cs"/>
              </a:defRPr>
            </a:pPr>
            <a:endParaRPr lang="en-US"/>
          </a:p>
        </c:txPr>
        <c:crossAx val="2092264256"/>
        <c:crosses val="autoZero"/>
        <c:crossBetween val="between"/>
      </c:valAx>
      <c:spPr>
        <a:noFill/>
        <a:ln>
          <a:noFill/>
        </a:ln>
        <a:effectLst/>
      </c:spPr>
    </c:plotArea>
    <c:plotVisOnly val="1"/>
    <c:dispBlanksAs val="zero"/>
    <c:extLst>
      <c:ext xmlns:c16r3="http://schemas.microsoft.com/office/drawing/2017/03/chart" uri="{56B9EC1D-385E-4148-901F-78D8002777C0}">
        <c16r3:dataDisplayOptions16>
          <c16r3:dispNaAsBlank val="1"/>
        </c16r3:dataDisplayOptions16>
      </c:ext>
    </c:extLst>
    <c:showDLblsOverMax val="0"/>
  </c:chart>
  <c:spPr>
    <a:solidFill>
      <a:schemeClr val="bg1"/>
    </a:solidFill>
    <a:ln w="31750" cap="rnd" cmpd="sng" algn="ctr">
      <a:solidFill>
        <a:schemeClr val="tx1">
          <a:lumMod val="15000"/>
          <a:lumOff val="85000"/>
        </a:schemeClr>
      </a:solidFill>
      <a:round/>
    </a:ln>
    <a:effectLst>
      <a:outerShdw blurRad="50800" dist="38100" dir="2700000" algn="tl" rotWithShape="0">
        <a:prstClr val="black">
          <a:alpha val="40000"/>
        </a:prstClr>
      </a:outerShdw>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200" dirty="0">
                <a:latin typeface="Unesa" pitchFamily="50" charset="0"/>
              </a:rPr>
              <a:t>Transaction</a:t>
            </a:r>
            <a:r>
              <a:rPr lang="en-US" sz="1200" baseline="0" dirty="0">
                <a:latin typeface="Unesa" pitchFamily="50" charset="0"/>
              </a:rPr>
              <a:t> Volume by top 10 regional (may 2023-April 2024)</a:t>
            </a:r>
            <a:endParaRPr lang="en-US" sz="1200" dirty="0">
              <a:latin typeface="Unesa" pitchFamily="50"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'regional report'!$F$18</c:f>
              <c:strCache>
                <c:ptCount val="1"/>
                <c:pt idx="0">
                  <c:v>transaction_volume</c:v>
                </c:pt>
              </c:strCache>
            </c:strRef>
          </c:tx>
          <c:spPr>
            <a:solidFill>
              <a:schemeClr val="accent1">
                <a:lumMod val="75000"/>
              </a:schemeClr>
            </a:solidFill>
            <a:ln w="76200" cap="rnd">
              <a:solidFill>
                <a:schemeClr val="accent1">
                  <a:lumMod val="75000"/>
                </a:schemeClr>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Unesa" pitchFamily="50"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'regional report'!$E$19:$E$28</c:f>
              <c:strCache>
                <c:ptCount val="10"/>
                <c:pt idx="0">
                  <c:v>South Carolina</c:v>
                </c:pt>
                <c:pt idx="1">
                  <c:v>Indiana</c:v>
                </c:pt>
                <c:pt idx="2">
                  <c:v>Marshall Islands</c:v>
                </c:pt>
                <c:pt idx="3">
                  <c:v>Montana</c:v>
                </c:pt>
                <c:pt idx="4">
                  <c:v>Alabama</c:v>
                </c:pt>
                <c:pt idx="5">
                  <c:v>Maine</c:v>
                </c:pt>
                <c:pt idx="6">
                  <c:v>Oregon</c:v>
                </c:pt>
                <c:pt idx="7">
                  <c:v>Armed Forces Pacific</c:v>
                </c:pt>
                <c:pt idx="8">
                  <c:v>Armed Forces Americas</c:v>
                </c:pt>
                <c:pt idx="9">
                  <c:v>Armed Forces Europe</c:v>
                </c:pt>
              </c:strCache>
            </c:strRef>
          </c:cat>
          <c:val>
            <c:numRef>
              <c:f>'regional report'!$F$19:$F$28</c:f>
              <c:numCache>
                <c:formatCode>General</c:formatCode>
                <c:ptCount val="10"/>
                <c:pt idx="0">
                  <c:v>1537</c:v>
                </c:pt>
                <c:pt idx="1">
                  <c:v>1543</c:v>
                </c:pt>
                <c:pt idx="2">
                  <c:v>1550</c:v>
                </c:pt>
                <c:pt idx="3">
                  <c:v>1551</c:v>
                </c:pt>
                <c:pt idx="4">
                  <c:v>1552</c:v>
                </c:pt>
                <c:pt idx="5">
                  <c:v>1562</c:v>
                </c:pt>
                <c:pt idx="6">
                  <c:v>1568</c:v>
                </c:pt>
                <c:pt idx="7">
                  <c:v>3488</c:v>
                </c:pt>
                <c:pt idx="8">
                  <c:v>3550</c:v>
                </c:pt>
                <c:pt idx="9">
                  <c:v>3637</c:v>
                </c:pt>
              </c:numCache>
            </c:numRef>
          </c:val>
          <c:extLst>
            <c:ext xmlns:c16="http://schemas.microsoft.com/office/drawing/2014/chart" uri="{C3380CC4-5D6E-409C-BE32-E72D297353CC}">
              <c16:uniqueId val="{00000000-98FD-411D-8F7F-FB4881349F6D}"/>
            </c:ext>
          </c:extLst>
        </c:ser>
        <c:dLbls>
          <c:dLblPos val="outEnd"/>
          <c:showLegendKey val="0"/>
          <c:showVal val="1"/>
          <c:showCatName val="0"/>
          <c:showSerName val="0"/>
          <c:showPercent val="0"/>
          <c:showBubbleSize val="0"/>
        </c:dLbls>
        <c:gapWidth val="182"/>
        <c:axId val="1739460175"/>
        <c:axId val="1739438543"/>
      </c:barChart>
      <c:catAx>
        <c:axId val="1739460175"/>
        <c:scaling>
          <c:orientation val="minMax"/>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Unesa" pitchFamily="50" charset="0"/>
                <a:ea typeface="+mn-ea"/>
                <a:cs typeface="+mn-cs"/>
              </a:defRPr>
            </a:pPr>
            <a:endParaRPr lang="en-US"/>
          </a:p>
        </c:txPr>
        <c:crossAx val="1739438543"/>
        <c:crosses val="autoZero"/>
        <c:auto val="1"/>
        <c:lblAlgn val="ctr"/>
        <c:lblOffset val="100"/>
        <c:noMultiLvlLbl val="0"/>
      </c:catAx>
      <c:valAx>
        <c:axId val="1739438543"/>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Unesa" pitchFamily="50" charset="0"/>
                <a:ea typeface="+mn-ea"/>
                <a:cs typeface="+mn-cs"/>
              </a:defRPr>
            </a:pPr>
            <a:endParaRPr lang="en-US"/>
          </a:p>
        </c:txPr>
        <c:crossAx val="173946017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31750" cap="rnd" cmpd="sng" algn="ctr">
      <a:solidFill>
        <a:schemeClr val="tx1">
          <a:lumMod val="15000"/>
          <a:lumOff val="85000"/>
        </a:schemeClr>
      </a:solidFill>
      <a:round/>
    </a:ln>
    <a:effectLst>
      <a:outerShdw blurRad="50800" dist="38100" dir="2700000" algn="tl" rotWithShape="0">
        <a:prstClr val="black">
          <a:alpha val="40000"/>
        </a:prstClr>
      </a:outerShdw>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latin typeface="Unesa" pitchFamily="50" charset="0"/>
              </a:rPr>
              <a:t>Net Revenue by Top 10 Regional (May 2023 – Apr 2024)</a:t>
            </a:r>
            <a:endParaRPr lang="en-US" dirty="0">
              <a:latin typeface="Unesa" pitchFamily="50"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4016143712510202"/>
          <c:y val="0.16833665687472751"/>
          <c:w val="0.69082234108123308"/>
          <c:h val="0.7380241725096669"/>
        </c:manualLayout>
      </c:layout>
      <c:barChart>
        <c:barDir val="bar"/>
        <c:grouping val="clustered"/>
        <c:varyColors val="0"/>
        <c:ser>
          <c:idx val="0"/>
          <c:order val="0"/>
          <c:tx>
            <c:strRef>
              <c:f>'regional report'!$F$2</c:f>
              <c:strCache>
                <c:ptCount val="1"/>
                <c:pt idx="0">
                  <c:v>Net_revenue</c:v>
                </c:pt>
              </c:strCache>
            </c:strRef>
          </c:tx>
          <c:spPr>
            <a:solidFill>
              <a:schemeClr val="accent1">
                <a:lumMod val="75000"/>
              </a:schemeClr>
            </a:solidFill>
            <a:ln w="76200" cap="rnd">
              <a:solidFill>
                <a:schemeClr val="accent1">
                  <a:lumMod val="75000"/>
                </a:schemeClr>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Unesa" pitchFamily="50"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'regional report'!$E$3:$E$12</c:f>
              <c:strCache>
                <c:ptCount val="10"/>
                <c:pt idx="0">
                  <c:v>Illinois</c:v>
                </c:pt>
                <c:pt idx="1">
                  <c:v>Texas</c:v>
                </c:pt>
                <c:pt idx="2">
                  <c:v>South Dakota</c:v>
                </c:pt>
                <c:pt idx="3">
                  <c:v>Arkansas</c:v>
                </c:pt>
                <c:pt idx="4">
                  <c:v>Oregon</c:v>
                </c:pt>
                <c:pt idx="5">
                  <c:v>Maine</c:v>
                </c:pt>
                <c:pt idx="6">
                  <c:v>Marshall Islands</c:v>
                </c:pt>
                <c:pt idx="7">
                  <c:v>Armed Forces Pacific</c:v>
                </c:pt>
                <c:pt idx="8">
                  <c:v>Armed Forces Europe</c:v>
                </c:pt>
                <c:pt idx="9">
                  <c:v>Armed Forces Americas</c:v>
                </c:pt>
              </c:strCache>
            </c:strRef>
          </c:cat>
          <c:val>
            <c:numRef>
              <c:f>'regional report'!$F$3:$F$12</c:f>
              <c:numCache>
                <c:formatCode>_("$"* #,##0_);_("$"* \(#,##0\);_("$"* "-"??_);_(@_)</c:formatCode>
                <c:ptCount val="10"/>
                <c:pt idx="0">
                  <c:v>384932.1626747647</c:v>
                </c:pt>
                <c:pt idx="1">
                  <c:v>385611.31263377704</c:v>
                </c:pt>
                <c:pt idx="2">
                  <c:v>386314.1227083602</c:v>
                </c:pt>
                <c:pt idx="3">
                  <c:v>386499.1621056702</c:v>
                </c:pt>
                <c:pt idx="4">
                  <c:v>388976.76090519771</c:v>
                </c:pt>
                <c:pt idx="5">
                  <c:v>393711.08747203602</c:v>
                </c:pt>
                <c:pt idx="6">
                  <c:v>395543.20279936236</c:v>
                </c:pt>
                <c:pt idx="7">
                  <c:v>870637.70243017387</c:v>
                </c:pt>
                <c:pt idx="8">
                  <c:v>889220.49430521415</c:v>
                </c:pt>
                <c:pt idx="9">
                  <c:v>902032.31220422173</c:v>
                </c:pt>
              </c:numCache>
            </c:numRef>
          </c:val>
          <c:extLst>
            <c:ext xmlns:c16="http://schemas.microsoft.com/office/drawing/2014/chart" uri="{C3380CC4-5D6E-409C-BE32-E72D297353CC}">
              <c16:uniqueId val="{00000000-EA18-4A2E-B420-B1139415E75E}"/>
            </c:ext>
          </c:extLst>
        </c:ser>
        <c:dLbls>
          <c:dLblPos val="outEnd"/>
          <c:showLegendKey val="0"/>
          <c:showVal val="1"/>
          <c:showCatName val="0"/>
          <c:showSerName val="0"/>
          <c:showPercent val="0"/>
          <c:showBubbleSize val="0"/>
        </c:dLbls>
        <c:gapWidth val="182"/>
        <c:axId val="1739456431"/>
        <c:axId val="1739454351"/>
      </c:barChart>
      <c:catAx>
        <c:axId val="1739456431"/>
        <c:scaling>
          <c:orientation val="minMax"/>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Unesa" pitchFamily="50" charset="0"/>
                <a:ea typeface="+mn-ea"/>
                <a:cs typeface="+mn-cs"/>
              </a:defRPr>
            </a:pPr>
            <a:endParaRPr lang="en-US"/>
          </a:p>
        </c:txPr>
        <c:crossAx val="1739454351"/>
        <c:crosses val="autoZero"/>
        <c:auto val="1"/>
        <c:lblAlgn val="ctr"/>
        <c:lblOffset val="100"/>
        <c:noMultiLvlLbl val="0"/>
      </c:catAx>
      <c:valAx>
        <c:axId val="1739454351"/>
        <c:scaling>
          <c:orientation val="minMax"/>
        </c:scaling>
        <c:delete val="0"/>
        <c:axPos val="b"/>
        <c:numFmt formatCode="_(&quot;$&quot;* #,##0_);_(&quot;$&quot;* \(#,##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Unesa" pitchFamily="50" charset="0"/>
                <a:ea typeface="+mn-ea"/>
                <a:cs typeface="+mn-cs"/>
              </a:defRPr>
            </a:pPr>
            <a:endParaRPr lang="en-US"/>
          </a:p>
        </c:txPr>
        <c:crossAx val="1739456431"/>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31750" cap="rnd" cmpd="sng" algn="ctr">
      <a:solidFill>
        <a:schemeClr val="tx1">
          <a:lumMod val="15000"/>
          <a:lumOff val="85000"/>
        </a:schemeClr>
      </a:solidFill>
      <a:round/>
    </a:ln>
    <a:effectLst>
      <a:outerShdw blurRad="50800" dist="38100" dir="2700000" algn="tl" rotWithShape="0">
        <a:prstClr val="black">
          <a:alpha val="40000"/>
        </a:prstClr>
      </a:outerShdw>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ysClr val="windowText" lastClr="000000"/>
                </a:solidFill>
                <a:latin typeface="+mn-lt"/>
                <a:ea typeface="+mn-ea"/>
                <a:cs typeface="+mn-cs"/>
              </a:defRPr>
            </a:pPr>
            <a:r>
              <a:rPr lang="en-US" sz="1400">
                <a:solidFill>
                  <a:sysClr val="windowText" lastClr="000000"/>
                </a:solidFill>
                <a:latin typeface="Unesa" pitchFamily="50" charset="0"/>
              </a:rPr>
              <a:t>Transaction Volume</a:t>
            </a:r>
            <a:r>
              <a:rPr lang="en-US" sz="1400" baseline="0">
                <a:solidFill>
                  <a:sysClr val="windowText" lastClr="000000"/>
                </a:solidFill>
                <a:latin typeface="Unesa" pitchFamily="50" charset="0"/>
              </a:rPr>
              <a:t> by Payment Method </a:t>
            </a:r>
          </a:p>
          <a:p>
            <a:pPr>
              <a:defRPr>
                <a:solidFill>
                  <a:sysClr val="windowText" lastClr="000000"/>
                </a:solidFill>
              </a:defRPr>
            </a:pPr>
            <a:r>
              <a:rPr lang="en-US" sz="1400" baseline="0">
                <a:solidFill>
                  <a:sysClr val="windowText" lastClr="000000"/>
                </a:solidFill>
                <a:latin typeface="Unesa" pitchFamily="50" charset="0"/>
              </a:rPr>
              <a:t>(May 2023-April 2024)</a:t>
            </a:r>
            <a:endParaRPr lang="en-US" sz="1400">
              <a:solidFill>
                <a:sysClr val="windowText" lastClr="000000"/>
              </a:solidFill>
              <a:latin typeface="Unesa" pitchFamily="50"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ysClr val="windowText" lastClr="000000"/>
              </a:solidFill>
              <a:latin typeface="+mn-lt"/>
              <a:ea typeface="+mn-ea"/>
              <a:cs typeface="+mn-cs"/>
            </a:defRPr>
          </a:pPr>
          <a:endParaRPr lang="en-US"/>
        </a:p>
      </c:txPr>
    </c:title>
    <c:autoTitleDeleted val="0"/>
    <c:plotArea>
      <c:layout/>
      <c:barChart>
        <c:barDir val="bar"/>
        <c:grouping val="clustered"/>
        <c:varyColors val="0"/>
        <c:ser>
          <c:idx val="0"/>
          <c:order val="0"/>
          <c:tx>
            <c:strRef>
              <c:f>payment_distribution!$J$4</c:f>
              <c:strCache>
                <c:ptCount val="1"/>
                <c:pt idx="0">
                  <c:v>num_transaction</c:v>
                </c:pt>
              </c:strCache>
            </c:strRef>
          </c:tx>
          <c:spPr>
            <a:solidFill>
              <a:schemeClr val="accent1">
                <a:lumMod val="75000"/>
              </a:schemeClr>
            </a:solidFill>
            <a:ln w="101600" cap="rnd">
              <a:solidFill>
                <a:schemeClr val="accent1">
                  <a:lumMod val="75000"/>
                </a:schemeClr>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bg1"/>
                    </a:solidFill>
                    <a:latin typeface="Unesa" pitchFamily="50" charset="0"/>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payment_distribution!$H$5:$H$8</c:f>
              <c:strCache>
                <c:ptCount val="4"/>
                <c:pt idx="0">
                  <c:v>Credit Card</c:v>
                </c:pt>
                <c:pt idx="1">
                  <c:v>Debit Card</c:v>
                </c:pt>
                <c:pt idx="2">
                  <c:v>Cash</c:v>
                </c:pt>
                <c:pt idx="3">
                  <c:v>PayPal</c:v>
                </c:pt>
              </c:strCache>
            </c:strRef>
          </c:cat>
          <c:val>
            <c:numRef>
              <c:f>payment_distribution!$J$5:$J$8</c:f>
              <c:numCache>
                <c:formatCode>_(* #,##0_);_(* \(#,##0\);_(* "-"??_);_(@_)</c:formatCode>
                <c:ptCount val="4"/>
                <c:pt idx="0">
                  <c:v>24658</c:v>
                </c:pt>
                <c:pt idx="1">
                  <c:v>24498</c:v>
                </c:pt>
                <c:pt idx="2">
                  <c:v>24634</c:v>
                </c:pt>
                <c:pt idx="3">
                  <c:v>24711</c:v>
                </c:pt>
              </c:numCache>
            </c:numRef>
          </c:val>
          <c:extLst>
            <c:ext xmlns:c16="http://schemas.microsoft.com/office/drawing/2014/chart" uri="{C3380CC4-5D6E-409C-BE32-E72D297353CC}">
              <c16:uniqueId val="{00000000-2B97-4958-B971-C17EB1A61237}"/>
            </c:ext>
          </c:extLst>
        </c:ser>
        <c:dLbls>
          <c:dLblPos val="inEnd"/>
          <c:showLegendKey val="0"/>
          <c:showVal val="1"/>
          <c:showCatName val="0"/>
          <c:showSerName val="0"/>
          <c:showPercent val="0"/>
          <c:showBubbleSize val="0"/>
        </c:dLbls>
        <c:gapWidth val="182"/>
        <c:axId val="901033983"/>
        <c:axId val="901021919"/>
      </c:barChart>
      <c:catAx>
        <c:axId val="90103398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ysClr val="windowText" lastClr="000000"/>
                </a:solidFill>
                <a:latin typeface="Unesa" pitchFamily="50" charset="0"/>
                <a:ea typeface="+mn-ea"/>
                <a:cs typeface="+mn-cs"/>
              </a:defRPr>
            </a:pPr>
            <a:endParaRPr lang="en-US"/>
          </a:p>
        </c:txPr>
        <c:crossAx val="901021919"/>
        <c:crosses val="autoZero"/>
        <c:auto val="1"/>
        <c:lblAlgn val="ctr"/>
        <c:lblOffset val="100"/>
        <c:noMultiLvlLbl val="0"/>
      </c:catAx>
      <c:valAx>
        <c:axId val="901021919"/>
        <c:scaling>
          <c:orientation val="minMax"/>
        </c:scaling>
        <c:delete val="0"/>
        <c:axPos val="b"/>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Unesa" pitchFamily="50" charset="0"/>
                <a:ea typeface="+mn-ea"/>
                <a:cs typeface="+mn-cs"/>
              </a:defRPr>
            </a:pPr>
            <a:endParaRPr lang="en-US"/>
          </a:p>
        </c:txPr>
        <c:crossAx val="901033983"/>
        <c:crosses val="autoZero"/>
        <c:crossBetween val="between"/>
      </c:valAx>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31750" cap="rnd" cmpd="sng" algn="ctr">
      <a:solidFill>
        <a:schemeClr val="tx1">
          <a:lumMod val="15000"/>
          <a:lumOff val="85000"/>
        </a:schemeClr>
      </a:solidFill>
      <a:round/>
    </a:ln>
    <a:effectLst>
      <a:outerShdw blurRad="50800" dist="38100" dir="2700000" algn="tl" rotWithShape="0">
        <a:prstClr val="black">
          <a:alpha val="40000"/>
        </a:prstClr>
      </a:outerShdw>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600">
                <a:solidFill>
                  <a:sysClr val="windowText" lastClr="000000"/>
                </a:solidFill>
                <a:latin typeface="Unesa" pitchFamily="50" charset="0"/>
              </a:rPr>
              <a:t>Net Revenue by Payment Method</a:t>
            </a:r>
          </a:p>
          <a:p>
            <a:pPr>
              <a:defRPr/>
            </a:pPr>
            <a:r>
              <a:rPr lang="en-US" sz="1600">
                <a:solidFill>
                  <a:sysClr val="windowText" lastClr="000000"/>
                </a:solidFill>
                <a:latin typeface="Unesa" pitchFamily="50" charset="0"/>
              </a:rPr>
              <a:t>(May 2023-April</a:t>
            </a:r>
            <a:r>
              <a:rPr lang="en-US" sz="1600" baseline="0">
                <a:solidFill>
                  <a:sysClr val="windowText" lastClr="000000"/>
                </a:solidFill>
                <a:latin typeface="Unesa" pitchFamily="50" charset="0"/>
              </a:rPr>
              <a:t> 2024)</a:t>
            </a:r>
            <a:endParaRPr lang="en-US" sz="1600">
              <a:solidFill>
                <a:sysClr val="windowText" lastClr="000000"/>
              </a:solidFill>
              <a:latin typeface="Unesa" pitchFamily="50"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lumMod val="75000"/>
              </a:schemeClr>
            </a:solidFill>
            <a:ln w="101600" cap="rnd">
              <a:solidFill>
                <a:schemeClr val="accent1">
                  <a:lumMod val="75000"/>
                </a:schemeClr>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Unesa" pitchFamily="50"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payment_distribution!$H$5:$H$8</c:f>
              <c:strCache>
                <c:ptCount val="4"/>
                <c:pt idx="0">
                  <c:v>Credit Card</c:v>
                </c:pt>
                <c:pt idx="1">
                  <c:v>Debit Card</c:v>
                </c:pt>
                <c:pt idx="2">
                  <c:v>Cash</c:v>
                </c:pt>
                <c:pt idx="3">
                  <c:v>PayPal</c:v>
                </c:pt>
              </c:strCache>
            </c:strRef>
          </c:cat>
          <c:val>
            <c:numRef>
              <c:f>payment_distribution!$I$5:$I$8</c:f>
              <c:numCache>
                <c:formatCode>_("$"* #,##0_);_("$"* \(#,##0\);_("$"* "-"??_);_(@_)</c:formatCode>
                <c:ptCount val="4"/>
                <c:pt idx="0">
                  <c:v>6107762.9434219487</c:v>
                </c:pt>
                <c:pt idx="1">
                  <c:v>6111880.4120657053</c:v>
                </c:pt>
                <c:pt idx="2">
                  <c:v>6118216.4309744332</c:v>
                </c:pt>
                <c:pt idx="3">
                  <c:v>6137750.1716441941</c:v>
                </c:pt>
              </c:numCache>
            </c:numRef>
          </c:val>
          <c:extLst>
            <c:ext xmlns:c16="http://schemas.microsoft.com/office/drawing/2014/chart" uri="{C3380CC4-5D6E-409C-BE32-E72D297353CC}">
              <c16:uniqueId val="{00000000-53EF-4D38-BAD6-ED86664AE026}"/>
            </c:ext>
          </c:extLst>
        </c:ser>
        <c:dLbls>
          <c:showLegendKey val="0"/>
          <c:showVal val="0"/>
          <c:showCatName val="0"/>
          <c:showSerName val="0"/>
          <c:showPercent val="0"/>
          <c:showBubbleSize val="0"/>
        </c:dLbls>
        <c:gapWidth val="219"/>
        <c:overlap val="-27"/>
        <c:axId val="873196895"/>
        <c:axId val="873189407"/>
      </c:barChart>
      <c:catAx>
        <c:axId val="8731968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Unesa" pitchFamily="50" charset="0"/>
                <a:ea typeface="+mn-ea"/>
                <a:cs typeface="+mn-cs"/>
              </a:defRPr>
            </a:pPr>
            <a:endParaRPr lang="en-US"/>
          </a:p>
        </c:txPr>
        <c:crossAx val="873189407"/>
        <c:crosses val="autoZero"/>
        <c:auto val="1"/>
        <c:lblAlgn val="ctr"/>
        <c:lblOffset val="100"/>
        <c:noMultiLvlLbl val="0"/>
      </c:catAx>
      <c:valAx>
        <c:axId val="873189407"/>
        <c:scaling>
          <c:orientation val="minMax"/>
        </c:scaling>
        <c:delete val="0"/>
        <c:axPos val="l"/>
        <c:numFmt formatCode="_(&quot;$&quot;* #,##0_);_(&quot;$&quot;* \(#,##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Unesa" pitchFamily="50" charset="0"/>
                <a:ea typeface="+mn-ea"/>
                <a:cs typeface="+mn-cs"/>
              </a:defRPr>
            </a:pPr>
            <a:endParaRPr lang="en-US"/>
          </a:p>
        </c:txPr>
        <c:crossAx val="87319689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31750" cap="rnd" cmpd="sng" algn="ctr">
      <a:solidFill>
        <a:schemeClr val="tx1">
          <a:lumMod val="15000"/>
          <a:lumOff val="85000"/>
        </a:schemeClr>
      </a:solidFill>
      <a:round/>
    </a:ln>
    <a:effectLst>
      <a:outerShdw blurRad="50800" dist="38100" dir="2700000" algn="tl" rotWithShape="0">
        <a:prstClr val="black">
          <a:alpha val="40000"/>
        </a:prstClr>
      </a:outerShdw>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ysClr val="windowText" lastClr="000000"/>
                </a:solidFill>
                <a:latin typeface="+mn-lt"/>
                <a:ea typeface="+mn-ea"/>
                <a:cs typeface="+mn-cs"/>
              </a:defRPr>
            </a:pPr>
            <a:r>
              <a:rPr lang="en-US" sz="1400">
                <a:solidFill>
                  <a:sysClr val="windowText" lastClr="000000"/>
                </a:solidFill>
                <a:latin typeface="Unesa" pitchFamily="50" charset="0"/>
              </a:rPr>
              <a:t>Payment</a:t>
            </a:r>
            <a:r>
              <a:rPr lang="en-US" sz="1400" baseline="0">
                <a:solidFill>
                  <a:sysClr val="windowText" lastClr="000000"/>
                </a:solidFill>
                <a:latin typeface="Unesa" pitchFamily="50" charset="0"/>
              </a:rPr>
              <a:t> Method Distribution %</a:t>
            </a:r>
          </a:p>
          <a:p>
            <a:pPr>
              <a:defRPr>
                <a:solidFill>
                  <a:sysClr val="windowText" lastClr="000000"/>
                </a:solidFill>
              </a:defRPr>
            </a:pPr>
            <a:r>
              <a:rPr lang="en-US" sz="1400" baseline="0">
                <a:solidFill>
                  <a:sysClr val="windowText" lastClr="000000"/>
                </a:solidFill>
                <a:latin typeface="Unesa" pitchFamily="50" charset="0"/>
              </a:rPr>
              <a:t>(May 2023-April2024)</a:t>
            </a:r>
            <a:endParaRPr lang="en-US" sz="1400">
              <a:solidFill>
                <a:sysClr val="windowText" lastClr="000000"/>
              </a:solidFill>
              <a:latin typeface="Unesa" pitchFamily="50"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ysClr val="windowText" lastClr="000000"/>
              </a:solidFill>
              <a:latin typeface="+mn-lt"/>
              <a:ea typeface="+mn-ea"/>
              <a:cs typeface="+mn-cs"/>
            </a:defRPr>
          </a:pPr>
          <a:endParaRPr lang="en-US"/>
        </a:p>
      </c:txPr>
    </c:title>
    <c:autoTitleDeleted val="0"/>
    <c:plotArea>
      <c:layout/>
      <c:doughnutChart>
        <c:varyColors val="1"/>
        <c:ser>
          <c:idx val="0"/>
          <c:order val="0"/>
          <c:spPr>
            <a:ln w="25400"/>
          </c:spPr>
          <c:dPt>
            <c:idx val="0"/>
            <c:bubble3D val="0"/>
            <c:spPr>
              <a:solidFill>
                <a:schemeClr val="accent1">
                  <a:lumMod val="75000"/>
                </a:schemeClr>
              </a:solidFill>
              <a:ln w="25400">
                <a:solidFill>
                  <a:schemeClr val="lt1"/>
                </a:solidFill>
              </a:ln>
              <a:effectLst/>
            </c:spPr>
            <c:extLst>
              <c:ext xmlns:c16="http://schemas.microsoft.com/office/drawing/2014/chart" uri="{C3380CC4-5D6E-409C-BE32-E72D297353CC}">
                <c16:uniqueId val="{00000001-799B-4A13-B822-5B1CF61C912D}"/>
              </c:ext>
            </c:extLst>
          </c:dPt>
          <c:dPt>
            <c:idx val="1"/>
            <c:bubble3D val="0"/>
            <c:spPr>
              <a:solidFill>
                <a:schemeClr val="accent1">
                  <a:lumMod val="60000"/>
                  <a:lumOff val="40000"/>
                </a:schemeClr>
              </a:solidFill>
              <a:ln w="25400">
                <a:solidFill>
                  <a:schemeClr val="lt1"/>
                </a:solidFill>
              </a:ln>
              <a:effectLst/>
            </c:spPr>
            <c:extLst>
              <c:ext xmlns:c16="http://schemas.microsoft.com/office/drawing/2014/chart" uri="{C3380CC4-5D6E-409C-BE32-E72D297353CC}">
                <c16:uniqueId val="{00000003-799B-4A13-B822-5B1CF61C912D}"/>
              </c:ext>
            </c:extLst>
          </c:dPt>
          <c:dPt>
            <c:idx val="2"/>
            <c:bubble3D val="0"/>
            <c:spPr>
              <a:solidFill>
                <a:schemeClr val="accent1">
                  <a:lumMod val="40000"/>
                  <a:lumOff val="60000"/>
                </a:schemeClr>
              </a:solidFill>
              <a:ln w="25400">
                <a:solidFill>
                  <a:schemeClr val="lt1"/>
                </a:solidFill>
              </a:ln>
              <a:effectLst/>
            </c:spPr>
            <c:extLst>
              <c:ext xmlns:c16="http://schemas.microsoft.com/office/drawing/2014/chart" uri="{C3380CC4-5D6E-409C-BE32-E72D297353CC}">
                <c16:uniqueId val="{00000005-799B-4A13-B822-5B1CF61C912D}"/>
              </c:ext>
            </c:extLst>
          </c:dPt>
          <c:dPt>
            <c:idx val="3"/>
            <c:bubble3D val="0"/>
            <c:spPr>
              <a:solidFill>
                <a:schemeClr val="accent1">
                  <a:lumMod val="20000"/>
                  <a:lumOff val="80000"/>
                </a:schemeClr>
              </a:solidFill>
              <a:ln w="25400">
                <a:solidFill>
                  <a:schemeClr val="lt1"/>
                </a:solidFill>
              </a:ln>
              <a:effectLst/>
            </c:spPr>
            <c:extLst>
              <c:ext xmlns:c16="http://schemas.microsoft.com/office/drawing/2014/chart" uri="{C3380CC4-5D6E-409C-BE32-E72D297353CC}">
                <c16:uniqueId val="{00000007-799B-4A13-B822-5B1CF61C912D}"/>
              </c:ext>
            </c:extLst>
          </c:dPt>
          <c:dLbls>
            <c:dLbl>
              <c:idx val="0"/>
              <c:layout>
                <c:manualLayout>
                  <c:x val="0.14331544864159121"/>
                  <c:y val="-7.391362511018225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99B-4A13-B822-5B1CF61C912D}"/>
                </c:ext>
              </c:extLst>
            </c:dLbl>
            <c:dLbl>
              <c:idx val="1"/>
              <c:layout>
                <c:manualLayout>
                  <c:x val="0.10004183049609525"/>
                  <c:y val="-3.684612720385717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99B-4A13-B822-5B1CF61C912D}"/>
                </c:ext>
              </c:extLst>
            </c:dLbl>
            <c:dLbl>
              <c:idx val="2"/>
              <c:layout>
                <c:manualLayout>
                  <c:x val="-0.15949364855929321"/>
                  <c:y val="5.04560273121601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99B-4A13-B822-5B1CF61C912D}"/>
                </c:ext>
              </c:extLst>
            </c:dLbl>
            <c:dLbl>
              <c:idx val="3"/>
              <c:layout>
                <c:manualLayout>
                  <c:x val="-7.2041254049009629E-2"/>
                  <c:y val="-5.354678746763282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99B-4A13-B822-5B1CF61C912D}"/>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Unesa" pitchFamily="50"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extLst>
          </c:dLbls>
          <c:cat>
            <c:strRef>
              <c:f>payment_distribution!$H$5:$H$8</c:f>
              <c:strCache>
                <c:ptCount val="4"/>
                <c:pt idx="0">
                  <c:v>Credit Card</c:v>
                </c:pt>
                <c:pt idx="1">
                  <c:v>Debit Card</c:v>
                </c:pt>
                <c:pt idx="2">
                  <c:v>Cash</c:v>
                </c:pt>
                <c:pt idx="3">
                  <c:v>PayPal</c:v>
                </c:pt>
              </c:strCache>
            </c:strRef>
          </c:cat>
          <c:val>
            <c:numRef>
              <c:f>payment_distribution!$K$5:$K$8</c:f>
              <c:numCache>
                <c:formatCode>0.00</c:formatCode>
                <c:ptCount val="4"/>
                <c:pt idx="0">
                  <c:v>25.087054953756816</c:v>
                </c:pt>
                <c:pt idx="1">
                  <c:v>25.033248393417324</c:v>
                </c:pt>
                <c:pt idx="2">
                  <c:v>25.008883158546613</c:v>
                </c:pt>
                <c:pt idx="3">
                  <c:v>24.870813494279247</c:v>
                </c:pt>
              </c:numCache>
            </c:numRef>
          </c:val>
          <c:extLst>
            <c:ext xmlns:c16="http://schemas.microsoft.com/office/drawing/2014/chart" uri="{C3380CC4-5D6E-409C-BE32-E72D297353CC}">
              <c16:uniqueId val="{00000008-799B-4A13-B822-5B1CF61C912D}"/>
            </c:ext>
          </c:extLst>
        </c:ser>
        <c:dLbls>
          <c:showLegendKey val="0"/>
          <c:showVal val="1"/>
          <c:showCatName val="0"/>
          <c:showSerName val="0"/>
          <c:showPercent val="0"/>
          <c:showBubbleSize val="0"/>
          <c:showLeaderLines val="0"/>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rtl="0">
            <a:defRPr sz="1000" b="0" i="0" u="none" strike="noStrike" kern="1200" baseline="0">
              <a:solidFill>
                <a:sysClr val="windowText" lastClr="000000"/>
              </a:solidFill>
              <a:latin typeface="Unesa" pitchFamily="50"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31750" cap="flat" cmpd="sng" algn="ctr">
      <a:solidFill>
        <a:schemeClr val="tx1">
          <a:lumMod val="15000"/>
          <a:lumOff val="85000"/>
        </a:schemeClr>
      </a:solidFill>
      <a:round/>
    </a:ln>
    <a:effectLst>
      <a:outerShdw blurRad="50800" dist="38100" dir="2700000" algn="tl" rotWithShape="0">
        <a:prstClr val="black">
          <a:alpha val="40000"/>
        </a:prstClr>
      </a:outerShdw>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0.74531</cdr:x>
      <cdr:y>0.30172</cdr:y>
    </cdr:from>
    <cdr:to>
      <cdr:x>0.74531</cdr:x>
      <cdr:y>0.86045</cdr:y>
    </cdr:to>
    <cdr:cxnSp macro="">
      <cdr:nvCxnSpPr>
        <cdr:cNvPr id="3" name="Straight Arrow Connector 2">
          <a:extLst xmlns:a="http://schemas.openxmlformats.org/drawingml/2006/main">
            <a:ext uri="{FF2B5EF4-FFF2-40B4-BE49-F238E27FC236}">
              <a16:creationId xmlns:a16="http://schemas.microsoft.com/office/drawing/2014/main" id="{EF48A416-64C9-4748-8605-532DE4F24159}"/>
            </a:ext>
          </a:extLst>
        </cdr:cNvPr>
        <cdr:cNvCxnSpPr/>
      </cdr:nvCxnSpPr>
      <cdr:spPr>
        <a:xfrm xmlns:a="http://schemas.openxmlformats.org/drawingml/2006/main">
          <a:off x="4078355" y="790056"/>
          <a:ext cx="0" cy="1463040"/>
        </a:xfrm>
        <a:prstGeom xmlns:a="http://schemas.openxmlformats.org/drawingml/2006/main" prst="straightConnector1">
          <a:avLst/>
        </a:prstGeom>
        <a:ln xmlns:a="http://schemas.openxmlformats.org/drawingml/2006/main">
          <a:solidFill>
            <a:srgbClr val="00B050"/>
          </a:solidFill>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7389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764266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8224610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938249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4188448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4244836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0322391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9179916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5762597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2830796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0362968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3563227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5040348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8.xml"/></Relationships>
</file>

<file path=ppt/slides/_rels/slide9.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10.xml"/></Relationships>
</file>

<file path=ppt/slides/_rels/slide10.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12.xml"/></Relationships>
</file>

<file path=ppt/slides/_rels/slide11.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chart" Target="../charts/chart14.xml"/></Relationships>
</file>

<file path=ppt/slides/_rels/slide12.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chart" Target="../charts/chart16.xml"/></Relationships>
</file>

<file path=ppt/slides/_rels/slide13.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044"/>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p:spPr>
      </p:sp>
      <p:sp>
        <p:nvSpPr>
          <p:cNvPr id="3" name="Shape 1"/>
          <p:cNvSpPr/>
          <p:nvPr/>
        </p:nvSpPr>
        <p:spPr>
          <a:xfrm>
            <a:off x="6858000" y="0"/>
            <a:ext cx="2286000" cy="1645920"/>
          </a:xfrm>
          <a:prstGeom prst="rect">
            <a:avLst/>
          </a:prstGeom>
          <a:solidFill>
            <a:srgbClr val="1A3260"/>
          </a:solidFill>
          <a:ln/>
        </p:spPr>
      </p:sp>
      <p:sp>
        <p:nvSpPr>
          <p:cNvPr id="4" name="Shape 2"/>
          <p:cNvSpPr/>
          <p:nvPr/>
        </p:nvSpPr>
        <p:spPr>
          <a:xfrm>
            <a:off x="7498080" y="0"/>
            <a:ext cx="1645920" cy="1645920"/>
          </a:xfrm>
          <a:prstGeom prst="rect">
            <a:avLst/>
          </a:prstGeom>
          <a:solidFill>
            <a:srgbClr val="0D9488"/>
          </a:solidFill>
          <a:ln/>
        </p:spPr>
      </p:sp>
      <p:sp>
        <p:nvSpPr>
          <p:cNvPr id="5" name="Text 3"/>
          <p:cNvSpPr/>
          <p:nvPr/>
        </p:nvSpPr>
        <p:spPr>
          <a:xfrm>
            <a:off x="411480" y="548640"/>
            <a:ext cx="6400800" cy="365760"/>
          </a:xfrm>
          <a:prstGeom prst="rect">
            <a:avLst/>
          </a:prstGeom>
          <a:noFill/>
          <a:ln/>
        </p:spPr>
        <p:txBody>
          <a:bodyPr wrap="square" lIns="0" tIns="0" rIns="0" bIns="0" rtlCol="0" anchor="ctr"/>
          <a:lstStyle/>
          <a:p>
            <a:pPr marL="0" indent="0">
              <a:buNone/>
            </a:pPr>
            <a:r>
              <a:rPr lang="en-US" sz="1100" b="1" kern="0" spc="300" dirty="0">
                <a:solidFill>
                  <a:srgbClr val="14B8A6"/>
                </a:solidFill>
              </a:rPr>
              <a:t>RETAIL TRANSACTION INSIGHT</a:t>
            </a:r>
            <a:endParaRPr lang="en-US" sz="1100" dirty="0"/>
          </a:p>
        </p:txBody>
      </p:sp>
      <p:sp>
        <p:nvSpPr>
          <p:cNvPr id="6" name="Text 4"/>
          <p:cNvSpPr/>
          <p:nvPr/>
        </p:nvSpPr>
        <p:spPr>
          <a:xfrm>
            <a:off x="411480" y="1005840"/>
            <a:ext cx="6446520" cy="1828800"/>
          </a:xfrm>
          <a:prstGeom prst="rect">
            <a:avLst/>
          </a:prstGeom>
          <a:noFill/>
          <a:ln/>
        </p:spPr>
        <p:txBody>
          <a:bodyPr wrap="square" lIns="0" tIns="0" rIns="0" bIns="0" rtlCol="0" anchor="ctr"/>
          <a:lstStyle/>
          <a:p>
            <a:pPr marL="0" indent="0" algn="just">
              <a:lnSpc>
                <a:spcPct val="120000"/>
              </a:lnSpc>
              <a:buNone/>
            </a:pPr>
            <a:r>
              <a:rPr lang="en-US" sz="2400" b="1" dirty="0">
                <a:solidFill>
                  <a:srgbClr val="FFFFFF"/>
                </a:solidFill>
                <a:latin typeface="Calibri" pitchFamily="34" charset="0"/>
                <a:ea typeface="Calibri" pitchFamily="34" charset="-122"/>
                <a:cs typeface="Calibri" pitchFamily="34" charset="-120"/>
              </a:rPr>
              <a:t>Diagnosing the Feb-Apr Revenue decline: A deep Dive into Retail Transaction  Behavior (May 2023-April 2024)</a:t>
            </a:r>
            <a:endParaRPr lang="en-US" sz="2400" dirty="0"/>
          </a:p>
        </p:txBody>
      </p:sp>
      <p:sp>
        <p:nvSpPr>
          <p:cNvPr id="7" name="Text 5"/>
          <p:cNvSpPr/>
          <p:nvPr/>
        </p:nvSpPr>
        <p:spPr>
          <a:xfrm>
            <a:off x="411480" y="2990088"/>
            <a:ext cx="5486400" cy="457200"/>
          </a:xfrm>
          <a:prstGeom prst="rect">
            <a:avLst/>
          </a:prstGeom>
          <a:noFill/>
          <a:ln/>
        </p:spPr>
        <p:txBody>
          <a:bodyPr wrap="square" lIns="0" tIns="0" rIns="0" bIns="0" rtlCol="0" anchor="ctr"/>
          <a:lstStyle/>
          <a:p>
            <a:pPr marL="0" indent="0">
              <a:buNone/>
            </a:pPr>
            <a:r>
              <a:rPr lang="en-US" sz="1600" dirty="0">
                <a:solidFill>
                  <a:srgbClr val="FCD34D"/>
                </a:solidFill>
              </a:rPr>
              <a:t>Analysis for the period May 2023 – April 2024</a:t>
            </a:r>
            <a:endParaRPr lang="en-US" sz="1600" dirty="0"/>
          </a:p>
        </p:txBody>
      </p:sp>
      <p:sp>
        <p:nvSpPr>
          <p:cNvPr id="8" name="Shape 6"/>
          <p:cNvSpPr/>
          <p:nvPr/>
        </p:nvSpPr>
        <p:spPr>
          <a:xfrm>
            <a:off x="411480" y="3429000"/>
            <a:ext cx="3200400" cy="36576"/>
          </a:xfrm>
          <a:prstGeom prst="rect">
            <a:avLst/>
          </a:prstGeom>
          <a:solidFill>
            <a:srgbClr val="0D9488"/>
          </a:solidFill>
          <a:ln/>
        </p:spPr>
      </p:sp>
      <p:sp>
        <p:nvSpPr>
          <p:cNvPr id="9" name="Text 7"/>
          <p:cNvSpPr/>
          <p:nvPr/>
        </p:nvSpPr>
        <p:spPr>
          <a:xfrm>
            <a:off x="411480" y="3532561"/>
            <a:ext cx="8229600" cy="365760"/>
          </a:xfrm>
          <a:prstGeom prst="rect">
            <a:avLst/>
          </a:prstGeom>
          <a:noFill/>
          <a:ln/>
        </p:spPr>
        <p:txBody>
          <a:bodyPr wrap="square" lIns="0" tIns="0" rIns="0" bIns="0" rtlCol="0" anchor="ctr"/>
          <a:lstStyle/>
          <a:p>
            <a:pPr marL="0" indent="0">
              <a:buNone/>
            </a:pPr>
            <a:r>
              <a:rPr lang="en-US" sz="1200" dirty="0">
                <a:solidFill>
                  <a:srgbClr val="64748B"/>
                </a:solidFill>
              </a:rPr>
              <a:t>Product Analysis  •  Transaction Time  •  Regional  •  Payment Method</a:t>
            </a:r>
            <a:endParaRPr lang="en-US" sz="1200" dirty="0"/>
          </a:p>
        </p:txBody>
      </p:sp>
      <p:sp>
        <p:nvSpPr>
          <p:cNvPr id="10" name="Text 3">
            <a:extLst>
              <a:ext uri="{FF2B5EF4-FFF2-40B4-BE49-F238E27FC236}">
                <a16:creationId xmlns:a16="http://schemas.microsoft.com/office/drawing/2014/main" id="{CC26E65C-C7F4-44CF-A45B-4BFEE8B0DE4C}"/>
              </a:ext>
            </a:extLst>
          </p:cNvPr>
          <p:cNvSpPr/>
          <p:nvPr/>
        </p:nvSpPr>
        <p:spPr>
          <a:xfrm>
            <a:off x="411480" y="288036"/>
            <a:ext cx="6400800" cy="365760"/>
          </a:xfrm>
          <a:prstGeom prst="rect">
            <a:avLst/>
          </a:prstGeom>
          <a:noFill/>
          <a:ln/>
        </p:spPr>
        <p:txBody>
          <a:bodyPr wrap="square" lIns="0" tIns="0" rIns="0" bIns="0" rtlCol="0" anchor="ctr"/>
          <a:lstStyle/>
          <a:p>
            <a:pPr marL="0" indent="0">
              <a:buNone/>
            </a:pPr>
            <a:r>
              <a:rPr lang="en-US" sz="1100" b="1" kern="0" spc="300" dirty="0">
                <a:solidFill>
                  <a:srgbClr val="14B8A6"/>
                </a:solidFill>
              </a:rPr>
              <a:t>DATA ANALYST PROJECT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044"/>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p:spPr>
      </p:sp>
      <p:sp>
        <p:nvSpPr>
          <p:cNvPr id="3" name="Shape 1"/>
          <p:cNvSpPr/>
          <p:nvPr/>
        </p:nvSpPr>
        <p:spPr>
          <a:xfrm>
            <a:off x="6858000" y="0"/>
            <a:ext cx="2286000" cy="1645920"/>
          </a:xfrm>
          <a:prstGeom prst="rect">
            <a:avLst/>
          </a:prstGeom>
          <a:solidFill>
            <a:srgbClr val="1A3260"/>
          </a:solidFill>
          <a:ln/>
        </p:spPr>
      </p:sp>
      <p:sp>
        <p:nvSpPr>
          <p:cNvPr id="4" name="Shape 2"/>
          <p:cNvSpPr/>
          <p:nvPr/>
        </p:nvSpPr>
        <p:spPr>
          <a:xfrm>
            <a:off x="7498080" y="0"/>
            <a:ext cx="1645920" cy="1645920"/>
          </a:xfrm>
          <a:prstGeom prst="rect">
            <a:avLst/>
          </a:prstGeom>
          <a:solidFill>
            <a:schemeClr val="accent5"/>
          </a:solidFill>
          <a:ln/>
        </p:spPr>
      </p:sp>
      <p:sp>
        <p:nvSpPr>
          <p:cNvPr id="5" name="Text 3"/>
          <p:cNvSpPr/>
          <p:nvPr/>
        </p:nvSpPr>
        <p:spPr>
          <a:xfrm>
            <a:off x="411480" y="548640"/>
            <a:ext cx="6400800" cy="365760"/>
          </a:xfrm>
          <a:prstGeom prst="rect">
            <a:avLst/>
          </a:prstGeom>
          <a:noFill/>
          <a:ln/>
        </p:spPr>
        <p:txBody>
          <a:bodyPr wrap="square" lIns="0" tIns="0" rIns="0" bIns="0" rtlCol="0" anchor="ctr"/>
          <a:lstStyle/>
          <a:p>
            <a:pPr marL="0" indent="0">
              <a:buNone/>
            </a:pPr>
            <a:r>
              <a:rPr lang="en-US" sz="1400" b="1" kern="0" spc="300" dirty="0">
                <a:solidFill>
                  <a:srgbClr val="14B8A6"/>
                </a:solidFill>
              </a:rPr>
              <a:t>Project Overview</a:t>
            </a:r>
            <a:endParaRPr lang="en-US" sz="1400" dirty="0"/>
          </a:p>
        </p:txBody>
      </p:sp>
      <p:sp>
        <p:nvSpPr>
          <p:cNvPr id="6" name="Text 4"/>
          <p:cNvSpPr/>
          <p:nvPr/>
        </p:nvSpPr>
        <p:spPr>
          <a:xfrm>
            <a:off x="240658" y="925032"/>
            <a:ext cx="6571622" cy="3732028"/>
          </a:xfrm>
          <a:prstGeom prst="rect">
            <a:avLst/>
          </a:prstGeom>
          <a:noFill/>
          <a:ln/>
        </p:spPr>
        <p:txBody>
          <a:bodyPr wrap="square" lIns="0" tIns="0" rIns="0" bIns="0" rtlCol="0" anchor="ctr"/>
          <a:lstStyle/>
          <a:p>
            <a:pPr algn="just">
              <a:lnSpc>
                <a:spcPct val="120000"/>
              </a:lnSpc>
            </a:pPr>
            <a:r>
              <a:rPr lang="en-US" sz="1400" b="1" dirty="0">
                <a:solidFill>
                  <a:srgbClr val="FFFFFF"/>
                </a:solidFill>
                <a:latin typeface="Unesa" pitchFamily="50" charset="0"/>
                <a:cs typeface="Calibri" pitchFamily="34" charset="-120"/>
              </a:rPr>
              <a:t>This project analyzes retail transaction data from May 2023 to April 2024 to investigate the sharp revenue decline that occurred during February–April 2024. The analysis focuses on identifying whether the decline was caused by changes in product performance, customer purchasing behavior, transaction timing, regional contribution, or payment preferences. The business maintained relatively stable monthly revenue around $2.0M–$2.1M for most of the observed period. However, revenue suddenly dropped in February 2024 and continued declining into April 2024, signaling a potential shift in customer behavior or external market </a:t>
            </a:r>
            <a:r>
              <a:rPr lang="en-US" sz="1400" b="1" dirty="0" err="1">
                <a:solidFill>
                  <a:srgbClr val="FFFFFF"/>
                </a:solidFill>
                <a:latin typeface="Unesa" pitchFamily="50" charset="0"/>
                <a:cs typeface="Calibri" pitchFamily="34" charset="-120"/>
              </a:rPr>
              <a:t>conditions.To</a:t>
            </a:r>
            <a:r>
              <a:rPr lang="en-US" sz="1400" b="1" dirty="0">
                <a:solidFill>
                  <a:srgbClr val="FFFFFF"/>
                </a:solidFill>
                <a:latin typeface="Unesa" pitchFamily="50" charset="0"/>
                <a:cs typeface="Calibri" pitchFamily="34" charset="-120"/>
              </a:rPr>
              <a:t> identify the root cause, this project explores multiple business dimensions including:</a:t>
            </a:r>
          </a:p>
          <a:p>
            <a:pPr marL="285750" indent="-285750" algn="just">
              <a:lnSpc>
                <a:spcPct val="120000"/>
              </a:lnSpc>
              <a:buFont typeface="Arial" panose="020B0604020202020204" pitchFamily="34" charset="0"/>
              <a:buChar char="•"/>
            </a:pPr>
            <a:r>
              <a:rPr lang="en-US" sz="1400" b="1" dirty="0">
                <a:solidFill>
                  <a:srgbClr val="FFFFFF"/>
                </a:solidFill>
                <a:latin typeface="Unesa" pitchFamily="50" charset="0"/>
                <a:cs typeface="Calibri" pitchFamily="34" charset="-120"/>
              </a:rPr>
              <a:t>Monthly revenue performance and MoM growth</a:t>
            </a:r>
          </a:p>
          <a:p>
            <a:pPr marL="285750" indent="-285750" algn="just">
              <a:lnSpc>
                <a:spcPct val="120000"/>
              </a:lnSpc>
              <a:buFont typeface="Arial" panose="020B0604020202020204" pitchFamily="34" charset="0"/>
              <a:buChar char="•"/>
            </a:pPr>
            <a:r>
              <a:rPr lang="en-US" sz="1400" b="1" dirty="0">
                <a:solidFill>
                  <a:srgbClr val="FFFFFF"/>
                </a:solidFill>
                <a:latin typeface="Unesa" pitchFamily="50" charset="0"/>
                <a:cs typeface="Calibri" pitchFamily="34" charset="-120"/>
              </a:rPr>
              <a:t>Product category contribution</a:t>
            </a:r>
          </a:p>
          <a:p>
            <a:pPr marL="285750" indent="-285750" algn="just">
              <a:lnSpc>
                <a:spcPct val="120000"/>
              </a:lnSpc>
              <a:buFont typeface="Arial" panose="020B0604020202020204" pitchFamily="34" charset="0"/>
              <a:buChar char="•"/>
            </a:pPr>
            <a:r>
              <a:rPr lang="en-US" sz="1400" b="1" dirty="0">
                <a:solidFill>
                  <a:srgbClr val="FFFFFF"/>
                </a:solidFill>
                <a:latin typeface="Unesa" pitchFamily="50" charset="0"/>
                <a:cs typeface="Calibri" pitchFamily="34" charset="-120"/>
              </a:rPr>
              <a:t>Unit sales distribution</a:t>
            </a:r>
          </a:p>
          <a:p>
            <a:pPr marL="285750" indent="-285750" algn="just">
              <a:lnSpc>
                <a:spcPct val="120000"/>
              </a:lnSpc>
              <a:buFont typeface="Arial" panose="020B0604020202020204" pitchFamily="34" charset="0"/>
              <a:buChar char="•"/>
            </a:pPr>
            <a:r>
              <a:rPr lang="en-US" sz="1400" b="1" dirty="0">
                <a:solidFill>
                  <a:srgbClr val="FFFFFF"/>
                </a:solidFill>
                <a:latin typeface="Unesa" pitchFamily="50" charset="0"/>
                <a:cs typeface="Calibri" pitchFamily="34" charset="-120"/>
              </a:rPr>
              <a:t>Customer transaction timing</a:t>
            </a:r>
          </a:p>
          <a:p>
            <a:pPr marL="285750" indent="-285750" algn="just">
              <a:lnSpc>
                <a:spcPct val="120000"/>
              </a:lnSpc>
              <a:buFont typeface="Arial" panose="020B0604020202020204" pitchFamily="34" charset="0"/>
              <a:buChar char="•"/>
            </a:pPr>
            <a:r>
              <a:rPr lang="en-US" sz="1400" b="1" dirty="0">
                <a:solidFill>
                  <a:srgbClr val="FFFFFF"/>
                </a:solidFill>
                <a:latin typeface="Unesa" pitchFamily="50" charset="0"/>
                <a:cs typeface="Calibri" pitchFamily="34" charset="-120"/>
              </a:rPr>
              <a:t>Regional purchasing behavior* Payment method performance</a:t>
            </a:r>
          </a:p>
        </p:txBody>
      </p:sp>
    </p:spTree>
    <p:extLst>
      <p:ext uri="{BB962C8B-B14F-4D97-AF65-F5344CB8AC3E}">
        <p14:creationId xmlns:p14="http://schemas.microsoft.com/office/powerpoint/2010/main" val="1392335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2044"/>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p:spPr>
      </p:sp>
      <p:sp>
        <p:nvSpPr>
          <p:cNvPr id="3" name="Shape 1"/>
          <p:cNvSpPr/>
          <p:nvPr/>
        </p:nvSpPr>
        <p:spPr>
          <a:xfrm>
            <a:off x="6858000" y="0"/>
            <a:ext cx="2286000" cy="1645920"/>
          </a:xfrm>
          <a:prstGeom prst="rect">
            <a:avLst/>
          </a:prstGeom>
          <a:solidFill>
            <a:srgbClr val="1A3260"/>
          </a:solidFill>
          <a:ln/>
        </p:spPr>
      </p:sp>
      <p:sp>
        <p:nvSpPr>
          <p:cNvPr id="4" name="Shape 2"/>
          <p:cNvSpPr/>
          <p:nvPr/>
        </p:nvSpPr>
        <p:spPr>
          <a:xfrm>
            <a:off x="7498080" y="0"/>
            <a:ext cx="1645920" cy="1645920"/>
          </a:xfrm>
          <a:prstGeom prst="rect">
            <a:avLst/>
          </a:prstGeom>
          <a:solidFill>
            <a:schemeClr val="accent5"/>
          </a:solidFill>
          <a:ln/>
        </p:spPr>
      </p:sp>
      <p:sp>
        <p:nvSpPr>
          <p:cNvPr id="5" name="Text 3"/>
          <p:cNvSpPr/>
          <p:nvPr/>
        </p:nvSpPr>
        <p:spPr>
          <a:xfrm>
            <a:off x="411480" y="548640"/>
            <a:ext cx="6400800" cy="365760"/>
          </a:xfrm>
          <a:prstGeom prst="rect">
            <a:avLst/>
          </a:prstGeom>
          <a:noFill/>
          <a:ln/>
        </p:spPr>
        <p:txBody>
          <a:bodyPr wrap="square" lIns="0" tIns="0" rIns="0" bIns="0" rtlCol="0" anchor="ctr"/>
          <a:lstStyle/>
          <a:p>
            <a:pPr marL="0" indent="0">
              <a:buNone/>
            </a:pPr>
            <a:r>
              <a:rPr lang="en-US" sz="1400" b="1" kern="0" spc="300" dirty="0">
                <a:solidFill>
                  <a:srgbClr val="14B8A6"/>
                </a:solidFill>
              </a:rPr>
              <a:t>Problem Statement</a:t>
            </a:r>
            <a:endParaRPr lang="en-US" sz="1400" dirty="0"/>
          </a:p>
        </p:txBody>
      </p:sp>
      <p:sp>
        <p:nvSpPr>
          <p:cNvPr id="6" name="Text 4"/>
          <p:cNvSpPr/>
          <p:nvPr/>
        </p:nvSpPr>
        <p:spPr>
          <a:xfrm>
            <a:off x="240658" y="1571791"/>
            <a:ext cx="7680598" cy="1543317"/>
          </a:xfrm>
          <a:prstGeom prst="rect">
            <a:avLst/>
          </a:prstGeom>
          <a:noFill/>
          <a:ln/>
        </p:spPr>
        <p:txBody>
          <a:bodyPr wrap="square" lIns="0" tIns="0" rIns="0" bIns="0" rtlCol="0" anchor="ctr"/>
          <a:lstStyle/>
          <a:p>
            <a:pPr marL="0" indent="0" algn="just">
              <a:lnSpc>
                <a:spcPct val="120000"/>
              </a:lnSpc>
              <a:buNone/>
            </a:pPr>
            <a:r>
              <a:rPr lang="en-US" sz="2400" b="1" dirty="0">
                <a:solidFill>
                  <a:srgbClr val="FFFFFF"/>
                </a:solidFill>
                <a:latin typeface="Unesa" pitchFamily="50" charset="0"/>
                <a:ea typeface="Calibri" pitchFamily="34" charset="-122"/>
                <a:cs typeface="Calibri" pitchFamily="34" charset="-120"/>
              </a:rPr>
              <a:t>Understanding Retail Transaction  Behavior to identify  Potential drivers  of the Feb-April  Revenue Decline.</a:t>
            </a:r>
            <a:endParaRPr lang="en-US" sz="2400" dirty="0">
              <a:latin typeface="Unesa" pitchFamily="50" charset="0"/>
            </a:endParaRPr>
          </a:p>
        </p:txBody>
      </p:sp>
      <p:sp>
        <p:nvSpPr>
          <p:cNvPr id="10" name="Text 7">
            <a:extLst>
              <a:ext uri="{FF2B5EF4-FFF2-40B4-BE49-F238E27FC236}">
                <a16:creationId xmlns:a16="http://schemas.microsoft.com/office/drawing/2014/main" id="{BAA9ACA9-5DCB-4821-87FA-75862FF83429}"/>
              </a:ext>
            </a:extLst>
          </p:cNvPr>
          <p:cNvSpPr/>
          <p:nvPr/>
        </p:nvSpPr>
        <p:spPr>
          <a:xfrm>
            <a:off x="231112" y="3808959"/>
            <a:ext cx="8229600" cy="365760"/>
          </a:xfrm>
          <a:prstGeom prst="rect">
            <a:avLst/>
          </a:prstGeom>
          <a:noFill/>
          <a:ln/>
        </p:spPr>
        <p:txBody>
          <a:bodyPr wrap="square" lIns="0" tIns="0" rIns="0" bIns="0" rtlCol="0" anchor="ctr"/>
          <a:lstStyle/>
          <a:p>
            <a:pPr marL="0" indent="0">
              <a:buNone/>
            </a:pPr>
            <a:r>
              <a:rPr lang="en-US" sz="1200" dirty="0">
                <a:solidFill>
                  <a:srgbClr val="64748B"/>
                </a:solidFill>
              </a:rPr>
              <a:t>Microsoft Excel (cleaning, reporting &amp; chart)•  SQL/PostgreSQL (analysis) •  Power BI (Dashboard Visualization) </a:t>
            </a:r>
            <a:endParaRPr lang="en-US" sz="1200" dirty="0"/>
          </a:p>
        </p:txBody>
      </p:sp>
      <p:sp>
        <p:nvSpPr>
          <p:cNvPr id="11" name="Text 7">
            <a:extLst>
              <a:ext uri="{FF2B5EF4-FFF2-40B4-BE49-F238E27FC236}">
                <a16:creationId xmlns:a16="http://schemas.microsoft.com/office/drawing/2014/main" id="{CB19D49D-FFC1-4522-9C88-6C8D2B496422}"/>
              </a:ext>
            </a:extLst>
          </p:cNvPr>
          <p:cNvSpPr/>
          <p:nvPr/>
        </p:nvSpPr>
        <p:spPr>
          <a:xfrm>
            <a:off x="231112" y="3495453"/>
            <a:ext cx="4160520" cy="365760"/>
          </a:xfrm>
          <a:prstGeom prst="rect">
            <a:avLst/>
          </a:prstGeom>
          <a:noFill/>
          <a:ln/>
        </p:spPr>
        <p:txBody>
          <a:bodyPr wrap="square" lIns="0" tIns="0" rIns="0" bIns="0" rtlCol="0" anchor="ctr"/>
          <a:lstStyle/>
          <a:p>
            <a:pPr marL="0" indent="0">
              <a:buNone/>
            </a:pPr>
            <a:r>
              <a:rPr lang="en-US" sz="2000" dirty="0">
                <a:solidFill>
                  <a:schemeClr val="bg1"/>
                </a:solidFill>
                <a:latin typeface="Unesa" pitchFamily="50" charset="0"/>
              </a:rPr>
              <a:t>Tools I used to deal with this problem</a:t>
            </a:r>
          </a:p>
        </p:txBody>
      </p:sp>
    </p:spTree>
    <p:extLst>
      <p:ext uri="{BB962C8B-B14F-4D97-AF65-F5344CB8AC3E}">
        <p14:creationId xmlns:p14="http://schemas.microsoft.com/office/powerpoint/2010/main" val="457711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044"/>
          </a:solidFill>
          <a:ln/>
        </p:spPr>
      </p:sp>
      <p:sp>
        <p:nvSpPr>
          <p:cNvPr id="3" name="Text 1"/>
          <p:cNvSpPr/>
          <p:nvPr/>
        </p:nvSpPr>
        <p:spPr>
          <a:xfrm>
            <a:off x="365760" y="91440"/>
            <a:ext cx="8229600" cy="64008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Analysis Breakdown</a:t>
            </a:r>
            <a:endParaRPr lang="en-US" sz="2400" dirty="0"/>
          </a:p>
        </p:txBody>
      </p:sp>
      <p:sp>
        <p:nvSpPr>
          <p:cNvPr id="4" name="Shape 2"/>
          <p:cNvSpPr/>
          <p:nvPr/>
        </p:nvSpPr>
        <p:spPr>
          <a:xfrm>
            <a:off x="274320" y="1005840"/>
            <a:ext cx="4114800" cy="114300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5" name="Shape 3"/>
          <p:cNvSpPr/>
          <p:nvPr/>
        </p:nvSpPr>
        <p:spPr>
          <a:xfrm>
            <a:off x="274320" y="1005840"/>
            <a:ext cx="54864" cy="1143000"/>
          </a:xfrm>
          <a:prstGeom prst="rect">
            <a:avLst/>
          </a:prstGeom>
          <a:solidFill>
            <a:srgbClr val="0D9488"/>
          </a:solidFill>
          <a:ln/>
        </p:spPr>
      </p:sp>
      <p:sp>
        <p:nvSpPr>
          <p:cNvPr id="6" name="Text 4"/>
          <p:cNvSpPr/>
          <p:nvPr/>
        </p:nvSpPr>
        <p:spPr>
          <a:xfrm>
            <a:off x="411480" y="1115568"/>
            <a:ext cx="502920" cy="365760"/>
          </a:xfrm>
          <a:prstGeom prst="rect">
            <a:avLst/>
          </a:prstGeom>
          <a:noFill/>
          <a:ln/>
        </p:spPr>
        <p:txBody>
          <a:bodyPr wrap="square" lIns="0" tIns="0" rIns="0" bIns="0" rtlCol="0" anchor="ctr"/>
          <a:lstStyle/>
          <a:p>
            <a:pPr marL="0" indent="0">
              <a:buNone/>
            </a:pPr>
            <a:r>
              <a:rPr lang="en-US" sz="2000" b="1" dirty="0">
                <a:solidFill>
                  <a:srgbClr val="0D9488"/>
                </a:solidFill>
              </a:rPr>
              <a:t>01</a:t>
            </a:r>
            <a:endParaRPr lang="en-US" sz="2000" dirty="0"/>
          </a:p>
        </p:txBody>
      </p:sp>
      <p:sp>
        <p:nvSpPr>
          <p:cNvPr id="7" name="Text 5"/>
          <p:cNvSpPr/>
          <p:nvPr/>
        </p:nvSpPr>
        <p:spPr>
          <a:xfrm>
            <a:off x="411480" y="1444752"/>
            <a:ext cx="3749040" cy="320040"/>
          </a:xfrm>
          <a:prstGeom prst="rect">
            <a:avLst/>
          </a:prstGeom>
          <a:noFill/>
          <a:ln/>
        </p:spPr>
        <p:txBody>
          <a:bodyPr wrap="square" lIns="0" tIns="0" rIns="0" bIns="0" rtlCol="0" anchor="ctr"/>
          <a:lstStyle/>
          <a:p>
            <a:pPr marL="0" indent="0">
              <a:buNone/>
            </a:pPr>
            <a:r>
              <a:rPr lang="en-US" sz="1300" b="1" dirty="0">
                <a:solidFill>
                  <a:srgbClr val="1E293B"/>
                </a:solidFill>
              </a:rPr>
              <a:t>Monthly Revenue &amp; MoM Growth Rate %</a:t>
            </a:r>
            <a:endParaRPr lang="en-US" sz="1300" dirty="0"/>
          </a:p>
        </p:txBody>
      </p:sp>
      <p:sp>
        <p:nvSpPr>
          <p:cNvPr id="8" name="Text 6"/>
          <p:cNvSpPr/>
          <p:nvPr/>
        </p:nvSpPr>
        <p:spPr>
          <a:xfrm>
            <a:off x="411480" y="1737360"/>
            <a:ext cx="3749040" cy="347472"/>
          </a:xfrm>
          <a:prstGeom prst="rect">
            <a:avLst/>
          </a:prstGeom>
          <a:noFill/>
          <a:ln/>
        </p:spPr>
        <p:txBody>
          <a:bodyPr wrap="square" lIns="0" tIns="0" rIns="0" bIns="0" rtlCol="0" anchor="ctr"/>
          <a:lstStyle/>
          <a:p>
            <a:pPr marL="0" indent="0">
              <a:buNone/>
            </a:pPr>
            <a:r>
              <a:rPr lang="en-US" sz="1000" dirty="0"/>
              <a:t>Monthly revenue and MoM growth percentage</a:t>
            </a:r>
          </a:p>
        </p:txBody>
      </p:sp>
      <p:sp>
        <p:nvSpPr>
          <p:cNvPr id="9" name="Shape 7"/>
          <p:cNvSpPr/>
          <p:nvPr/>
        </p:nvSpPr>
        <p:spPr>
          <a:xfrm>
            <a:off x="274320" y="2286000"/>
            <a:ext cx="4114800" cy="114300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0" name="Shape 8"/>
          <p:cNvSpPr/>
          <p:nvPr/>
        </p:nvSpPr>
        <p:spPr>
          <a:xfrm>
            <a:off x="274320" y="2286000"/>
            <a:ext cx="54864" cy="1143000"/>
          </a:xfrm>
          <a:prstGeom prst="rect">
            <a:avLst/>
          </a:prstGeom>
          <a:solidFill>
            <a:srgbClr val="0D9488"/>
          </a:solidFill>
          <a:ln/>
        </p:spPr>
      </p:sp>
      <p:sp>
        <p:nvSpPr>
          <p:cNvPr id="11" name="Text 9"/>
          <p:cNvSpPr/>
          <p:nvPr/>
        </p:nvSpPr>
        <p:spPr>
          <a:xfrm>
            <a:off x="411480" y="2395728"/>
            <a:ext cx="502920" cy="365760"/>
          </a:xfrm>
          <a:prstGeom prst="rect">
            <a:avLst/>
          </a:prstGeom>
          <a:noFill/>
          <a:ln/>
        </p:spPr>
        <p:txBody>
          <a:bodyPr wrap="square" lIns="0" tIns="0" rIns="0" bIns="0" rtlCol="0" anchor="ctr"/>
          <a:lstStyle/>
          <a:p>
            <a:pPr marL="0" indent="0">
              <a:buNone/>
            </a:pPr>
            <a:r>
              <a:rPr lang="en-US" sz="2000" b="1" dirty="0">
                <a:solidFill>
                  <a:srgbClr val="0D9488"/>
                </a:solidFill>
              </a:rPr>
              <a:t>02</a:t>
            </a:r>
            <a:endParaRPr lang="en-US" sz="2000" dirty="0"/>
          </a:p>
        </p:txBody>
      </p:sp>
      <p:sp>
        <p:nvSpPr>
          <p:cNvPr id="12" name="Text 10"/>
          <p:cNvSpPr/>
          <p:nvPr/>
        </p:nvSpPr>
        <p:spPr>
          <a:xfrm>
            <a:off x="411480" y="2724912"/>
            <a:ext cx="3749040" cy="320040"/>
          </a:xfrm>
          <a:prstGeom prst="rect">
            <a:avLst/>
          </a:prstGeom>
          <a:noFill/>
          <a:ln/>
        </p:spPr>
        <p:txBody>
          <a:bodyPr wrap="square" lIns="0" tIns="0" rIns="0" bIns="0" rtlCol="0" anchor="ctr"/>
          <a:lstStyle/>
          <a:p>
            <a:pPr marL="0" indent="0">
              <a:buNone/>
            </a:pPr>
            <a:r>
              <a:rPr lang="en-US" sz="1300" b="1" dirty="0">
                <a:solidFill>
                  <a:srgbClr val="1E293B"/>
                </a:solidFill>
              </a:rPr>
              <a:t>Product Distribution</a:t>
            </a:r>
            <a:endParaRPr lang="en-US" sz="1300" dirty="0"/>
          </a:p>
        </p:txBody>
      </p:sp>
      <p:sp>
        <p:nvSpPr>
          <p:cNvPr id="13" name="Text 11"/>
          <p:cNvSpPr/>
          <p:nvPr/>
        </p:nvSpPr>
        <p:spPr>
          <a:xfrm>
            <a:off x="411480" y="3017520"/>
            <a:ext cx="3749040" cy="347472"/>
          </a:xfrm>
          <a:prstGeom prst="rect">
            <a:avLst/>
          </a:prstGeom>
          <a:noFill/>
          <a:ln/>
        </p:spPr>
        <p:txBody>
          <a:bodyPr wrap="square" lIns="0" tIns="0" rIns="0" bIns="0" rtlCol="0" anchor="ctr"/>
          <a:lstStyle/>
          <a:p>
            <a:pPr marL="0" indent="0">
              <a:buNone/>
            </a:pPr>
            <a:r>
              <a:rPr lang="en-US" sz="1000" dirty="0"/>
              <a:t>The most popular products and their transactions volume</a:t>
            </a:r>
          </a:p>
        </p:txBody>
      </p:sp>
      <p:sp>
        <p:nvSpPr>
          <p:cNvPr id="14" name="Shape 12"/>
          <p:cNvSpPr/>
          <p:nvPr/>
        </p:nvSpPr>
        <p:spPr>
          <a:xfrm>
            <a:off x="274320" y="3566160"/>
            <a:ext cx="4114800" cy="114300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15" name="Shape 13"/>
          <p:cNvSpPr/>
          <p:nvPr/>
        </p:nvSpPr>
        <p:spPr>
          <a:xfrm>
            <a:off x="274320" y="3566160"/>
            <a:ext cx="54864" cy="1143000"/>
          </a:xfrm>
          <a:prstGeom prst="rect">
            <a:avLst/>
          </a:prstGeom>
          <a:solidFill>
            <a:srgbClr val="0D9488"/>
          </a:solidFill>
          <a:ln/>
        </p:spPr>
      </p:sp>
      <p:sp>
        <p:nvSpPr>
          <p:cNvPr id="16" name="Text 14"/>
          <p:cNvSpPr/>
          <p:nvPr/>
        </p:nvSpPr>
        <p:spPr>
          <a:xfrm>
            <a:off x="411480" y="3675888"/>
            <a:ext cx="502920" cy="365760"/>
          </a:xfrm>
          <a:prstGeom prst="rect">
            <a:avLst/>
          </a:prstGeom>
          <a:noFill/>
          <a:ln/>
        </p:spPr>
        <p:txBody>
          <a:bodyPr wrap="square" lIns="0" tIns="0" rIns="0" bIns="0" rtlCol="0" anchor="ctr"/>
          <a:lstStyle/>
          <a:p>
            <a:pPr marL="0" indent="0">
              <a:buNone/>
            </a:pPr>
            <a:r>
              <a:rPr lang="en-US" sz="2000" b="1" dirty="0">
                <a:solidFill>
                  <a:srgbClr val="0D9488"/>
                </a:solidFill>
              </a:rPr>
              <a:t>03</a:t>
            </a:r>
            <a:endParaRPr lang="en-US" sz="2000" dirty="0"/>
          </a:p>
        </p:txBody>
      </p:sp>
      <p:sp>
        <p:nvSpPr>
          <p:cNvPr id="17" name="Text 15"/>
          <p:cNvSpPr/>
          <p:nvPr/>
        </p:nvSpPr>
        <p:spPr>
          <a:xfrm>
            <a:off x="411480" y="4005072"/>
            <a:ext cx="3749040" cy="320040"/>
          </a:xfrm>
          <a:prstGeom prst="rect">
            <a:avLst/>
          </a:prstGeom>
          <a:noFill/>
          <a:ln/>
        </p:spPr>
        <p:txBody>
          <a:bodyPr wrap="square" lIns="0" tIns="0" rIns="0" bIns="0" rtlCol="0" anchor="ctr"/>
          <a:lstStyle/>
          <a:p>
            <a:pPr marL="0" indent="0">
              <a:buNone/>
            </a:pPr>
            <a:r>
              <a:rPr lang="en-US" sz="1300" b="1" dirty="0">
                <a:solidFill>
                  <a:srgbClr val="1E293B"/>
                </a:solidFill>
              </a:rPr>
              <a:t>Transaction Time</a:t>
            </a:r>
            <a:endParaRPr lang="en-US" sz="1300" dirty="0"/>
          </a:p>
        </p:txBody>
      </p:sp>
      <p:sp>
        <p:nvSpPr>
          <p:cNvPr id="18" name="Text 16"/>
          <p:cNvSpPr/>
          <p:nvPr/>
        </p:nvSpPr>
        <p:spPr>
          <a:xfrm>
            <a:off x="411480" y="4297680"/>
            <a:ext cx="3749040" cy="347472"/>
          </a:xfrm>
          <a:prstGeom prst="rect">
            <a:avLst/>
          </a:prstGeom>
          <a:noFill/>
          <a:ln/>
        </p:spPr>
        <p:txBody>
          <a:bodyPr wrap="square" lIns="0" tIns="0" rIns="0" bIns="0" rtlCol="0" anchor="ctr"/>
          <a:lstStyle/>
          <a:p>
            <a:pPr marL="0" indent="0">
              <a:buNone/>
            </a:pPr>
            <a:r>
              <a:rPr lang="en-US" sz="1000" dirty="0"/>
              <a:t>Identify the peak and volume of transaction time</a:t>
            </a:r>
          </a:p>
        </p:txBody>
      </p:sp>
      <p:sp>
        <p:nvSpPr>
          <p:cNvPr id="19" name="Shape 17"/>
          <p:cNvSpPr/>
          <p:nvPr/>
        </p:nvSpPr>
        <p:spPr>
          <a:xfrm>
            <a:off x="4709160" y="1005840"/>
            <a:ext cx="4114800" cy="114300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20" name="Shape 18"/>
          <p:cNvSpPr/>
          <p:nvPr/>
        </p:nvSpPr>
        <p:spPr>
          <a:xfrm>
            <a:off x="4709160" y="1005840"/>
            <a:ext cx="54864" cy="1143000"/>
          </a:xfrm>
          <a:prstGeom prst="rect">
            <a:avLst/>
          </a:prstGeom>
          <a:solidFill>
            <a:srgbClr val="0D9488"/>
          </a:solidFill>
          <a:ln/>
        </p:spPr>
      </p:sp>
      <p:sp>
        <p:nvSpPr>
          <p:cNvPr id="21" name="Text 19"/>
          <p:cNvSpPr/>
          <p:nvPr/>
        </p:nvSpPr>
        <p:spPr>
          <a:xfrm>
            <a:off x="4846320" y="1115568"/>
            <a:ext cx="502920" cy="365760"/>
          </a:xfrm>
          <a:prstGeom prst="rect">
            <a:avLst/>
          </a:prstGeom>
          <a:noFill/>
          <a:ln/>
        </p:spPr>
        <p:txBody>
          <a:bodyPr wrap="square" lIns="0" tIns="0" rIns="0" bIns="0" rtlCol="0" anchor="ctr"/>
          <a:lstStyle/>
          <a:p>
            <a:pPr marL="0" indent="0">
              <a:buNone/>
            </a:pPr>
            <a:r>
              <a:rPr lang="en-US" sz="2000" b="1" dirty="0">
                <a:solidFill>
                  <a:srgbClr val="0D9488"/>
                </a:solidFill>
              </a:rPr>
              <a:t>04</a:t>
            </a:r>
            <a:endParaRPr lang="en-US" sz="2000" dirty="0"/>
          </a:p>
        </p:txBody>
      </p:sp>
      <p:sp>
        <p:nvSpPr>
          <p:cNvPr id="22" name="Text 20"/>
          <p:cNvSpPr/>
          <p:nvPr/>
        </p:nvSpPr>
        <p:spPr>
          <a:xfrm>
            <a:off x="4846320" y="1444752"/>
            <a:ext cx="3749040" cy="320040"/>
          </a:xfrm>
          <a:prstGeom prst="rect">
            <a:avLst/>
          </a:prstGeom>
          <a:noFill/>
          <a:ln/>
        </p:spPr>
        <p:txBody>
          <a:bodyPr wrap="square" lIns="0" tIns="0" rIns="0" bIns="0" rtlCol="0" anchor="ctr"/>
          <a:lstStyle/>
          <a:p>
            <a:pPr marL="0" indent="0">
              <a:buNone/>
            </a:pPr>
            <a:r>
              <a:rPr lang="en-US" sz="1300" b="1" dirty="0">
                <a:solidFill>
                  <a:srgbClr val="1E293B"/>
                </a:solidFill>
              </a:rPr>
              <a:t>Regional Behavior</a:t>
            </a:r>
          </a:p>
        </p:txBody>
      </p:sp>
      <p:sp>
        <p:nvSpPr>
          <p:cNvPr id="23" name="Text 21"/>
          <p:cNvSpPr/>
          <p:nvPr/>
        </p:nvSpPr>
        <p:spPr>
          <a:xfrm>
            <a:off x="4846320" y="1737360"/>
            <a:ext cx="3749040" cy="347472"/>
          </a:xfrm>
          <a:prstGeom prst="rect">
            <a:avLst/>
          </a:prstGeom>
          <a:noFill/>
          <a:ln/>
        </p:spPr>
        <p:txBody>
          <a:bodyPr wrap="square" lIns="0" tIns="0" rIns="0" bIns="0" rtlCol="0" anchor="ctr"/>
          <a:lstStyle/>
          <a:p>
            <a:pPr marL="0" indent="0">
              <a:buNone/>
            </a:pPr>
            <a:r>
              <a:rPr lang="en-US" sz="1000" dirty="0"/>
              <a:t>Look the regional activity by transaction and revenue</a:t>
            </a:r>
          </a:p>
        </p:txBody>
      </p:sp>
      <p:sp>
        <p:nvSpPr>
          <p:cNvPr id="24" name="Shape 22"/>
          <p:cNvSpPr/>
          <p:nvPr/>
        </p:nvSpPr>
        <p:spPr>
          <a:xfrm>
            <a:off x="4709160" y="2286000"/>
            <a:ext cx="4114800" cy="114300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25" name="Shape 23"/>
          <p:cNvSpPr/>
          <p:nvPr/>
        </p:nvSpPr>
        <p:spPr>
          <a:xfrm>
            <a:off x="4709160" y="2286000"/>
            <a:ext cx="54864" cy="1143000"/>
          </a:xfrm>
          <a:prstGeom prst="rect">
            <a:avLst/>
          </a:prstGeom>
          <a:solidFill>
            <a:srgbClr val="0D9488"/>
          </a:solidFill>
          <a:ln/>
        </p:spPr>
      </p:sp>
      <p:sp>
        <p:nvSpPr>
          <p:cNvPr id="26" name="Text 24"/>
          <p:cNvSpPr/>
          <p:nvPr/>
        </p:nvSpPr>
        <p:spPr>
          <a:xfrm>
            <a:off x="4846320" y="2395728"/>
            <a:ext cx="502920" cy="365760"/>
          </a:xfrm>
          <a:prstGeom prst="rect">
            <a:avLst/>
          </a:prstGeom>
          <a:noFill/>
          <a:ln/>
        </p:spPr>
        <p:txBody>
          <a:bodyPr wrap="square" lIns="0" tIns="0" rIns="0" bIns="0" rtlCol="0" anchor="ctr"/>
          <a:lstStyle/>
          <a:p>
            <a:pPr marL="0" indent="0">
              <a:buNone/>
            </a:pPr>
            <a:r>
              <a:rPr lang="en-US" sz="2000" b="1" dirty="0">
                <a:solidFill>
                  <a:srgbClr val="0D9488"/>
                </a:solidFill>
              </a:rPr>
              <a:t>05</a:t>
            </a:r>
            <a:endParaRPr lang="en-US" sz="2000" dirty="0"/>
          </a:p>
        </p:txBody>
      </p:sp>
      <p:sp>
        <p:nvSpPr>
          <p:cNvPr id="27" name="Text 25"/>
          <p:cNvSpPr/>
          <p:nvPr/>
        </p:nvSpPr>
        <p:spPr>
          <a:xfrm>
            <a:off x="4846320" y="2724912"/>
            <a:ext cx="3749040" cy="320040"/>
          </a:xfrm>
          <a:prstGeom prst="rect">
            <a:avLst/>
          </a:prstGeom>
          <a:noFill/>
          <a:ln/>
        </p:spPr>
        <p:txBody>
          <a:bodyPr wrap="square" lIns="0" tIns="0" rIns="0" bIns="0" rtlCol="0" anchor="ctr"/>
          <a:lstStyle/>
          <a:p>
            <a:pPr marL="0" indent="0">
              <a:buNone/>
            </a:pPr>
            <a:r>
              <a:rPr lang="en-US" sz="1300" b="1" dirty="0">
                <a:solidFill>
                  <a:srgbClr val="1E293B"/>
                </a:solidFill>
              </a:rPr>
              <a:t>Payment Method</a:t>
            </a:r>
            <a:endParaRPr lang="en-US" sz="1300" dirty="0"/>
          </a:p>
        </p:txBody>
      </p:sp>
      <p:sp>
        <p:nvSpPr>
          <p:cNvPr id="28" name="Text 26"/>
          <p:cNvSpPr/>
          <p:nvPr/>
        </p:nvSpPr>
        <p:spPr>
          <a:xfrm>
            <a:off x="4846320" y="3017520"/>
            <a:ext cx="3749040" cy="347472"/>
          </a:xfrm>
          <a:prstGeom prst="rect">
            <a:avLst/>
          </a:prstGeom>
          <a:noFill/>
          <a:ln/>
        </p:spPr>
        <p:txBody>
          <a:bodyPr wrap="square" lIns="0" tIns="0" rIns="0" bIns="0" rtlCol="0" anchor="ctr"/>
          <a:lstStyle/>
          <a:p>
            <a:pPr marL="0" indent="0">
              <a:buNone/>
            </a:pPr>
            <a:r>
              <a:rPr lang="en-US" sz="1000" dirty="0">
                <a:solidFill>
                  <a:srgbClr val="64748B"/>
                </a:solidFill>
              </a:rPr>
              <a:t>Identify most recommendation payment method for transactions</a:t>
            </a:r>
            <a:endParaRPr lang="en-US" sz="1000" dirty="0"/>
          </a:p>
        </p:txBody>
      </p:sp>
      <p:sp>
        <p:nvSpPr>
          <p:cNvPr id="29" name="Shape 27"/>
          <p:cNvSpPr/>
          <p:nvPr/>
        </p:nvSpPr>
        <p:spPr>
          <a:xfrm>
            <a:off x="4709160" y="3566160"/>
            <a:ext cx="4114800" cy="114300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30" name="Shape 28"/>
          <p:cNvSpPr/>
          <p:nvPr/>
        </p:nvSpPr>
        <p:spPr>
          <a:xfrm>
            <a:off x="4709160" y="3566160"/>
            <a:ext cx="54864" cy="1143000"/>
          </a:xfrm>
          <a:prstGeom prst="rect">
            <a:avLst/>
          </a:prstGeom>
          <a:solidFill>
            <a:srgbClr val="0D9488"/>
          </a:solidFill>
          <a:ln/>
        </p:spPr>
      </p:sp>
      <p:sp>
        <p:nvSpPr>
          <p:cNvPr id="31" name="Text 29"/>
          <p:cNvSpPr/>
          <p:nvPr/>
        </p:nvSpPr>
        <p:spPr>
          <a:xfrm>
            <a:off x="4846320" y="3675888"/>
            <a:ext cx="502920" cy="365760"/>
          </a:xfrm>
          <a:prstGeom prst="rect">
            <a:avLst/>
          </a:prstGeom>
          <a:noFill/>
          <a:ln/>
        </p:spPr>
        <p:txBody>
          <a:bodyPr wrap="square" lIns="0" tIns="0" rIns="0" bIns="0" rtlCol="0" anchor="ctr"/>
          <a:lstStyle/>
          <a:p>
            <a:pPr marL="0" indent="0">
              <a:buNone/>
            </a:pPr>
            <a:r>
              <a:rPr lang="en-US" sz="2000" b="1" dirty="0">
                <a:solidFill>
                  <a:srgbClr val="0D9488"/>
                </a:solidFill>
              </a:rPr>
              <a:t>06</a:t>
            </a:r>
            <a:endParaRPr lang="en-US" sz="2000" dirty="0"/>
          </a:p>
        </p:txBody>
      </p:sp>
      <p:sp>
        <p:nvSpPr>
          <p:cNvPr id="32" name="Text 30"/>
          <p:cNvSpPr/>
          <p:nvPr/>
        </p:nvSpPr>
        <p:spPr>
          <a:xfrm>
            <a:off x="4846320" y="4005072"/>
            <a:ext cx="3749040" cy="320040"/>
          </a:xfrm>
          <a:prstGeom prst="rect">
            <a:avLst/>
          </a:prstGeom>
          <a:noFill/>
          <a:ln/>
        </p:spPr>
        <p:txBody>
          <a:bodyPr wrap="square" lIns="0" tIns="0" rIns="0" bIns="0" rtlCol="0" anchor="ctr"/>
          <a:lstStyle/>
          <a:p>
            <a:pPr marL="0" indent="0">
              <a:buNone/>
            </a:pPr>
            <a:r>
              <a:rPr lang="en-US" sz="1300" b="1" dirty="0">
                <a:solidFill>
                  <a:srgbClr val="1E293B"/>
                </a:solidFill>
              </a:rPr>
              <a:t>Summary &amp; Recommendations</a:t>
            </a:r>
            <a:endParaRPr lang="en-US" sz="1300" dirty="0"/>
          </a:p>
        </p:txBody>
      </p:sp>
      <p:sp>
        <p:nvSpPr>
          <p:cNvPr id="33" name="Text 31"/>
          <p:cNvSpPr/>
          <p:nvPr/>
        </p:nvSpPr>
        <p:spPr>
          <a:xfrm>
            <a:off x="4846320" y="4297680"/>
            <a:ext cx="3749040" cy="347472"/>
          </a:xfrm>
          <a:prstGeom prst="rect">
            <a:avLst/>
          </a:prstGeom>
          <a:noFill/>
          <a:ln/>
        </p:spPr>
        <p:txBody>
          <a:bodyPr wrap="square" lIns="0" tIns="0" rIns="0" bIns="0" rtlCol="0" anchor="ctr"/>
          <a:lstStyle/>
          <a:p>
            <a:pPr marL="0" indent="0">
              <a:buNone/>
            </a:pPr>
            <a:r>
              <a:rPr lang="en-US" sz="1000" dirty="0"/>
              <a:t>Key find (insight) and Recommendations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044"/>
          </a:solidFill>
          <a:ln/>
        </p:spPr>
        <p:txBody>
          <a:bodyPr/>
          <a:lstStyle/>
          <a:p>
            <a:endParaRPr lang="en-US" dirty="0"/>
          </a:p>
        </p:txBody>
      </p:sp>
      <p:sp>
        <p:nvSpPr>
          <p:cNvPr id="3" name="Text 1"/>
          <p:cNvSpPr/>
          <p:nvPr/>
        </p:nvSpPr>
        <p:spPr>
          <a:xfrm>
            <a:off x="152400" y="132959"/>
            <a:ext cx="8801100" cy="640080"/>
          </a:xfrm>
          <a:prstGeom prst="rect">
            <a:avLst/>
          </a:prstGeom>
          <a:noFill/>
          <a:ln/>
        </p:spPr>
        <p:txBody>
          <a:bodyPr wrap="square" lIns="0" tIns="0" rIns="0" bIns="0" rtlCol="0" anchor="ctr"/>
          <a:lstStyle/>
          <a:p>
            <a:pPr marL="0" indent="0">
              <a:buNone/>
            </a:pPr>
            <a:r>
              <a:rPr lang="en-US" sz="1400" b="1" dirty="0">
                <a:solidFill>
                  <a:srgbClr val="FFFFFF"/>
                </a:solidFill>
              </a:rPr>
              <a:t>01  | Revenue declines sharply in Early 2024, Dropping  -10.7% MoM in April, Signaling a  Weakening  Trend into Q1</a:t>
            </a:r>
            <a:endParaRPr lang="en-US" sz="1400" dirty="0"/>
          </a:p>
        </p:txBody>
      </p:sp>
      <p:graphicFrame>
        <p:nvGraphicFramePr>
          <p:cNvPr id="5" name="Chart 0"/>
          <p:cNvGraphicFramePr/>
          <p:nvPr>
            <p:extLst>
              <p:ext uri="{D42A27DB-BD31-4B8C-83A1-F6EECF244321}">
                <p14:modId xmlns:p14="http://schemas.microsoft.com/office/powerpoint/2010/main" val="3714391392"/>
              </p:ext>
            </p:extLst>
          </p:nvPr>
        </p:nvGraphicFramePr>
        <p:xfrm>
          <a:off x="274320" y="1234440"/>
          <a:ext cx="5303520" cy="2862072"/>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027499" y="1061085"/>
            <a:ext cx="2834640" cy="82296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7" name="Shape 4"/>
          <p:cNvSpPr/>
          <p:nvPr/>
        </p:nvSpPr>
        <p:spPr>
          <a:xfrm>
            <a:off x="6027499" y="1061085"/>
            <a:ext cx="54864" cy="822960"/>
          </a:xfrm>
          <a:prstGeom prst="rect">
            <a:avLst/>
          </a:prstGeom>
          <a:solidFill>
            <a:srgbClr val="0D9488"/>
          </a:solidFill>
          <a:ln/>
        </p:spPr>
      </p:sp>
      <p:sp>
        <p:nvSpPr>
          <p:cNvPr id="8" name="Text 5"/>
          <p:cNvSpPr/>
          <p:nvPr/>
        </p:nvSpPr>
        <p:spPr>
          <a:xfrm>
            <a:off x="6210379" y="1051187"/>
            <a:ext cx="2651760" cy="256032"/>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Latest Revenue</a:t>
            </a:r>
          </a:p>
        </p:txBody>
      </p:sp>
      <p:sp>
        <p:nvSpPr>
          <p:cNvPr id="9" name="Text 6"/>
          <p:cNvSpPr/>
          <p:nvPr/>
        </p:nvSpPr>
        <p:spPr>
          <a:xfrm>
            <a:off x="6210379" y="1279017"/>
            <a:ext cx="2651760" cy="347472"/>
          </a:xfrm>
          <a:prstGeom prst="rect">
            <a:avLst/>
          </a:prstGeom>
          <a:noFill/>
          <a:ln/>
        </p:spPr>
        <p:txBody>
          <a:bodyPr wrap="square" lIns="0" tIns="0" rIns="0" bIns="0" rtlCol="0" anchor="ctr"/>
          <a:lstStyle/>
          <a:p>
            <a:pPr marL="0" indent="0">
              <a:buNone/>
            </a:pPr>
            <a:r>
              <a:rPr lang="en-US" sz="1600" b="1" dirty="0"/>
              <a:t>$ 1.86 M</a:t>
            </a:r>
          </a:p>
        </p:txBody>
      </p:sp>
      <p:sp>
        <p:nvSpPr>
          <p:cNvPr id="10" name="Text 7"/>
          <p:cNvSpPr/>
          <p:nvPr/>
        </p:nvSpPr>
        <p:spPr>
          <a:xfrm>
            <a:off x="6210379" y="1616575"/>
            <a:ext cx="2651760" cy="274320"/>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April 2024</a:t>
            </a:r>
          </a:p>
        </p:txBody>
      </p:sp>
      <p:sp>
        <p:nvSpPr>
          <p:cNvPr id="11" name="Shape 8"/>
          <p:cNvSpPr/>
          <p:nvPr/>
        </p:nvSpPr>
        <p:spPr>
          <a:xfrm>
            <a:off x="6027499" y="2013585"/>
            <a:ext cx="2834640" cy="82296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12" name="Shape 9"/>
          <p:cNvSpPr/>
          <p:nvPr/>
        </p:nvSpPr>
        <p:spPr>
          <a:xfrm>
            <a:off x="6027499" y="2013585"/>
            <a:ext cx="54864" cy="822960"/>
          </a:xfrm>
          <a:prstGeom prst="rect">
            <a:avLst/>
          </a:prstGeom>
          <a:solidFill>
            <a:srgbClr val="F59E0B"/>
          </a:solidFill>
          <a:ln/>
        </p:spPr>
      </p:sp>
      <p:sp>
        <p:nvSpPr>
          <p:cNvPr id="13" name="Text 10"/>
          <p:cNvSpPr/>
          <p:nvPr/>
        </p:nvSpPr>
        <p:spPr>
          <a:xfrm>
            <a:off x="6210379" y="1975485"/>
            <a:ext cx="2651760" cy="256032"/>
          </a:xfrm>
          <a:prstGeom prst="rect">
            <a:avLst/>
          </a:prstGeom>
          <a:noFill/>
          <a:ln/>
        </p:spPr>
        <p:txBody>
          <a:bodyPr wrap="square" lIns="0" tIns="0" rIns="0" bIns="0" rtlCol="0" anchor="ctr"/>
          <a:lstStyle/>
          <a:p>
            <a:pPr marL="0" indent="0">
              <a:buNone/>
            </a:pPr>
            <a:r>
              <a:rPr lang="en-US" sz="1000" dirty="0">
                <a:solidFill>
                  <a:srgbClr val="64748B"/>
                </a:solidFill>
              </a:rPr>
              <a:t>MOM Change</a:t>
            </a:r>
            <a:endParaRPr lang="en-US" sz="1000" dirty="0"/>
          </a:p>
        </p:txBody>
      </p:sp>
      <p:sp>
        <p:nvSpPr>
          <p:cNvPr id="14" name="Text 11"/>
          <p:cNvSpPr/>
          <p:nvPr/>
        </p:nvSpPr>
        <p:spPr>
          <a:xfrm>
            <a:off x="6210379" y="2231517"/>
            <a:ext cx="2651760" cy="347472"/>
          </a:xfrm>
          <a:prstGeom prst="rect">
            <a:avLst/>
          </a:prstGeom>
          <a:noFill/>
          <a:ln/>
        </p:spPr>
        <p:txBody>
          <a:bodyPr wrap="square" lIns="0" tIns="0" rIns="0" bIns="0" rtlCol="0" anchor="ctr"/>
          <a:lstStyle/>
          <a:p>
            <a:pPr marL="0" indent="0">
              <a:buNone/>
            </a:pPr>
            <a:r>
              <a:rPr lang="en-US" sz="1400" dirty="0"/>
              <a:t>-</a:t>
            </a:r>
            <a:r>
              <a:rPr lang="en-US" sz="1600" b="1" dirty="0">
                <a:solidFill>
                  <a:srgbClr val="FF0000"/>
                </a:solidFill>
              </a:rPr>
              <a:t>10.70</a:t>
            </a:r>
            <a:r>
              <a:rPr lang="en-US" sz="1400" b="1" dirty="0">
                <a:solidFill>
                  <a:srgbClr val="FF0000"/>
                </a:solidFill>
              </a:rPr>
              <a:t>%</a:t>
            </a:r>
          </a:p>
        </p:txBody>
      </p:sp>
      <p:sp>
        <p:nvSpPr>
          <p:cNvPr id="15" name="Text 12"/>
          <p:cNvSpPr/>
          <p:nvPr/>
        </p:nvSpPr>
        <p:spPr>
          <a:xfrm>
            <a:off x="6210379" y="2597277"/>
            <a:ext cx="2651760" cy="199644"/>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VS March 2024</a:t>
            </a:r>
          </a:p>
        </p:txBody>
      </p:sp>
      <p:sp>
        <p:nvSpPr>
          <p:cNvPr id="16" name="Shape 13"/>
          <p:cNvSpPr/>
          <p:nvPr/>
        </p:nvSpPr>
        <p:spPr>
          <a:xfrm>
            <a:off x="6027499" y="3971932"/>
            <a:ext cx="2834640" cy="82296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17" name="Shape 14"/>
          <p:cNvSpPr/>
          <p:nvPr/>
        </p:nvSpPr>
        <p:spPr>
          <a:xfrm>
            <a:off x="6027499" y="3971932"/>
            <a:ext cx="54864" cy="822960"/>
          </a:xfrm>
          <a:prstGeom prst="rect">
            <a:avLst/>
          </a:prstGeom>
          <a:solidFill>
            <a:srgbClr val="FF0000"/>
          </a:solidFill>
          <a:ln>
            <a:solidFill>
              <a:srgbClr val="FF0000"/>
            </a:solidFill>
          </a:ln>
        </p:spPr>
      </p:sp>
      <p:sp>
        <p:nvSpPr>
          <p:cNvPr id="18" name="Text 15"/>
          <p:cNvSpPr/>
          <p:nvPr/>
        </p:nvSpPr>
        <p:spPr>
          <a:xfrm>
            <a:off x="6210379" y="3965082"/>
            <a:ext cx="2651760" cy="256032"/>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Avg MOM Growth </a:t>
            </a:r>
          </a:p>
        </p:txBody>
      </p:sp>
      <p:sp>
        <p:nvSpPr>
          <p:cNvPr id="19" name="Text 16"/>
          <p:cNvSpPr/>
          <p:nvPr/>
        </p:nvSpPr>
        <p:spPr>
          <a:xfrm>
            <a:off x="6210379" y="4231012"/>
            <a:ext cx="2651760" cy="256032"/>
          </a:xfrm>
          <a:prstGeom prst="rect">
            <a:avLst/>
          </a:prstGeom>
          <a:noFill/>
          <a:ln/>
        </p:spPr>
        <p:txBody>
          <a:bodyPr wrap="square" lIns="0" tIns="0" rIns="0" bIns="0" rtlCol="0" anchor="ctr"/>
          <a:lstStyle/>
          <a:p>
            <a:pPr marL="0" indent="0">
              <a:buNone/>
            </a:pPr>
            <a:r>
              <a:rPr lang="en-US" sz="1600" b="1" dirty="0">
                <a:solidFill>
                  <a:srgbClr val="FF0000"/>
                </a:solidFill>
              </a:rPr>
              <a:t>-1.08%</a:t>
            </a:r>
            <a:endParaRPr lang="en-US" sz="1400" dirty="0">
              <a:solidFill>
                <a:srgbClr val="FF0000"/>
              </a:solidFill>
            </a:endParaRPr>
          </a:p>
        </p:txBody>
      </p:sp>
      <p:sp>
        <p:nvSpPr>
          <p:cNvPr id="20" name="Text 17"/>
          <p:cNvSpPr/>
          <p:nvPr/>
        </p:nvSpPr>
        <p:spPr>
          <a:xfrm>
            <a:off x="6210379" y="4516380"/>
            <a:ext cx="2651760" cy="274320"/>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11 Months</a:t>
            </a:r>
          </a:p>
        </p:txBody>
      </p:sp>
      <p:graphicFrame>
        <p:nvGraphicFramePr>
          <p:cNvPr id="25" name="Chart 24">
            <a:extLst>
              <a:ext uri="{FF2B5EF4-FFF2-40B4-BE49-F238E27FC236}">
                <a16:creationId xmlns:a16="http://schemas.microsoft.com/office/drawing/2014/main" id="{AD49AC24-807D-4387-97DF-354A340C87E1}"/>
              </a:ext>
            </a:extLst>
          </p:cNvPr>
          <p:cNvGraphicFramePr>
            <a:graphicFrameLocks/>
          </p:cNvGraphicFramePr>
          <p:nvPr>
            <p:extLst>
              <p:ext uri="{D42A27DB-BD31-4B8C-83A1-F6EECF244321}">
                <p14:modId xmlns:p14="http://schemas.microsoft.com/office/powerpoint/2010/main" val="406954470"/>
              </p:ext>
            </p:extLst>
          </p:nvPr>
        </p:nvGraphicFramePr>
        <p:xfrm>
          <a:off x="54863" y="914401"/>
          <a:ext cx="5844619" cy="2635784"/>
        </p:xfrm>
        <a:graphic>
          <a:graphicData uri="http://schemas.openxmlformats.org/drawingml/2006/chart">
            <c:chart xmlns:c="http://schemas.openxmlformats.org/drawingml/2006/chart" xmlns:r="http://schemas.openxmlformats.org/officeDocument/2006/relationships" r:id="rId4"/>
          </a:graphicData>
        </a:graphic>
      </p:graphicFrame>
      <p:sp>
        <p:nvSpPr>
          <p:cNvPr id="30" name="Shape 13">
            <a:extLst>
              <a:ext uri="{FF2B5EF4-FFF2-40B4-BE49-F238E27FC236}">
                <a16:creationId xmlns:a16="http://schemas.microsoft.com/office/drawing/2014/main" id="{BC1B1787-8BCC-4682-9636-39193AC026EA}"/>
              </a:ext>
            </a:extLst>
          </p:cNvPr>
          <p:cNvSpPr/>
          <p:nvPr/>
        </p:nvSpPr>
        <p:spPr>
          <a:xfrm>
            <a:off x="6027499" y="2977907"/>
            <a:ext cx="2834640" cy="82296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31" name="Shape 14">
            <a:extLst>
              <a:ext uri="{FF2B5EF4-FFF2-40B4-BE49-F238E27FC236}">
                <a16:creationId xmlns:a16="http://schemas.microsoft.com/office/drawing/2014/main" id="{3AF093E3-2B64-4F86-A424-97F772A1327F}"/>
              </a:ext>
            </a:extLst>
          </p:cNvPr>
          <p:cNvSpPr/>
          <p:nvPr/>
        </p:nvSpPr>
        <p:spPr>
          <a:xfrm>
            <a:off x="6027499" y="2977907"/>
            <a:ext cx="54864" cy="822960"/>
          </a:xfrm>
          <a:prstGeom prst="rect">
            <a:avLst/>
          </a:prstGeom>
          <a:solidFill>
            <a:srgbClr val="1A3260"/>
          </a:solidFill>
          <a:ln/>
        </p:spPr>
      </p:sp>
      <p:sp>
        <p:nvSpPr>
          <p:cNvPr id="32" name="Text 15">
            <a:extLst>
              <a:ext uri="{FF2B5EF4-FFF2-40B4-BE49-F238E27FC236}">
                <a16:creationId xmlns:a16="http://schemas.microsoft.com/office/drawing/2014/main" id="{6E698594-CB4B-47C0-B22C-2487CFD2D3AB}"/>
              </a:ext>
            </a:extLst>
          </p:cNvPr>
          <p:cNvSpPr/>
          <p:nvPr/>
        </p:nvSpPr>
        <p:spPr>
          <a:xfrm>
            <a:off x="6210379" y="2980955"/>
            <a:ext cx="2651760" cy="256032"/>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Peak Month</a:t>
            </a:r>
          </a:p>
        </p:txBody>
      </p:sp>
      <p:sp>
        <p:nvSpPr>
          <p:cNvPr id="33" name="Text 16">
            <a:extLst>
              <a:ext uri="{FF2B5EF4-FFF2-40B4-BE49-F238E27FC236}">
                <a16:creationId xmlns:a16="http://schemas.microsoft.com/office/drawing/2014/main" id="{0A929A8D-0570-44CF-9B46-FC3D77D329BD}"/>
              </a:ext>
            </a:extLst>
          </p:cNvPr>
          <p:cNvSpPr/>
          <p:nvPr/>
        </p:nvSpPr>
        <p:spPr>
          <a:xfrm>
            <a:off x="6210379" y="3236987"/>
            <a:ext cx="2651760" cy="256032"/>
          </a:xfrm>
          <a:prstGeom prst="rect">
            <a:avLst/>
          </a:prstGeom>
          <a:noFill/>
          <a:ln/>
        </p:spPr>
        <p:txBody>
          <a:bodyPr wrap="square" lIns="0" tIns="0" rIns="0" bIns="0" rtlCol="0" anchor="ctr"/>
          <a:lstStyle/>
          <a:p>
            <a:pPr marL="0" indent="0">
              <a:buNone/>
            </a:pPr>
            <a:r>
              <a:rPr lang="en-US" sz="1400" b="1" dirty="0">
                <a:solidFill>
                  <a:schemeClr val="accent6"/>
                </a:solidFill>
              </a:rPr>
              <a:t>$ </a:t>
            </a:r>
            <a:r>
              <a:rPr lang="en-US" sz="1600" b="1" dirty="0">
                <a:solidFill>
                  <a:schemeClr val="accent6"/>
                </a:solidFill>
              </a:rPr>
              <a:t>2.10</a:t>
            </a:r>
            <a:r>
              <a:rPr lang="en-US" sz="1400" b="1" dirty="0">
                <a:solidFill>
                  <a:schemeClr val="accent6"/>
                </a:solidFill>
              </a:rPr>
              <a:t> M</a:t>
            </a:r>
          </a:p>
        </p:txBody>
      </p:sp>
      <p:sp>
        <p:nvSpPr>
          <p:cNvPr id="34" name="Text 17">
            <a:extLst>
              <a:ext uri="{FF2B5EF4-FFF2-40B4-BE49-F238E27FC236}">
                <a16:creationId xmlns:a16="http://schemas.microsoft.com/office/drawing/2014/main" id="{73452B4E-66BE-42F0-870D-9B14D7E9E0FD}"/>
              </a:ext>
            </a:extLst>
          </p:cNvPr>
          <p:cNvSpPr/>
          <p:nvPr/>
        </p:nvSpPr>
        <p:spPr>
          <a:xfrm>
            <a:off x="6210379" y="3533397"/>
            <a:ext cx="2651760" cy="274320"/>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January 2024</a:t>
            </a:r>
          </a:p>
        </p:txBody>
      </p:sp>
      <p:sp>
        <p:nvSpPr>
          <p:cNvPr id="35" name="Shape 3">
            <a:extLst>
              <a:ext uri="{FF2B5EF4-FFF2-40B4-BE49-F238E27FC236}">
                <a16:creationId xmlns:a16="http://schemas.microsoft.com/office/drawing/2014/main" id="{910C3358-1D7A-4BDE-9D38-215781253665}"/>
              </a:ext>
            </a:extLst>
          </p:cNvPr>
          <p:cNvSpPr/>
          <p:nvPr/>
        </p:nvSpPr>
        <p:spPr>
          <a:xfrm>
            <a:off x="78104" y="3641626"/>
            <a:ext cx="5821378" cy="1410433"/>
          </a:xfrm>
          <a:prstGeom prst="rect">
            <a:avLst/>
          </a:prstGeom>
          <a:solidFill>
            <a:srgbClr val="FFFFFF"/>
          </a:solidFill>
          <a:ln w="6350">
            <a:solidFill>
              <a:srgbClr val="E2E8F0"/>
            </a:solidFill>
            <a:prstDash val="solid"/>
          </a:ln>
          <a:effectLst>
            <a:outerShdw blurRad="50800" dist="38100" dir="2700000" algn="tl" rotWithShape="0">
              <a:prstClr val="black">
                <a:alpha val="40000"/>
              </a:prstClr>
            </a:outerShdw>
          </a:effectLst>
        </p:spPr>
        <p:txBody>
          <a:bodyPr/>
          <a:lstStyle/>
          <a:p>
            <a:endParaRPr lang="en-US" dirty="0"/>
          </a:p>
        </p:txBody>
      </p:sp>
      <p:sp>
        <p:nvSpPr>
          <p:cNvPr id="37" name="Text 5">
            <a:extLst>
              <a:ext uri="{FF2B5EF4-FFF2-40B4-BE49-F238E27FC236}">
                <a16:creationId xmlns:a16="http://schemas.microsoft.com/office/drawing/2014/main" id="{027D02F0-14CF-40D2-A823-DE755DC81BCF}"/>
              </a:ext>
            </a:extLst>
          </p:cNvPr>
          <p:cNvSpPr/>
          <p:nvPr/>
        </p:nvSpPr>
        <p:spPr>
          <a:xfrm>
            <a:off x="152400" y="3653028"/>
            <a:ext cx="2651760" cy="256032"/>
          </a:xfrm>
          <a:prstGeom prst="rect">
            <a:avLst/>
          </a:prstGeom>
          <a:noFill/>
          <a:ln/>
        </p:spPr>
        <p:txBody>
          <a:bodyPr wrap="square" lIns="0" tIns="0" rIns="0" bIns="0" rtlCol="0" anchor="ctr"/>
          <a:lstStyle/>
          <a:p>
            <a:pPr marL="0" indent="0">
              <a:buNone/>
            </a:pPr>
            <a:r>
              <a:rPr lang="en-US" sz="1000" dirty="0"/>
              <a:t>Quick Insight</a:t>
            </a:r>
          </a:p>
        </p:txBody>
      </p:sp>
      <p:sp>
        <p:nvSpPr>
          <p:cNvPr id="38" name="Text 5">
            <a:extLst>
              <a:ext uri="{FF2B5EF4-FFF2-40B4-BE49-F238E27FC236}">
                <a16:creationId xmlns:a16="http://schemas.microsoft.com/office/drawing/2014/main" id="{61107D64-DA79-4E03-A89A-EF3F84B6A55F}"/>
              </a:ext>
            </a:extLst>
          </p:cNvPr>
          <p:cNvSpPr/>
          <p:nvPr/>
        </p:nvSpPr>
        <p:spPr>
          <a:xfrm>
            <a:off x="146304" y="3921245"/>
            <a:ext cx="5303520" cy="875565"/>
          </a:xfrm>
          <a:prstGeom prst="rect">
            <a:avLst/>
          </a:prstGeom>
          <a:noFill/>
          <a:ln/>
        </p:spPr>
        <p:txBody>
          <a:bodyPr wrap="square" lIns="0" tIns="0" rIns="0" bIns="0" rtlCol="0" anchor="ctr"/>
          <a:lstStyle/>
          <a:p>
            <a:pPr marL="0" indent="0" algn="just">
              <a:buNone/>
            </a:pPr>
            <a:r>
              <a:rPr lang="en-US" sz="1200" dirty="0">
                <a:latin typeface="Unesa" pitchFamily="50" charset="0"/>
              </a:rPr>
              <a:t>Revenue remain stable around $2.0M – $2.1M for 8 months (May 2023 – Jan 2024), before sharply  declining in Feb 2024 at -7.2%  and -10.7% MoM </a:t>
            </a:r>
            <a:r>
              <a:rPr lang="en-US" sz="1200" dirty="0" err="1">
                <a:latin typeface="Unesa" pitchFamily="50" charset="0"/>
              </a:rPr>
              <a:t>perspectively</a:t>
            </a:r>
            <a:r>
              <a:rPr lang="en-US" sz="1200" dirty="0">
                <a:latin typeface="Unesa" pitchFamily="50" charset="0"/>
              </a:rPr>
              <a:t>. This </a:t>
            </a:r>
            <a:r>
              <a:rPr lang="en-US" sz="1200" dirty="0" err="1">
                <a:latin typeface="Unesa" pitchFamily="50" charset="0"/>
              </a:rPr>
              <a:t>suddent</a:t>
            </a:r>
            <a:r>
              <a:rPr lang="en-US" sz="1200" dirty="0">
                <a:latin typeface="Unesa" pitchFamily="50" charset="0"/>
              </a:rPr>
              <a:t> reversal warrants a deeper evaluation on product performance, regional contribution, and payment behavior to identify the root cause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044"/>
          </a:solidFill>
          <a:ln/>
        </p:spPr>
        <p:txBody>
          <a:bodyPr/>
          <a:lstStyle/>
          <a:p>
            <a:endParaRPr lang="en-US" dirty="0"/>
          </a:p>
        </p:txBody>
      </p:sp>
      <p:sp>
        <p:nvSpPr>
          <p:cNvPr id="3" name="Text 1"/>
          <p:cNvSpPr/>
          <p:nvPr/>
        </p:nvSpPr>
        <p:spPr>
          <a:xfrm>
            <a:off x="152400" y="132959"/>
            <a:ext cx="8801100" cy="640080"/>
          </a:xfrm>
          <a:prstGeom prst="rect">
            <a:avLst/>
          </a:prstGeom>
          <a:noFill/>
          <a:ln/>
        </p:spPr>
        <p:txBody>
          <a:bodyPr wrap="square" lIns="0" tIns="0" rIns="0" bIns="0" rtlCol="0" anchor="ctr"/>
          <a:lstStyle/>
          <a:p>
            <a:r>
              <a:rPr lang="en-US" sz="1400" b="1" dirty="0">
                <a:solidFill>
                  <a:srgbClr val="FFFFFF"/>
                </a:solidFill>
              </a:rPr>
              <a:t>02 |All 4 Products Categories perform closely, With only $73K (1.2%) gap between Books and Home Decor</a:t>
            </a:r>
            <a:endParaRPr lang="en-US" sz="1400" dirty="0"/>
          </a:p>
        </p:txBody>
      </p:sp>
      <p:graphicFrame>
        <p:nvGraphicFramePr>
          <p:cNvPr id="5" name="Chart 0"/>
          <p:cNvGraphicFramePr/>
          <p:nvPr/>
        </p:nvGraphicFramePr>
        <p:xfrm>
          <a:off x="274320" y="1234440"/>
          <a:ext cx="5303520" cy="2862072"/>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806440" y="1061085"/>
            <a:ext cx="3017520" cy="82296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7" name="Shape 4"/>
          <p:cNvSpPr/>
          <p:nvPr/>
        </p:nvSpPr>
        <p:spPr>
          <a:xfrm>
            <a:off x="5806440" y="1061085"/>
            <a:ext cx="54864" cy="822960"/>
          </a:xfrm>
          <a:prstGeom prst="rect">
            <a:avLst/>
          </a:prstGeom>
          <a:solidFill>
            <a:srgbClr val="0D9488"/>
          </a:solidFill>
          <a:ln/>
        </p:spPr>
      </p:sp>
      <p:sp>
        <p:nvSpPr>
          <p:cNvPr id="8" name="Text 5"/>
          <p:cNvSpPr/>
          <p:nvPr/>
        </p:nvSpPr>
        <p:spPr>
          <a:xfrm>
            <a:off x="5989320" y="1051187"/>
            <a:ext cx="2651760" cy="256032"/>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Top Products</a:t>
            </a:r>
          </a:p>
        </p:txBody>
      </p:sp>
      <p:sp>
        <p:nvSpPr>
          <p:cNvPr id="9" name="Text 6"/>
          <p:cNvSpPr/>
          <p:nvPr/>
        </p:nvSpPr>
        <p:spPr>
          <a:xfrm>
            <a:off x="5989320" y="1279017"/>
            <a:ext cx="2651760" cy="347472"/>
          </a:xfrm>
          <a:prstGeom prst="rect">
            <a:avLst/>
          </a:prstGeom>
          <a:noFill/>
          <a:ln/>
        </p:spPr>
        <p:txBody>
          <a:bodyPr wrap="square" lIns="0" tIns="0" rIns="0" bIns="0" rtlCol="0" anchor="ctr"/>
          <a:lstStyle/>
          <a:p>
            <a:pPr marL="0" indent="0">
              <a:buNone/>
            </a:pPr>
            <a:r>
              <a:rPr lang="en-US" sz="1600" b="1" dirty="0"/>
              <a:t>$ 6.16 M</a:t>
            </a:r>
          </a:p>
        </p:txBody>
      </p:sp>
      <p:sp>
        <p:nvSpPr>
          <p:cNvPr id="10" name="Text 7"/>
          <p:cNvSpPr/>
          <p:nvPr/>
        </p:nvSpPr>
        <p:spPr>
          <a:xfrm>
            <a:off x="5989320" y="1616575"/>
            <a:ext cx="2651760" cy="274320"/>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Books Products</a:t>
            </a:r>
          </a:p>
        </p:txBody>
      </p:sp>
      <p:sp>
        <p:nvSpPr>
          <p:cNvPr id="11" name="Shape 8"/>
          <p:cNvSpPr/>
          <p:nvPr/>
        </p:nvSpPr>
        <p:spPr>
          <a:xfrm>
            <a:off x="5806440" y="2013585"/>
            <a:ext cx="3017520" cy="82296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12" name="Shape 9"/>
          <p:cNvSpPr/>
          <p:nvPr/>
        </p:nvSpPr>
        <p:spPr>
          <a:xfrm>
            <a:off x="5806440" y="2013585"/>
            <a:ext cx="54864" cy="822960"/>
          </a:xfrm>
          <a:prstGeom prst="rect">
            <a:avLst/>
          </a:prstGeom>
          <a:solidFill>
            <a:srgbClr val="F59E0B"/>
          </a:solidFill>
          <a:ln/>
        </p:spPr>
      </p:sp>
      <p:sp>
        <p:nvSpPr>
          <p:cNvPr id="13" name="Text 10"/>
          <p:cNvSpPr/>
          <p:nvPr/>
        </p:nvSpPr>
        <p:spPr>
          <a:xfrm>
            <a:off x="5989320" y="1975485"/>
            <a:ext cx="2651760" cy="256032"/>
          </a:xfrm>
          <a:prstGeom prst="rect">
            <a:avLst/>
          </a:prstGeom>
          <a:noFill/>
          <a:ln/>
        </p:spPr>
        <p:txBody>
          <a:bodyPr wrap="square" lIns="0" tIns="0" rIns="0" bIns="0" rtlCol="0" anchor="ctr"/>
          <a:lstStyle/>
          <a:p>
            <a:pPr marL="0" indent="0">
              <a:buNone/>
            </a:pPr>
            <a:r>
              <a:rPr lang="en-US" sz="1000" dirty="0">
                <a:solidFill>
                  <a:srgbClr val="64748B"/>
                </a:solidFill>
              </a:rPr>
              <a:t>Bottom Products </a:t>
            </a:r>
            <a:endParaRPr lang="en-US" sz="1000" dirty="0"/>
          </a:p>
        </p:txBody>
      </p:sp>
      <p:sp>
        <p:nvSpPr>
          <p:cNvPr id="14" name="Text 11"/>
          <p:cNvSpPr/>
          <p:nvPr/>
        </p:nvSpPr>
        <p:spPr>
          <a:xfrm>
            <a:off x="5989320" y="2231517"/>
            <a:ext cx="2651760" cy="347472"/>
          </a:xfrm>
          <a:prstGeom prst="rect">
            <a:avLst/>
          </a:prstGeom>
          <a:noFill/>
          <a:ln/>
        </p:spPr>
        <p:txBody>
          <a:bodyPr wrap="square" lIns="0" tIns="0" rIns="0" bIns="0" rtlCol="0" anchor="ctr"/>
          <a:lstStyle/>
          <a:p>
            <a:pPr marL="0" indent="0">
              <a:buNone/>
            </a:pPr>
            <a:r>
              <a:rPr lang="en-US" sz="1600" b="1" dirty="0">
                <a:solidFill>
                  <a:srgbClr val="FF0000"/>
                </a:solidFill>
              </a:rPr>
              <a:t>$ 6.08 M</a:t>
            </a:r>
            <a:endParaRPr lang="en-US" sz="1400" b="1" dirty="0">
              <a:solidFill>
                <a:srgbClr val="FF0000"/>
              </a:solidFill>
            </a:endParaRPr>
          </a:p>
        </p:txBody>
      </p:sp>
      <p:sp>
        <p:nvSpPr>
          <p:cNvPr id="15" name="Text 12"/>
          <p:cNvSpPr/>
          <p:nvPr/>
        </p:nvSpPr>
        <p:spPr>
          <a:xfrm>
            <a:off x="5989320" y="2597277"/>
            <a:ext cx="2651760" cy="199644"/>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Home Décor Product</a:t>
            </a:r>
          </a:p>
        </p:txBody>
      </p:sp>
      <p:sp>
        <p:nvSpPr>
          <p:cNvPr id="16" name="Shape 13"/>
          <p:cNvSpPr/>
          <p:nvPr/>
        </p:nvSpPr>
        <p:spPr>
          <a:xfrm>
            <a:off x="5806440" y="3971932"/>
            <a:ext cx="3017520" cy="82296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17" name="Shape 14"/>
          <p:cNvSpPr/>
          <p:nvPr/>
        </p:nvSpPr>
        <p:spPr>
          <a:xfrm>
            <a:off x="5806440" y="3971932"/>
            <a:ext cx="54864" cy="822960"/>
          </a:xfrm>
          <a:prstGeom prst="rect">
            <a:avLst/>
          </a:prstGeom>
          <a:solidFill>
            <a:srgbClr val="FF0000"/>
          </a:solidFill>
          <a:ln>
            <a:solidFill>
              <a:srgbClr val="FF0000"/>
            </a:solidFill>
          </a:ln>
        </p:spPr>
      </p:sp>
      <p:sp>
        <p:nvSpPr>
          <p:cNvPr id="18" name="Text 15"/>
          <p:cNvSpPr/>
          <p:nvPr/>
        </p:nvSpPr>
        <p:spPr>
          <a:xfrm>
            <a:off x="5989320" y="3965082"/>
            <a:ext cx="2651760" cy="256032"/>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Revenue Gap</a:t>
            </a:r>
          </a:p>
        </p:txBody>
      </p:sp>
      <p:sp>
        <p:nvSpPr>
          <p:cNvPr id="19" name="Text 16"/>
          <p:cNvSpPr/>
          <p:nvPr/>
        </p:nvSpPr>
        <p:spPr>
          <a:xfrm>
            <a:off x="5989320" y="4231012"/>
            <a:ext cx="2651760" cy="256032"/>
          </a:xfrm>
          <a:prstGeom prst="rect">
            <a:avLst/>
          </a:prstGeom>
          <a:noFill/>
          <a:ln/>
        </p:spPr>
        <p:txBody>
          <a:bodyPr wrap="square" lIns="0" tIns="0" rIns="0" bIns="0" rtlCol="0" anchor="ctr"/>
          <a:lstStyle/>
          <a:p>
            <a:pPr marL="0" indent="0">
              <a:buNone/>
            </a:pPr>
            <a:r>
              <a:rPr lang="en-US" sz="1600" b="1" dirty="0"/>
              <a:t>$ 73k (1.2%)</a:t>
            </a:r>
            <a:endParaRPr lang="en-US" sz="1400" dirty="0"/>
          </a:p>
        </p:txBody>
      </p:sp>
      <p:sp>
        <p:nvSpPr>
          <p:cNvPr id="20" name="Text 17"/>
          <p:cNvSpPr/>
          <p:nvPr/>
        </p:nvSpPr>
        <p:spPr>
          <a:xfrm>
            <a:off x="5989320" y="4516380"/>
            <a:ext cx="2651760" cy="274320"/>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11 Months</a:t>
            </a:r>
          </a:p>
        </p:txBody>
      </p:sp>
      <p:sp>
        <p:nvSpPr>
          <p:cNvPr id="30" name="Shape 13">
            <a:extLst>
              <a:ext uri="{FF2B5EF4-FFF2-40B4-BE49-F238E27FC236}">
                <a16:creationId xmlns:a16="http://schemas.microsoft.com/office/drawing/2014/main" id="{BC1B1787-8BCC-4682-9636-39193AC026EA}"/>
              </a:ext>
            </a:extLst>
          </p:cNvPr>
          <p:cNvSpPr/>
          <p:nvPr/>
        </p:nvSpPr>
        <p:spPr>
          <a:xfrm>
            <a:off x="5806440" y="2977907"/>
            <a:ext cx="3017520" cy="82296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31" name="Shape 14">
            <a:extLst>
              <a:ext uri="{FF2B5EF4-FFF2-40B4-BE49-F238E27FC236}">
                <a16:creationId xmlns:a16="http://schemas.microsoft.com/office/drawing/2014/main" id="{3AF093E3-2B64-4F86-A424-97F772A1327F}"/>
              </a:ext>
            </a:extLst>
          </p:cNvPr>
          <p:cNvSpPr/>
          <p:nvPr/>
        </p:nvSpPr>
        <p:spPr>
          <a:xfrm>
            <a:off x="5806440" y="2977907"/>
            <a:ext cx="54864" cy="822960"/>
          </a:xfrm>
          <a:prstGeom prst="rect">
            <a:avLst/>
          </a:prstGeom>
          <a:solidFill>
            <a:srgbClr val="1A3260"/>
          </a:solidFill>
          <a:ln/>
        </p:spPr>
      </p:sp>
      <p:sp>
        <p:nvSpPr>
          <p:cNvPr id="32" name="Text 15">
            <a:extLst>
              <a:ext uri="{FF2B5EF4-FFF2-40B4-BE49-F238E27FC236}">
                <a16:creationId xmlns:a16="http://schemas.microsoft.com/office/drawing/2014/main" id="{6E698594-CB4B-47C0-B22C-2487CFD2D3AB}"/>
              </a:ext>
            </a:extLst>
          </p:cNvPr>
          <p:cNvSpPr/>
          <p:nvPr/>
        </p:nvSpPr>
        <p:spPr>
          <a:xfrm>
            <a:off x="5989320" y="2980955"/>
            <a:ext cx="2651760" cy="256032"/>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Total Revenue</a:t>
            </a:r>
          </a:p>
        </p:txBody>
      </p:sp>
      <p:sp>
        <p:nvSpPr>
          <p:cNvPr id="33" name="Text 16">
            <a:extLst>
              <a:ext uri="{FF2B5EF4-FFF2-40B4-BE49-F238E27FC236}">
                <a16:creationId xmlns:a16="http://schemas.microsoft.com/office/drawing/2014/main" id="{0A929A8D-0570-44CF-9B46-FC3D77D329BD}"/>
              </a:ext>
            </a:extLst>
          </p:cNvPr>
          <p:cNvSpPr/>
          <p:nvPr/>
        </p:nvSpPr>
        <p:spPr>
          <a:xfrm>
            <a:off x="5989320" y="3236987"/>
            <a:ext cx="2651760" cy="256032"/>
          </a:xfrm>
          <a:prstGeom prst="rect">
            <a:avLst/>
          </a:prstGeom>
          <a:noFill/>
          <a:ln/>
        </p:spPr>
        <p:txBody>
          <a:bodyPr wrap="square" lIns="0" tIns="0" rIns="0" bIns="0" rtlCol="0" anchor="ctr"/>
          <a:lstStyle/>
          <a:p>
            <a:pPr marL="0" indent="0">
              <a:buNone/>
            </a:pPr>
            <a:r>
              <a:rPr lang="en-US" sz="1600" b="1" dirty="0">
                <a:solidFill>
                  <a:schemeClr val="accent6"/>
                </a:solidFill>
              </a:rPr>
              <a:t>$ 24.4 M</a:t>
            </a:r>
          </a:p>
        </p:txBody>
      </p:sp>
      <p:sp>
        <p:nvSpPr>
          <p:cNvPr id="34" name="Text 17">
            <a:extLst>
              <a:ext uri="{FF2B5EF4-FFF2-40B4-BE49-F238E27FC236}">
                <a16:creationId xmlns:a16="http://schemas.microsoft.com/office/drawing/2014/main" id="{73452B4E-66BE-42F0-870D-9B14D7E9E0FD}"/>
              </a:ext>
            </a:extLst>
          </p:cNvPr>
          <p:cNvSpPr/>
          <p:nvPr/>
        </p:nvSpPr>
        <p:spPr>
          <a:xfrm>
            <a:off x="5989320" y="3533397"/>
            <a:ext cx="2651760" cy="274320"/>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All Categories</a:t>
            </a:r>
          </a:p>
        </p:txBody>
      </p:sp>
      <p:sp>
        <p:nvSpPr>
          <p:cNvPr id="35" name="Shape 3">
            <a:extLst>
              <a:ext uri="{FF2B5EF4-FFF2-40B4-BE49-F238E27FC236}">
                <a16:creationId xmlns:a16="http://schemas.microsoft.com/office/drawing/2014/main" id="{910C3358-1D7A-4BDE-9D38-215781253665}"/>
              </a:ext>
            </a:extLst>
          </p:cNvPr>
          <p:cNvSpPr/>
          <p:nvPr/>
        </p:nvSpPr>
        <p:spPr>
          <a:xfrm>
            <a:off x="78104" y="3641626"/>
            <a:ext cx="5531740" cy="1410433"/>
          </a:xfrm>
          <a:prstGeom prst="rect">
            <a:avLst/>
          </a:prstGeom>
          <a:solidFill>
            <a:srgbClr val="FFFFFF"/>
          </a:solidFill>
          <a:ln w="6350">
            <a:solidFill>
              <a:srgbClr val="E2E8F0"/>
            </a:solidFill>
            <a:prstDash val="solid"/>
          </a:ln>
          <a:effectLst>
            <a:outerShdw blurRad="50800" dist="38100" dir="2700000" algn="tl" rotWithShape="0">
              <a:prstClr val="black">
                <a:alpha val="40000"/>
              </a:prstClr>
            </a:outerShdw>
          </a:effectLst>
        </p:spPr>
        <p:txBody>
          <a:bodyPr/>
          <a:lstStyle/>
          <a:p>
            <a:endParaRPr lang="en-US" dirty="0">
              <a:latin typeface="Unesa" pitchFamily="50" charset="0"/>
            </a:endParaRPr>
          </a:p>
        </p:txBody>
      </p:sp>
      <p:sp>
        <p:nvSpPr>
          <p:cNvPr id="37" name="Text 5">
            <a:extLst>
              <a:ext uri="{FF2B5EF4-FFF2-40B4-BE49-F238E27FC236}">
                <a16:creationId xmlns:a16="http://schemas.microsoft.com/office/drawing/2014/main" id="{027D02F0-14CF-40D2-A823-DE755DC81BCF}"/>
              </a:ext>
            </a:extLst>
          </p:cNvPr>
          <p:cNvSpPr/>
          <p:nvPr/>
        </p:nvSpPr>
        <p:spPr>
          <a:xfrm>
            <a:off x="152400" y="3653028"/>
            <a:ext cx="2651760" cy="256032"/>
          </a:xfrm>
          <a:prstGeom prst="rect">
            <a:avLst/>
          </a:prstGeom>
          <a:noFill/>
          <a:ln/>
        </p:spPr>
        <p:txBody>
          <a:bodyPr wrap="square" lIns="0" tIns="0" rIns="0" bIns="0" rtlCol="0" anchor="ctr"/>
          <a:lstStyle/>
          <a:p>
            <a:pPr marL="0" indent="0">
              <a:buNone/>
            </a:pPr>
            <a:r>
              <a:rPr lang="en-US" sz="1000" dirty="0"/>
              <a:t>Quick Insight</a:t>
            </a:r>
          </a:p>
        </p:txBody>
      </p:sp>
      <p:sp>
        <p:nvSpPr>
          <p:cNvPr id="38" name="Text 5">
            <a:extLst>
              <a:ext uri="{FF2B5EF4-FFF2-40B4-BE49-F238E27FC236}">
                <a16:creationId xmlns:a16="http://schemas.microsoft.com/office/drawing/2014/main" id="{61107D64-DA79-4E03-A89A-EF3F84B6A55F}"/>
              </a:ext>
            </a:extLst>
          </p:cNvPr>
          <p:cNvSpPr/>
          <p:nvPr/>
        </p:nvSpPr>
        <p:spPr>
          <a:xfrm>
            <a:off x="146304" y="3921245"/>
            <a:ext cx="5303520" cy="971205"/>
          </a:xfrm>
          <a:prstGeom prst="rect">
            <a:avLst/>
          </a:prstGeom>
          <a:noFill/>
          <a:ln/>
        </p:spPr>
        <p:txBody>
          <a:bodyPr wrap="square" lIns="0" tIns="0" rIns="0" bIns="0" rtlCol="0" anchor="ctr"/>
          <a:lstStyle/>
          <a:p>
            <a:pPr marL="0" indent="0" algn="just">
              <a:buNone/>
            </a:pPr>
            <a:r>
              <a:rPr lang="en-US" sz="1200" dirty="0">
                <a:latin typeface="Unesa" pitchFamily="50" charset="0"/>
              </a:rPr>
              <a:t>Net revenue relatively balanced across all product categories , with only 1,2% gap between the highest-performing (books, $6.16M) and lowest-performing (Home Décor,$6.08M) categories.</a:t>
            </a:r>
          </a:p>
          <a:p>
            <a:pPr marL="0" indent="0" algn="just">
              <a:buNone/>
            </a:pPr>
            <a:r>
              <a:rPr lang="en-US" sz="1200" dirty="0">
                <a:latin typeface="Unesa" pitchFamily="50" charset="0"/>
              </a:rPr>
              <a:t>This Suggest no single product is driving or dragging overall revenue, making it harder to pinpoint the root cause  of the Feb-April decline.</a:t>
            </a:r>
          </a:p>
        </p:txBody>
      </p:sp>
      <p:graphicFrame>
        <p:nvGraphicFramePr>
          <p:cNvPr id="29" name="Chart 28">
            <a:extLst>
              <a:ext uri="{FF2B5EF4-FFF2-40B4-BE49-F238E27FC236}">
                <a16:creationId xmlns:a16="http://schemas.microsoft.com/office/drawing/2014/main" id="{549463C0-16BA-4E67-8950-CB0578E5778A}"/>
              </a:ext>
            </a:extLst>
          </p:cNvPr>
          <p:cNvGraphicFramePr>
            <a:graphicFrameLocks/>
          </p:cNvGraphicFramePr>
          <p:nvPr>
            <p:extLst>
              <p:ext uri="{D42A27DB-BD31-4B8C-83A1-F6EECF244321}">
                <p14:modId xmlns:p14="http://schemas.microsoft.com/office/powerpoint/2010/main" val="2187644188"/>
              </p:ext>
            </p:extLst>
          </p:nvPr>
        </p:nvGraphicFramePr>
        <p:xfrm>
          <a:off x="105815" y="914400"/>
          <a:ext cx="5472025" cy="2618509"/>
        </p:xfrm>
        <a:graphic>
          <a:graphicData uri="http://schemas.openxmlformats.org/drawingml/2006/chart">
            <c:chart xmlns:c="http://schemas.openxmlformats.org/drawingml/2006/chart" xmlns:r="http://schemas.openxmlformats.org/officeDocument/2006/relationships" r:id="rId4"/>
          </a:graphicData>
        </a:graphic>
      </p:graphicFrame>
      <p:sp>
        <p:nvSpPr>
          <p:cNvPr id="36" name="TextBox 35">
            <a:extLst>
              <a:ext uri="{FF2B5EF4-FFF2-40B4-BE49-F238E27FC236}">
                <a16:creationId xmlns:a16="http://schemas.microsoft.com/office/drawing/2014/main" id="{CA1B0E3E-59A4-4E3B-BBEE-2247EB89CD10}"/>
              </a:ext>
            </a:extLst>
          </p:cNvPr>
          <p:cNvSpPr txBox="1"/>
          <p:nvPr/>
        </p:nvSpPr>
        <p:spPr>
          <a:xfrm>
            <a:off x="4015871" y="2223654"/>
            <a:ext cx="1413856" cy="261610"/>
          </a:xfrm>
          <a:prstGeom prst="rect">
            <a:avLst/>
          </a:prstGeom>
          <a:noFill/>
        </p:spPr>
        <p:txBody>
          <a:bodyPr wrap="square" rtlCol="0">
            <a:spAutoFit/>
          </a:bodyPr>
          <a:lstStyle/>
          <a:p>
            <a:pPr algn="ctr"/>
            <a:r>
              <a:rPr lang="en-US" sz="1100" dirty="0">
                <a:solidFill>
                  <a:schemeClr val="bg1"/>
                </a:solidFill>
                <a:highlight>
                  <a:srgbClr val="FF0000"/>
                </a:highlight>
              </a:rPr>
              <a:t>$73K (1.2% Gap)</a:t>
            </a:r>
          </a:p>
        </p:txBody>
      </p:sp>
    </p:spTree>
    <p:extLst>
      <p:ext uri="{BB962C8B-B14F-4D97-AF65-F5344CB8AC3E}">
        <p14:creationId xmlns:p14="http://schemas.microsoft.com/office/powerpoint/2010/main" val="124425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044"/>
          </a:solidFill>
          <a:ln/>
        </p:spPr>
        <p:txBody>
          <a:bodyPr/>
          <a:lstStyle/>
          <a:p>
            <a:endParaRPr lang="en-US" dirty="0"/>
          </a:p>
        </p:txBody>
      </p:sp>
      <p:sp>
        <p:nvSpPr>
          <p:cNvPr id="3" name="Text 1"/>
          <p:cNvSpPr/>
          <p:nvPr/>
        </p:nvSpPr>
        <p:spPr>
          <a:xfrm>
            <a:off x="152400" y="132959"/>
            <a:ext cx="8801100" cy="640080"/>
          </a:xfrm>
          <a:prstGeom prst="rect">
            <a:avLst/>
          </a:prstGeom>
          <a:noFill/>
          <a:ln/>
        </p:spPr>
        <p:txBody>
          <a:bodyPr wrap="square" lIns="0" tIns="0" rIns="0" bIns="0" rtlCol="0" anchor="ctr"/>
          <a:lstStyle/>
          <a:p>
            <a:r>
              <a:rPr lang="en-US" sz="1400" b="1" dirty="0">
                <a:solidFill>
                  <a:srgbClr val="FFFFFF"/>
                </a:solidFill>
              </a:rPr>
              <a:t>02.a |Unit Sales mirror product revenue pattern </a:t>
            </a:r>
            <a:r>
              <a:rPr lang="en-US" sz="1400" b="1" i="0" dirty="0">
                <a:solidFill>
                  <a:srgbClr val="E7E9EA"/>
                </a:solidFill>
                <a:effectLst/>
              </a:rPr>
              <a:t>— Only 1,491 Units (1,22%) gap across all 4 categories</a:t>
            </a:r>
            <a:r>
              <a:rPr lang="en-US" sz="1400" b="0" i="0" dirty="0">
                <a:solidFill>
                  <a:srgbClr val="E7E9EA"/>
                </a:solidFill>
                <a:effectLst/>
                <a:latin typeface="-apple-system"/>
              </a:rPr>
              <a:t> </a:t>
            </a:r>
            <a:endParaRPr lang="en-US" sz="1400" b="1" dirty="0">
              <a:solidFill>
                <a:srgbClr val="FFFFFF"/>
              </a:solidFill>
            </a:endParaRPr>
          </a:p>
        </p:txBody>
      </p:sp>
      <p:graphicFrame>
        <p:nvGraphicFramePr>
          <p:cNvPr id="5" name="Chart 0"/>
          <p:cNvGraphicFramePr/>
          <p:nvPr/>
        </p:nvGraphicFramePr>
        <p:xfrm>
          <a:off x="274320" y="1234440"/>
          <a:ext cx="5303520" cy="2862072"/>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806440" y="1061085"/>
            <a:ext cx="3017520" cy="82296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7" name="Shape 4"/>
          <p:cNvSpPr/>
          <p:nvPr/>
        </p:nvSpPr>
        <p:spPr>
          <a:xfrm>
            <a:off x="5806440" y="1061085"/>
            <a:ext cx="54864" cy="822960"/>
          </a:xfrm>
          <a:prstGeom prst="rect">
            <a:avLst/>
          </a:prstGeom>
          <a:solidFill>
            <a:srgbClr val="0D9488"/>
          </a:solidFill>
          <a:ln/>
        </p:spPr>
      </p:sp>
      <p:sp>
        <p:nvSpPr>
          <p:cNvPr id="8" name="Text 5"/>
          <p:cNvSpPr/>
          <p:nvPr/>
        </p:nvSpPr>
        <p:spPr>
          <a:xfrm>
            <a:off x="5989320" y="1051187"/>
            <a:ext cx="2651760" cy="256032"/>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Top Products</a:t>
            </a:r>
          </a:p>
        </p:txBody>
      </p:sp>
      <p:sp>
        <p:nvSpPr>
          <p:cNvPr id="9" name="Text 6"/>
          <p:cNvSpPr/>
          <p:nvPr/>
        </p:nvSpPr>
        <p:spPr>
          <a:xfrm>
            <a:off x="5989320" y="1279017"/>
            <a:ext cx="2651760" cy="347472"/>
          </a:xfrm>
          <a:prstGeom prst="rect">
            <a:avLst/>
          </a:prstGeom>
          <a:noFill/>
          <a:ln/>
        </p:spPr>
        <p:txBody>
          <a:bodyPr wrap="square" lIns="0" tIns="0" rIns="0" bIns="0" rtlCol="0" anchor="ctr"/>
          <a:lstStyle/>
          <a:p>
            <a:pPr marL="0" indent="0">
              <a:buNone/>
            </a:pPr>
            <a:r>
              <a:rPr lang="en-US" sz="1600" b="1" dirty="0"/>
              <a:t>124.164 unit sold</a:t>
            </a:r>
          </a:p>
        </p:txBody>
      </p:sp>
      <p:sp>
        <p:nvSpPr>
          <p:cNvPr id="10" name="Text 7"/>
          <p:cNvSpPr/>
          <p:nvPr/>
        </p:nvSpPr>
        <p:spPr>
          <a:xfrm>
            <a:off x="5989320" y="1616575"/>
            <a:ext cx="2651760" cy="274320"/>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Books Products</a:t>
            </a:r>
          </a:p>
        </p:txBody>
      </p:sp>
      <p:sp>
        <p:nvSpPr>
          <p:cNvPr id="11" name="Shape 8"/>
          <p:cNvSpPr/>
          <p:nvPr/>
        </p:nvSpPr>
        <p:spPr>
          <a:xfrm>
            <a:off x="5806440" y="2013585"/>
            <a:ext cx="3017520" cy="82296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12" name="Shape 9"/>
          <p:cNvSpPr/>
          <p:nvPr/>
        </p:nvSpPr>
        <p:spPr>
          <a:xfrm>
            <a:off x="5806440" y="2013585"/>
            <a:ext cx="54864" cy="822960"/>
          </a:xfrm>
          <a:prstGeom prst="rect">
            <a:avLst/>
          </a:prstGeom>
          <a:solidFill>
            <a:srgbClr val="F59E0B"/>
          </a:solidFill>
          <a:ln/>
        </p:spPr>
      </p:sp>
      <p:sp>
        <p:nvSpPr>
          <p:cNvPr id="13" name="Text 10"/>
          <p:cNvSpPr/>
          <p:nvPr/>
        </p:nvSpPr>
        <p:spPr>
          <a:xfrm>
            <a:off x="5989320" y="1975485"/>
            <a:ext cx="2651760" cy="256032"/>
          </a:xfrm>
          <a:prstGeom prst="rect">
            <a:avLst/>
          </a:prstGeom>
          <a:noFill/>
          <a:ln/>
        </p:spPr>
        <p:txBody>
          <a:bodyPr wrap="square" lIns="0" tIns="0" rIns="0" bIns="0" rtlCol="0" anchor="ctr"/>
          <a:lstStyle/>
          <a:p>
            <a:pPr marL="0" indent="0">
              <a:buNone/>
            </a:pPr>
            <a:r>
              <a:rPr lang="en-US" sz="1000" dirty="0">
                <a:solidFill>
                  <a:srgbClr val="64748B"/>
                </a:solidFill>
              </a:rPr>
              <a:t>Bottom Products </a:t>
            </a:r>
            <a:endParaRPr lang="en-US" sz="1000" dirty="0"/>
          </a:p>
        </p:txBody>
      </p:sp>
      <p:sp>
        <p:nvSpPr>
          <p:cNvPr id="14" name="Text 11"/>
          <p:cNvSpPr/>
          <p:nvPr/>
        </p:nvSpPr>
        <p:spPr>
          <a:xfrm>
            <a:off x="5989320" y="2231517"/>
            <a:ext cx="2651760" cy="347472"/>
          </a:xfrm>
          <a:prstGeom prst="rect">
            <a:avLst/>
          </a:prstGeom>
          <a:noFill/>
          <a:ln/>
        </p:spPr>
        <p:txBody>
          <a:bodyPr wrap="square" lIns="0" tIns="0" rIns="0" bIns="0" rtlCol="0" anchor="ctr"/>
          <a:lstStyle/>
          <a:p>
            <a:pPr marL="0" indent="0">
              <a:buNone/>
            </a:pPr>
            <a:r>
              <a:rPr lang="en-US" sz="1600" b="1" dirty="0">
                <a:solidFill>
                  <a:srgbClr val="FF0000"/>
                </a:solidFill>
              </a:rPr>
              <a:t>122,673 unit sold</a:t>
            </a:r>
            <a:endParaRPr lang="en-US" sz="1400" b="1" dirty="0">
              <a:solidFill>
                <a:srgbClr val="FF0000"/>
              </a:solidFill>
            </a:endParaRPr>
          </a:p>
        </p:txBody>
      </p:sp>
      <p:sp>
        <p:nvSpPr>
          <p:cNvPr id="15" name="Text 12"/>
          <p:cNvSpPr/>
          <p:nvPr/>
        </p:nvSpPr>
        <p:spPr>
          <a:xfrm>
            <a:off x="5989320" y="2597277"/>
            <a:ext cx="2651760" cy="199644"/>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Home Decor Product</a:t>
            </a:r>
          </a:p>
        </p:txBody>
      </p:sp>
      <p:sp>
        <p:nvSpPr>
          <p:cNvPr id="16" name="Shape 13"/>
          <p:cNvSpPr/>
          <p:nvPr/>
        </p:nvSpPr>
        <p:spPr>
          <a:xfrm>
            <a:off x="5806440" y="3971932"/>
            <a:ext cx="3017520" cy="82296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17" name="Shape 14"/>
          <p:cNvSpPr/>
          <p:nvPr/>
        </p:nvSpPr>
        <p:spPr>
          <a:xfrm>
            <a:off x="5806440" y="3971932"/>
            <a:ext cx="54864" cy="822960"/>
          </a:xfrm>
          <a:prstGeom prst="rect">
            <a:avLst/>
          </a:prstGeom>
          <a:solidFill>
            <a:srgbClr val="FF0000"/>
          </a:solidFill>
          <a:ln>
            <a:solidFill>
              <a:srgbClr val="FF0000"/>
            </a:solidFill>
          </a:ln>
        </p:spPr>
      </p:sp>
      <p:sp>
        <p:nvSpPr>
          <p:cNvPr id="18" name="Text 15"/>
          <p:cNvSpPr/>
          <p:nvPr/>
        </p:nvSpPr>
        <p:spPr>
          <a:xfrm>
            <a:off x="5989320" y="3965082"/>
            <a:ext cx="2651760" cy="256032"/>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Unit Sold Gap</a:t>
            </a:r>
          </a:p>
        </p:txBody>
      </p:sp>
      <p:sp>
        <p:nvSpPr>
          <p:cNvPr id="19" name="Text 16"/>
          <p:cNvSpPr/>
          <p:nvPr/>
        </p:nvSpPr>
        <p:spPr>
          <a:xfrm>
            <a:off x="5989320" y="4231012"/>
            <a:ext cx="2651760" cy="256032"/>
          </a:xfrm>
          <a:prstGeom prst="rect">
            <a:avLst/>
          </a:prstGeom>
          <a:noFill/>
          <a:ln/>
        </p:spPr>
        <p:txBody>
          <a:bodyPr wrap="square" lIns="0" tIns="0" rIns="0" bIns="0" rtlCol="0" anchor="ctr"/>
          <a:lstStyle/>
          <a:p>
            <a:pPr marL="0" indent="0">
              <a:buNone/>
            </a:pPr>
            <a:r>
              <a:rPr lang="en-US" sz="1400" b="1" dirty="0"/>
              <a:t>1491 Units / 1.22%</a:t>
            </a:r>
          </a:p>
        </p:txBody>
      </p:sp>
      <p:sp>
        <p:nvSpPr>
          <p:cNvPr id="20" name="Text 17"/>
          <p:cNvSpPr/>
          <p:nvPr/>
        </p:nvSpPr>
        <p:spPr>
          <a:xfrm>
            <a:off x="5989320" y="4516380"/>
            <a:ext cx="2651760" cy="274320"/>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11 Months</a:t>
            </a:r>
          </a:p>
        </p:txBody>
      </p:sp>
      <p:sp>
        <p:nvSpPr>
          <p:cNvPr id="30" name="Shape 13">
            <a:extLst>
              <a:ext uri="{FF2B5EF4-FFF2-40B4-BE49-F238E27FC236}">
                <a16:creationId xmlns:a16="http://schemas.microsoft.com/office/drawing/2014/main" id="{BC1B1787-8BCC-4682-9636-39193AC026EA}"/>
              </a:ext>
            </a:extLst>
          </p:cNvPr>
          <p:cNvSpPr/>
          <p:nvPr/>
        </p:nvSpPr>
        <p:spPr>
          <a:xfrm>
            <a:off x="5806440" y="2977907"/>
            <a:ext cx="3017520" cy="82296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31" name="Shape 14">
            <a:extLst>
              <a:ext uri="{FF2B5EF4-FFF2-40B4-BE49-F238E27FC236}">
                <a16:creationId xmlns:a16="http://schemas.microsoft.com/office/drawing/2014/main" id="{3AF093E3-2B64-4F86-A424-97F772A1327F}"/>
              </a:ext>
            </a:extLst>
          </p:cNvPr>
          <p:cNvSpPr/>
          <p:nvPr/>
        </p:nvSpPr>
        <p:spPr>
          <a:xfrm>
            <a:off x="5806440" y="2977907"/>
            <a:ext cx="54864" cy="822960"/>
          </a:xfrm>
          <a:prstGeom prst="rect">
            <a:avLst/>
          </a:prstGeom>
          <a:solidFill>
            <a:srgbClr val="1A3260"/>
          </a:solidFill>
          <a:ln/>
        </p:spPr>
      </p:sp>
      <p:sp>
        <p:nvSpPr>
          <p:cNvPr id="32" name="Text 15">
            <a:extLst>
              <a:ext uri="{FF2B5EF4-FFF2-40B4-BE49-F238E27FC236}">
                <a16:creationId xmlns:a16="http://schemas.microsoft.com/office/drawing/2014/main" id="{6E698594-CB4B-47C0-B22C-2487CFD2D3AB}"/>
              </a:ext>
            </a:extLst>
          </p:cNvPr>
          <p:cNvSpPr/>
          <p:nvPr/>
        </p:nvSpPr>
        <p:spPr>
          <a:xfrm>
            <a:off x="5989320" y="2980955"/>
            <a:ext cx="2651760" cy="256032"/>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Total Unit Sold</a:t>
            </a:r>
          </a:p>
        </p:txBody>
      </p:sp>
      <p:sp>
        <p:nvSpPr>
          <p:cNvPr id="33" name="Text 16">
            <a:extLst>
              <a:ext uri="{FF2B5EF4-FFF2-40B4-BE49-F238E27FC236}">
                <a16:creationId xmlns:a16="http://schemas.microsoft.com/office/drawing/2014/main" id="{0A929A8D-0570-44CF-9B46-FC3D77D329BD}"/>
              </a:ext>
            </a:extLst>
          </p:cNvPr>
          <p:cNvSpPr/>
          <p:nvPr/>
        </p:nvSpPr>
        <p:spPr>
          <a:xfrm>
            <a:off x="5989320" y="3236987"/>
            <a:ext cx="2651760" cy="256032"/>
          </a:xfrm>
          <a:prstGeom prst="rect">
            <a:avLst/>
          </a:prstGeom>
          <a:noFill/>
          <a:ln/>
        </p:spPr>
        <p:txBody>
          <a:bodyPr wrap="square" lIns="0" tIns="0" rIns="0" bIns="0" rtlCol="0" anchor="ctr"/>
          <a:lstStyle/>
          <a:p>
            <a:pPr marL="0" indent="0">
              <a:buNone/>
            </a:pPr>
            <a:r>
              <a:rPr lang="en-US" sz="1600" b="1" dirty="0">
                <a:solidFill>
                  <a:schemeClr val="accent6"/>
                </a:solidFill>
              </a:rPr>
              <a:t>493,656 units</a:t>
            </a:r>
          </a:p>
        </p:txBody>
      </p:sp>
      <p:sp>
        <p:nvSpPr>
          <p:cNvPr id="34" name="Text 17">
            <a:extLst>
              <a:ext uri="{FF2B5EF4-FFF2-40B4-BE49-F238E27FC236}">
                <a16:creationId xmlns:a16="http://schemas.microsoft.com/office/drawing/2014/main" id="{73452B4E-66BE-42F0-870D-9B14D7E9E0FD}"/>
              </a:ext>
            </a:extLst>
          </p:cNvPr>
          <p:cNvSpPr/>
          <p:nvPr/>
        </p:nvSpPr>
        <p:spPr>
          <a:xfrm>
            <a:off x="5989320" y="3533397"/>
            <a:ext cx="2651760" cy="274320"/>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All Categories</a:t>
            </a:r>
          </a:p>
        </p:txBody>
      </p:sp>
      <p:sp>
        <p:nvSpPr>
          <p:cNvPr id="35" name="Shape 3">
            <a:extLst>
              <a:ext uri="{FF2B5EF4-FFF2-40B4-BE49-F238E27FC236}">
                <a16:creationId xmlns:a16="http://schemas.microsoft.com/office/drawing/2014/main" id="{910C3358-1D7A-4BDE-9D38-215781253665}"/>
              </a:ext>
            </a:extLst>
          </p:cNvPr>
          <p:cNvSpPr/>
          <p:nvPr/>
        </p:nvSpPr>
        <p:spPr>
          <a:xfrm>
            <a:off x="78104" y="3641626"/>
            <a:ext cx="5531740" cy="1410433"/>
          </a:xfrm>
          <a:prstGeom prst="rect">
            <a:avLst/>
          </a:prstGeom>
          <a:solidFill>
            <a:srgbClr val="FFFFFF"/>
          </a:solidFill>
          <a:ln w="6350">
            <a:solidFill>
              <a:srgbClr val="E2E8F0"/>
            </a:solidFill>
            <a:prstDash val="solid"/>
          </a:ln>
          <a:effectLst>
            <a:outerShdw blurRad="50800" dist="38100" dir="2700000" algn="tl" rotWithShape="0">
              <a:prstClr val="black">
                <a:alpha val="40000"/>
              </a:prstClr>
            </a:outerShdw>
          </a:effectLst>
        </p:spPr>
        <p:txBody>
          <a:bodyPr/>
          <a:lstStyle/>
          <a:p>
            <a:endParaRPr lang="en-US" dirty="0">
              <a:latin typeface="Unesa" pitchFamily="50" charset="0"/>
            </a:endParaRPr>
          </a:p>
        </p:txBody>
      </p:sp>
      <p:sp>
        <p:nvSpPr>
          <p:cNvPr id="37" name="Text 5">
            <a:extLst>
              <a:ext uri="{FF2B5EF4-FFF2-40B4-BE49-F238E27FC236}">
                <a16:creationId xmlns:a16="http://schemas.microsoft.com/office/drawing/2014/main" id="{027D02F0-14CF-40D2-A823-DE755DC81BCF}"/>
              </a:ext>
            </a:extLst>
          </p:cNvPr>
          <p:cNvSpPr/>
          <p:nvPr/>
        </p:nvSpPr>
        <p:spPr>
          <a:xfrm>
            <a:off x="152400" y="3653028"/>
            <a:ext cx="2651760" cy="256032"/>
          </a:xfrm>
          <a:prstGeom prst="rect">
            <a:avLst/>
          </a:prstGeom>
          <a:noFill/>
          <a:ln/>
        </p:spPr>
        <p:txBody>
          <a:bodyPr wrap="square" lIns="0" tIns="0" rIns="0" bIns="0" rtlCol="0" anchor="ctr"/>
          <a:lstStyle/>
          <a:p>
            <a:pPr marL="0" indent="0">
              <a:buNone/>
            </a:pPr>
            <a:r>
              <a:rPr lang="en-US" sz="1000" dirty="0"/>
              <a:t>Quick Insight</a:t>
            </a:r>
          </a:p>
        </p:txBody>
      </p:sp>
      <p:sp>
        <p:nvSpPr>
          <p:cNvPr id="38" name="Text 5">
            <a:extLst>
              <a:ext uri="{FF2B5EF4-FFF2-40B4-BE49-F238E27FC236}">
                <a16:creationId xmlns:a16="http://schemas.microsoft.com/office/drawing/2014/main" id="{61107D64-DA79-4E03-A89A-EF3F84B6A55F}"/>
              </a:ext>
            </a:extLst>
          </p:cNvPr>
          <p:cNvSpPr/>
          <p:nvPr/>
        </p:nvSpPr>
        <p:spPr>
          <a:xfrm>
            <a:off x="146304" y="3872139"/>
            <a:ext cx="5303520" cy="918561"/>
          </a:xfrm>
          <a:prstGeom prst="rect">
            <a:avLst/>
          </a:prstGeom>
          <a:noFill/>
          <a:ln/>
        </p:spPr>
        <p:txBody>
          <a:bodyPr wrap="square" lIns="0" tIns="0" rIns="0" bIns="0" rtlCol="0" anchor="ctr"/>
          <a:lstStyle/>
          <a:p>
            <a:pPr marL="0" indent="0" algn="just">
              <a:buNone/>
            </a:pPr>
            <a:r>
              <a:rPr lang="en-US" sz="1200" dirty="0">
                <a:latin typeface="Unesa" pitchFamily="50" charset="0"/>
              </a:rPr>
              <a:t>Total unit sold relatively balanced across all product categories , with only 1,22% gap between the highest-performing (books, 124K units) and lowest-performing (Home Décor, 122K units).This confirm that product performance is not the driver of the </a:t>
            </a:r>
            <a:r>
              <a:rPr lang="en-US" sz="1200" dirty="0" err="1">
                <a:latin typeface="Unesa" pitchFamily="50" charset="0"/>
              </a:rPr>
              <a:t>feb</a:t>
            </a:r>
            <a:r>
              <a:rPr lang="en-US" sz="1200" dirty="0">
                <a:latin typeface="Unesa" pitchFamily="50" charset="0"/>
              </a:rPr>
              <a:t>-April decline </a:t>
            </a:r>
            <a:r>
              <a:rPr lang="en-US" sz="1200" b="1" i="0" dirty="0">
                <a:effectLst/>
                <a:latin typeface="Unesa" pitchFamily="50" charset="0"/>
              </a:rPr>
              <a:t>— </a:t>
            </a:r>
            <a:r>
              <a:rPr lang="en-US" sz="1200" i="0" dirty="0">
                <a:effectLst/>
                <a:latin typeface="Unesa" pitchFamily="50" charset="0"/>
              </a:rPr>
              <a:t>shifting our focus to transaction patterns and payment behavior</a:t>
            </a:r>
            <a:endParaRPr lang="en-US" sz="1200" dirty="0">
              <a:latin typeface="Unesa" pitchFamily="50" charset="0"/>
            </a:endParaRPr>
          </a:p>
        </p:txBody>
      </p:sp>
      <p:graphicFrame>
        <p:nvGraphicFramePr>
          <p:cNvPr id="39" name="Chart 38">
            <a:extLst>
              <a:ext uri="{FF2B5EF4-FFF2-40B4-BE49-F238E27FC236}">
                <a16:creationId xmlns:a16="http://schemas.microsoft.com/office/drawing/2014/main" id="{27ED4007-B609-49AF-B35D-A39A2878A796}"/>
              </a:ext>
            </a:extLst>
          </p:cNvPr>
          <p:cNvGraphicFramePr>
            <a:graphicFrameLocks/>
          </p:cNvGraphicFramePr>
          <p:nvPr>
            <p:extLst>
              <p:ext uri="{D42A27DB-BD31-4B8C-83A1-F6EECF244321}">
                <p14:modId xmlns:p14="http://schemas.microsoft.com/office/powerpoint/2010/main" val="2500382912"/>
              </p:ext>
            </p:extLst>
          </p:nvPr>
        </p:nvGraphicFramePr>
        <p:xfrm>
          <a:off x="78104" y="905998"/>
          <a:ext cx="5538598" cy="262739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890412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044"/>
          </a:solidFill>
          <a:ln/>
        </p:spPr>
        <p:txBody>
          <a:bodyPr/>
          <a:lstStyle/>
          <a:p>
            <a:endParaRPr lang="en-US" dirty="0"/>
          </a:p>
        </p:txBody>
      </p:sp>
      <p:sp>
        <p:nvSpPr>
          <p:cNvPr id="3" name="Text 1"/>
          <p:cNvSpPr/>
          <p:nvPr/>
        </p:nvSpPr>
        <p:spPr>
          <a:xfrm>
            <a:off x="152399" y="94033"/>
            <a:ext cx="8911213" cy="640080"/>
          </a:xfrm>
          <a:prstGeom prst="rect">
            <a:avLst/>
          </a:prstGeom>
          <a:noFill/>
          <a:ln/>
        </p:spPr>
        <p:txBody>
          <a:bodyPr wrap="square" lIns="0" tIns="0" rIns="0" bIns="0" rtlCol="0" anchor="ctr"/>
          <a:lstStyle/>
          <a:p>
            <a:r>
              <a:rPr lang="en-US" sz="1400" b="1" dirty="0">
                <a:solidFill>
                  <a:srgbClr val="FFFFFF"/>
                </a:solidFill>
              </a:rPr>
              <a:t>03 | Transactions Peak at 7PM (4,221), Yet customer remain consistently active around the clock  </a:t>
            </a:r>
            <a:r>
              <a:rPr lang="en-US" sz="1400" b="1" i="0" dirty="0">
                <a:solidFill>
                  <a:srgbClr val="E7E9EA"/>
                </a:solidFill>
                <a:effectLst/>
              </a:rPr>
              <a:t>— </a:t>
            </a:r>
            <a:r>
              <a:rPr lang="en-US" sz="1400" b="1" dirty="0">
                <a:solidFill>
                  <a:srgbClr val="FFFFFF"/>
                </a:solidFill>
              </a:rPr>
              <a:t> event midnight sees 4000+ transactions</a:t>
            </a:r>
          </a:p>
        </p:txBody>
      </p:sp>
      <p:graphicFrame>
        <p:nvGraphicFramePr>
          <p:cNvPr id="5" name="Chart 0"/>
          <p:cNvGraphicFramePr/>
          <p:nvPr/>
        </p:nvGraphicFramePr>
        <p:xfrm>
          <a:off x="274320" y="1234440"/>
          <a:ext cx="5303520" cy="2862072"/>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876776" y="1744372"/>
            <a:ext cx="3017520" cy="82296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7" name="Shape 4"/>
          <p:cNvSpPr/>
          <p:nvPr/>
        </p:nvSpPr>
        <p:spPr>
          <a:xfrm>
            <a:off x="5876776" y="1744372"/>
            <a:ext cx="54864" cy="822960"/>
          </a:xfrm>
          <a:prstGeom prst="rect">
            <a:avLst/>
          </a:prstGeom>
          <a:solidFill>
            <a:srgbClr val="0D9488"/>
          </a:solidFill>
          <a:ln/>
        </p:spPr>
      </p:sp>
      <p:sp>
        <p:nvSpPr>
          <p:cNvPr id="8" name="Text 5"/>
          <p:cNvSpPr/>
          <p:nvPr/>
        </p:nvSpPr>
        <p:spPr>
          <a:xfrm>
            <a:off x="6059656" y="1845005"/>
            <a:ext cx="2651760" cy="256032"/>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Peak Hours</a:t>
            </a:r>
          </a:p>
        </p:txBody>
      </p:sp>
      <p:sp>
        <p:nvSpPr>
          <p:cNvPr id="9" name="Text 6"/>
          <p:cNvSpPr/>
          <p:nvPr/>
        </p:nvSpPr>
        <p:spPr>
          <a:xfrm>
            <a:off x="6059656" y="2072835"/>
            <a:ext cx="2651760" cy="347472"/>
          </a:xfrm>
          <a:prstGeom prst="rect">
            <a:avLst/>
          </a:prstGeom>
          <a:noFill/>
          <a:ln/>
        </p:spPr>
        <p:txBody>
          <a:bodyPr wrap="square" lIns="0" tIns="0" rIns="0" bIns="0" rtlCol="0" anchor="ctr"/>
          <a:lstStyle/>
          <a:p>
            <a:pPr marL="0" indent="0">
              <a:buNone/>
            </a:pPr>
            <a:r>
              <a:rPr lang="en-US" sz="1600" b="1" dirty="0"/>
              <a:t>07 : 00 PM</a:t>
            </a:r>
          </a:p>
        </p:txBody>
      </p:sp>
      <p:sp>
        <p:nvSpPr>
          <p:cNvPr id="11" name="Shape 8"/>
          <p:cNvSpPr/>
          <p:nvPr/>
        </p:nvSpPr>
        <p:spPr>
          <a:xfrm>
            <a:off x="5876776" y="2696872"/>
            <a:ext cx="3017520" cy="82296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12" name="Shape 9"/>
          <p:cNvSpPr/>
          <p:nvPr/>
        </p:nvSpPr>
        <p:spPr>
          <a:xfrm>
            <a:off x="5876776" y="2696872"/>
            <a:ext cx="54864" cy="822960"/>
          </a:xfrm>
          <a:prstGeom prst="rect">
            <a:avLst/>
          </a:prstGeom>
          <a:solidFill>
            <a:srgbClr val="F59E0B"/>
          </a:solidFill>
          <a:ln/>
        </p:spPr>
      </p:sp>
      <p:sp>
        <p:nvSpPr>
          <p:cNvPr id="13" name="Text 10"/>
          <p:cNvSpPr/>
          <p:nvPr/>
        </p:nvSpPr>
        <p:spPr>
          <a:xfrm>
            <a:off x="6059656" y="2799444"/>
            <a:ext cx="2651760" cy="256032"/>
          </a:xfrm>
          <a:prstGeom prst="rect">
            <a:avLst/>
          </a:prstGeom>
          <a:noFill/>
          <a:ln/>
        </p:spPr>
        <p:txBody>
          <a:bodyPr wrap="square" lIns="0" tIns="0" rIns="0" bIns="0" rtlCol="0" anchor="ctr"/>
          <a:lstStyle/>
          <a:p>
            <a:pPr marL="0" indent="0">
              <a:buNone/>
            </a:pPr>
            <a:r>
              <a:rPr lang="en-US" sz="1000" dirty="0"/>
              <a:t>Late Night Peak</a:t>
            </a:r>
          </a:p>
        </p:txBody>
      </p:sp>
      <p:sp>
        <p:nvSpPr>
          <p:cNvPr id="14" name="Text 11"/>
          <p:cNvSpPr/>
          <p:nvPr/>
        </p:nvSpPr>
        <p:spPr>
          <a:xfrm>
            <a:off x="6059656" y="3055476"/>
            <a:ext cx="2651760" cy="347472"/>
          </a:xfrm>
          <a:prstGeom prst="rect">
            <a:avLst/>
          </a:prstGeom>
          <a:noFill/>
          <a:ln/>
        </p:spPr>
        <p:txBody>
          <a:bodyPr wrap="square" lIns="0" tIns="0" rIns="0" bIns="0" rtlCol="0" anchor="ctr"/>
          <a:lstStyle/>
          <a:p>
            <a:pPr marL="0" indent="0">
              <a:buNone/>
            </a:pPr>
            <a:r>
              <a:rPr lang="en-US" sz="1600" b="1" dirty="0"/>
              <a:t>01 : 00 AM </a:t>
            </a:r>
          </a:p>
        </p:txBody>
      </p:sp>
      <p:sp>
        <p:nvSpPr>
          <p:cNvPr id="30" name="Shape 13">
            <a:extLst>
              <a:ext uri="{FF2B5EF4-FFF2-40B4-BE49-F238E27FC236}">
                <a16:creationId xmlns:a16="http://schemas.microsoft.com/office/drawing/2014/main" id="{BC1B1787-8BCC-4682-9636-39193AC026EA}"/>
              </a:ext>
            </a:extLst>
          </p:cNvPr>
          <p:cNvSpPr/>
          <p:nvPr/>
        </p:nvSpPr>
        <p:spPr>
          <a:xfrm>
            <a:off x="5876776" y="3661194"/>
            <a:ext cx="3017520" cy="82296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31" name="Shape 14">
            <a:extLst>
              <a:ext uri="{FF2B5EF4-FFF2-40B4-BE49-F238E27FC236}">
                <a16:creationId xmlns:a16="http://schemas.microsoft.com/office/drawing/2014/main" id="{3AF093E3-2B64-4F86-A424-97F772A1327F}"/>
              </a:ext>
            </a:extLst>
          </p:cNvPr>
          <p:cNvSpPr/>
          <p:nvPr/>
        </p:nvSpPr>
        <p:spPr>
          <a:xfrm>
            <a:off x="5876776" y="3661194"/>
            <a:ext cx="54864" cy="822960"/>
          </a:xfrm>
          <a:prstGeom prst="rect">
            <a:avLst/>
          </a:prstGeom>
          <a:solidFill>
            <a:srgbClr val="1A3260"/>
          </a:solidFill>
          <a:ln/>
        </p:spPr>
      </p:sp>
      <p:sp>
        <p:nvSpPr>
          <p:cNvPr id="32" name="Text 15">
            <a:extLst>
              <a:ext uri="{FF2B5EF4-FFF2-40B4-BE49-F238E27FC236}">
                <a16:creationId xmlns:a16="http://schemas.microsoft.com/office/drawing/2014/main" id="{6E698594-CB4B-47C0-B22C-2487CFD2D3AB}"/>
              </a:ext>
            </a:extLst>
          </p:cNvPr>
          <p:cNvSpPr/>
          <p:nvPr/>
        </p:nvSpPr>
        <p:spPr>
          <a:xfrm>
            <a:off x="6059656" y="3664242"/>
            <a:ext cx="2651760" cy="256032"/>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Afternoon Dip</a:t>
            </a:r>
          </a:p>
        </p:txBody>
      </p:sp>
      <p:sp>
        <p:nvSpPr>
          <p:cNvPr id="33" name="Text 16">
            <a:extLst>
              <a:ext uri="{FF2B5EF4-FFF2-40B4-BE49-F238E27FC236}">
                <a16:creationId xmlns:a16="http://schemas.microsoft.com/office/drawing/2014/main" id="{0A929A8D-0570-44CF-9B46-FC3D77D329BD}"/>
              </a:ext>
            </a:extLst>
          </p:cNvPr>
          <p:cNvSpPr/>
          <p:nvPr/>
        </p:nvSpPr>
        <p:spPr>
          <a:xfrm>
            <a:off x="6059656" y="3920274"/>
            <a:ext cx="2651760" cy="256032"/>
          </a:xfrm>
          <a:prstGeom prst="rect">
            <a:avLst/>
          </a:prstGeom>
          <a:noFill/>
          <a:ln/>
        </p:spPr>
        <p:txBody>
          <a:bodyPr wrap="square" lIns="0" tIns="0" rIns="0" bIns="0" rtlCol="0" anchor="ctr"/>
          <a:lstStyle/>
          <a:p>
            <a:pPr marL="0" indent="0">
              <a:buNone/>
            </a:pPr>
            <a:r>
              <a:rPr lang="en-US" sz="1600" b="1" dirty="0">
                <a:solidFill>
                  <a:schemeClr val="accent6"/>
                </a:solidFill>
              </a:rPr>
              <a:t>12:00 PM</a:t>
            </a:r>
          </a:p>
        </p:txBody>
      </p:sp>
      <p:sp>
        <p:nvSpPr>
          <p:cNvPr id="34" name="Text 17">
            <a:extLst>
              <a:ext uri="{FF2B5EF4-FFF2-40B4-BE49-F238E27FC236}">
                <a16:creationId xmlns:a16="http://schemas.microsoft.com/office/drawing/2014/main" id="{73452B4E-66BE-42F0-870D-9B14D7E9E0FD}"/>
              </a:ext>
            </a:extLst>
          </p:cNvPr>
          <p:cNvSpPr/>
          <p:nvPr/>
        </p:nvSpPr>
        <p:spPr>
          <a:xfrm>
            <a:off x="6059656" y="4216684"/>
            <a:ext cx="2651760" cy="274320"/>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Lunch Break</a:t>
            </a:r>
          </a:p>
        </p:txBody>
      </p:sp>
      <p:sp>
        <p:nvSpPr>
          <p:cNvPr id="35" name="Shape 3">
            <a:extLst>
              <a:ext uri="{FF2B5EF4-FFF2-40B4-BE49-F238E27FC236}">
                <a16:creationId xmlns:a16="http://schemas.microsoft.com/office/drawing/2014/main" id="{910C3358-1D7A-4BDE-9D38-215781253665}"/>
              </a:ext>
            </a:extLst>
          </p:cNvPr>
          <p:cNvSpPr/>
          <p:nvPr/>
        </p:nvSpPr>
        <p:spPr>
          <a:xfrm>
            <a:off x="78104" y="3641626"/>
            <a:ext cx="5531740" cy="1410433"/>
          </a:xfrm>
          <a:prstGeom prst="rect">
            <a:avLst/>
          </a:prstGeom>
          <a:solidFill>
            <a:srgbClr val="FFFFFF"/>
          </a:solidFill>
          <a:ln w="6350">
            <a:solidFill>
              <a:srgbClr val="E2E8F0"/>
            </a:solidFill>
            <a:prstDash val="solid"/>
          </a:ln>
          <a:effectLst>
            <a:outerShdw blurRad="50800" dist="38100" dir="2700000" algn="tl" rotWithShape="0">
              <a:prstClr val="black">
                <a:alpha val="40000"/>
              </a:prstClr>
            </a:outerShdw>
          </a:effectLst>
        </p:spPr>
        <p:txBody>
          <a:bodyPr/>
          <a:lstStyle/>
          <a:p>
            <a:endParaRPr lang="en-US" dirty="0">
              <a:latin typeface="Unesa" pitchFamily="50" charset="0"/>
            </a:endParaRPr>
          </a:p>
        </p:txBody>
      </p:sp>
      <p:sp>
        <p:nvSpPr>
          <p:cNvPr id="37" name="Text 5">
            <a:extLst>
              <a:ext uri="{FF2B5EF4-FFF2-40B4-BE49-F238E27FC236}">
                <a16:creationId xmlns:a16="http://schemas.microsoft.com/office/drawing/2014/main" id="{027D02F0-14CF-40D2-A823-DE755DC81BCF}"/>
              </a:ext>
            </a:extLst>
          </p:cNvPr>
          <p:cNvSpPr/>
          <p:nvPr/>
        </p:nvSpPr>
        <p:spPr>
          <a:xfrm>
            <a:off x="152400" y="3653028"/>
            <a:ext cx="2651760" cy="256032"/>
          </a:xfrm>
          <a:prstGeom prst="rect">
            <a:avLst/>
          </a:prstGeom>
          <a:noFill/>
          <a:ln/>
        </p:spPr>
        <p:txBody>
          <a:bodyPr wrap="square" lIns="0" tIns="0" rIns="0" bIns="0" rtlCol="0" anchor="ctr"/>
          <a:lstStyle/>
          <a:p>
            <a:pPr marL="0" indent="0">
              <a:buNone/>
            </a:pPr>
            <a:r>
              <a:rPr lang="en-US" sz="1000" dirty="0"/>
              <a:t>Quick Insight</a:t>
            </a:r>
          </a:p>
        </p:txBody>
      </p:sp>
      <p:sp>
        <p:nvSpPr>
          <p:cNvPr id="38" name="Text 5">
            <a:extLst>
              <a:ext uri="{FF2B5EF4-FFF2-40B4-BE49-F238E27FC236}">
                <a16:creationId xmlns:a16="http://schemas.microsoft.com/office/drawing/2014/main" id="{61107D64-DA79-4E03-A89A-EF3F84B6A55F}"/>
              </a:ext>
            </a:extLst>
          </p:cNvPr>
          <p:cNvSpPr/>
          <p:nvPr/>
        </p:nvSpPr>
        <p:spPr>
          <a:xfrm>
            <a:off x="146304" y="3902283"/>
            <a:ext cx="5303520" cy="918561"/>
          </a:xfrm>
          <a:prstGeom prst="rect">
            <a:avLst/>
          </a:prstGeom>
          <a:noFill/>
          <a:ln/>
        </p:spPr>
        <p:txBody>
          <a:bodyPr wrap="square" lIns="0" tIns="0" rIns="0" bIns="0" rtlCol="0" anchor="ctr"/>
          <a:lstStyle/>
          <a:p>
            <a:pPr marL="0" indent="0" algn="just">
              <a:buNone/>
            </a:pPr>
            <a:r>
              <a:rPr lang="en-US" sz="1200" dirty="0">
                <a:latin typeface="Unesa" pitchFamily="50" charset="0"/>
              </a:rPr>
              <a:t>Transaction activity peaks at 7PM (4,221) but remains consistently high throughout the day, with no significant drop even at midnight (4,060 transactions). The narrow gap only 275 transactions between peak and lowest hour, suggests customers demand is active 24/7 – indicating that operational  readiness and marketing campaigns should not be limited to peak hours alone . </a:t>
            </a:r>
          </a:p>
        </p:txBody>
      </p:sp>
      <p:graphicFrame>
        <p:nvGraphicFramePr>
          <p:cNvPr id="29" name="Chart 28">
            <a:extLst>
              <a:ext uri="{FF2B5EF4-FFF2-40B4-BE49-F238E27FC236}">
                <a16:creationId xmlns:a16="http://schemas.microsoft.com/office/drawing/2014/main" id="{777B8AF7-F9A9-4E97-9DCF-489A84ED0DFD}"/>
              </a:ext>
            </a:extLst>
          </p:cNvPr>
          <p:cNvGraphicFramePr>
            <a:graphicFrameLocks/>
          </p:cNvGraphicFramePr>
          <p:nvPr>
            <p:extLst>
              <p:ext uri="{D42A27DB-BD31-4B8C-83A1-F6EECF244321}">
                <p14:modId xmlns:p14="http://schemas.microsoft.com/office/powerpoint/2010/main" val="2920961917"/>
              </p:ext>
            </p:extLst>
          </p:nvPr>
        </p:nvGraphicFramePr>
        <p:xfrm>
          <a:off x="78105" y="943840"/>
          <a:ext cx="5545455" cy="258955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52767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044"/>
          </a:solidFill>
          <a:ln/>
        </p:spPr>
        <p:txBody>
          <a:bodyPr/>
          <a:lstStyle/>
          <a:p>
            <a:endParaRPr lang="en-US" dirty="0"/>
          </a:p>
        </p:txBody>
      </p:sp>
      <p:sp>
        <p:nvSpPr>
          <p:cNvPr id="3" name="Text 1"/>
          <p:cNvSpPr/>
          <p:nvPr/>
        </p:nvSpPr>
        <p:spPr>
          <a:xfrm>
            <a:off x="152400" y="50952"/>
            <a:ext cx="8801100" cy="640080"/>
          </a:xfrm>
          <a:prstGeom prst="rect">
            <a:avLst/>
          </a:prstGeom>
          <a:noFill/>
          <a:ln/>
        </p:spPr>
        <p:txBody>
          <a:bodyPr wrap="square" lIns="0" tIns="0" rIns="0" bIns="0" rtlCol="0" anchor="ctr"/>
          <a:lstStyle/>
          <a:p>
            <a:r>
              <a:rPr lang="en-US" sz="1400" b="1" dirty="0">
                <a:solidFill>
                  <a:srgbClr val="FFFFFF"/>
                </a:solidFill>
              </a:rPr>
              <a:t>04 | Military-Based regions (Armed Forces) lead transaction  volume at 3,500+, nearby 2x higher than regular regions</a:t>
            </a:r>
          </a:p>
        </p:txBody>
      </p:sp>
      <p:graphicFrame>
        <p:nvGraphicFramePr>
          <p:cNvPr id="5" name="Chart 0"/>
          <p:cNvGraphicFramePr/>
          <p:nvPr/>
        </p:nvGraphicFramePr>
        <p:xfrm>
          <a:off x="274320" y="1234440"/>
          <a:ext cx="5303520" cy="2862072"/>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935980" y="2090962"/>
            <a:ext cx="3017520" cy="82296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7" name="Shape 4"/>
          <p:cNvSpPr/>
          <p:nvPr/>
        </p:nvSpPr>
        <p:spPr>
          <a:xfrm>
            <a:off x="5935980" y="2090962"/>
            <a:ext cx="54864" cy="822960"/>
          </a:xfrm>
          <a:prstGeom prst="rect">
            <a:avLst/>
          </a:prstGeom>
          <a:solidFill>
            <a:srgbClr val="0D9488"/>
          </a:solidFill>
          <a:ln/>
        </p:spPr>
      </p:sp>
      <p:sp>
        <p:nvSpPr>
          <p:cNvPr id="8" name="Text 5"/>
          <p:cNvSpPr/>
          <p:nvPr/>
        </p:nvSpPr>
        <p:spPr>
          <a:xfrm>
            <a:off x="6118860" y="2081064"/>
            <a:ext cx="2651760" cy="256032"/>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Top Regional</a:t>
            </a:r>
          </a:p>
        </p:txBody>
      </p:sp>
      <p:sp>
        <p:nvSpPr>
          <p:cNvPr id="9" name="Text 6"/>
          <p:cNvSpPr/>
          <p:nvPr/>
        </p:nvSpPr>
        <p:spPr>
          <a:xfrm>
            <a:off x="6118860" y="2308894"/>
            <a:ext cx="2651760" cy="347472"/>
          </a:xfrm>
          <a:prstGeom prst="rect">
            <a:avLst/>
          </a:prstGeom>
          <a:noFill/>
          <a:ln/>
        </p:spPr>
        <p:txBody>
          <a:bodyPr wrap="square" lIns="0" tIns="0" rIns="0" bIns="0" rtlCol="0" anchor="ctr"/>
          <a:lstStyle/>
          <a:p>
            <a:pPr marL="0" indent="0">
              <a:buNone/>
            </a:pPr>
            <a:r>
              <a:rPr lang="en-US" sz="1600" b="1" dirty="0"/>
              <a:t>10,675 transaction in total</a:t>
            </a:r>
          </a:p>
        </p:txBody>
      </p:sp>
      <p:sp>
        <p:nvSpPr>
          <p:cNvPr id="10" name="Text 7"/>
          <p:cNvSpPr/>
          <p:nvPr/>
        </p:nvSpPr>
        <p:spPr>
          <a:xfrm>
            <a:off x="6118860" y="2646452"/>
            <a:ext cx="2651760" cy="274320"/>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Armed Forces </a:t>
            </a:r>
          </a:p>
        </p:txBody>
      </p:sp>
      <p:sp>
        <p:nvSpPr>
          <p:cNvPr id="16" name="Shape 13"/>
          <p:cNvSpPr/>
          <p:nvPr/>
        </p:nvSpPr>
        <p:spPr>
          <a:xfrm>
            <a:off x="5935980" y="3152047"/>
            <a:ext cx="3017520" cy="82296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17" name="Shape 14"/>
          <p:cNvSpPr/>
          <p:nvPr/>
        </p:nvSpPr>
        <p:spPr>
          <a:xfrm>
            <a:off x="5935980" y="3152047"/>
            <a:ext cx="54864" cy="822960"/>
          </a:xfrm>
          <a:prstGeom prst="rect">
            <a:avLst/>
          </a:prstGeom>
          <a:solidFill>
            <a:srgbClr val="FF0000"/>
          </a:solidFill>
          <a:ln>
            <a:solidFill>
              <a:srgbClr val="FF0000"/>
            </a:solidFill>
          </a:ln>
        </p:spPr>
      </p:sp>
      <p:sp>
        <p:nvSpPr>
          <p:cNvPr id="18" name="Text 15"/>
          <p:cNvSpPr/>
          <p:nvPr/>
        </p:nvSpPr>
        <p:spPr>
          <a:xfrm>
            <a:off x="6118860" y="3145197"/>
            <a:ext cx="2651760" cy="256032"/>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Transaction gap on regular regions</a:t>
            </a:r>
          </a:p>
        </p:txBody>
      </p:sp>
      <p:sp>
        <p:nvSpPr>
          <p:cNvPr id="19" name="Text 16"/>
          <p:cNvSpPr/>
          <p:nvPr/>
        </p:nvSpPr>
        <p:spPr>
          <a:xfrm>
            <a:off x="6118860" y="3411127"/>
            <a:ext cx="2651760" cy="256032"/>
          </a:xfrm>
          <a:prstGeom prst="rect">
            <a:avLst/>
          </a:prstGeom>
          <a:noFill/>
          <a:ln/>
        </p:spPr>
        <p:txBody>
          <a:bodyPr wrap="square" lIns="0" tIns="0" rIns="0" bIns="0" rtlCol="0" anchor="ctr"/>
          <a:lstStyle/>
          <a:p>
            <a:pPr marL="0" indent="0">
              <a:buNone/>
            </a:pPr>
            <a:r>
              <a:rPr lang="en-US" sz="1400" b="1" dirty="0"/>
              <a:t>31 transactions</a:t>
            </a:r>
          </a:p>
        </p:txBody>
      </p:sp>
      <p:sp>
        <p:nvSpPr>
          <p:cNvPr id="20" name="Text 17"/>
          <p:cNvSpPr/>
          <p:nvPr/>
        </p:nvSpPr>
        <p:spPr>
          <a:xfrm>
            <a:off x="6118860" y="3696495"/>
            <a:ext cx="2651760" cy="274320"/>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7 regions</a:t>
            </a:r>
          </a:p>
        </p:txBody>
      </p:sp>
      <p:sp>
        <p:nvSpPr>
          <p:cNvPr id="35" name="Shape 3">
            <a:extLst>
              <a:ext uri="{FF2B5EF4-FFF2-40B4-BE49-F238E27FC236}">
                <a16:creationId xmlns:a16="http://schemas.microsoft.com/office/drawing/2014/main" id="{910C3358-1D7A-4BDE-9D38-215781253665}"/>
              </a:ext>
            </a:extLst>
          </p:cNvPr>
          <p:cNvSpPr/>
          <p:nvPr/>
        </p:nvSpPr>
        <p:spPr>
          <a:xfrm>
            <a:off x="78104" y="3641626"/>
            <a:ext cx="5531740" cy="1410433"/>
          </a:xfrm>
          <a:prstGeom prst="rect">
            <a:avLst/>
          </a:prstGeom>
          <a:solidFill>
            <a:srgbClr val="FFFFFF"/>
          </a:solidFill>
          <a:ln w="6350">
            <a:solidFill>
              <a:srgbClr val="E2E8F0"/>
            </a:solidFill>
            <a:prstDash val="solid"/>
          </a:ln>
          <a:effectLst>
            <a:outerShdw blurRad="50800" dist="38100" dir="2700000" algn="tl" rotWithShape="0">
              <a:prstClr val="black">
                <a:alpha val="40000"/>
              </a:prstClr>
            </a:outerShdw>
          </a:effectLst>
        </p:spPr>
        <p:txBody>
          <a:bodyPr/>
          <a:lstStyle/>
          <a:p>
            <a:endParaRPr lang="en-US" dirty="0">
              <a:latin typeface="Unesa" pitchFamily="50" charset="0"/>
            </a:endParaRPr>
          </a:p>
        </p:txBody>
      </p:sp>
      <p:sp>
        <p:nvSpPr>
          <p:cNvPr id="37" name="Text 5">
            <a:extLst>
              <a:ext uri="{FF2B5EF4-FFF2-40B4-BE49-F238E27FC236}">
                <a16:creationId xmlns:a16="http://schemas.microsoft.com/office/drawing/2014/main" id="{027D02F0-14CF-40D2-A823-DE755DC81BCF}"/>
              </a:ext>
            </a:extLst>
          </p:cNvPr>
          <p:cNvSpPr/>
          <p:nvPr/>
        </p:nvSpPr>
        <p:spPr>
          <a:xfrm>
            <a:off x="152400" y="3653028"/>
            <a:ext cx="2651760" cy="256032"/>
          </a:xfrm>
          <a:prstGeom prst="rect">
            <a:avLst/>
          </a:prstGeom>
          <a:noFill/>
          <a:ln/>
        </p:spPr>
        <p:txBody>
          <a:bodyPr wrap="square" lIns="0" tIns="0" rIns="0" bIns="0" rtlCol="0" anchor="ctr"/>
          <a:lstStyle/>
          <a:p>
            <a:pPr marL="0" indent="0">
              <a:buNone/>
            </a:pPr>
            <a:r>
              <a:rPr lang="en-US" sz="1000" dirty="0"/>
              <a:t>Quick Insight</a:t>
            </a:r>
          </a:p>
        </p:txBody>
      </p:sp>
      <p:sp>
        <p:nvSpPr>
          <p:cNvPr id="38" name="Text 5">
            <a:extLst>
              <a:ext uri="{FF2B5EF4-FFF2-40B4-BE49-F238E27FC236}">
                <a16:creationId xmlns:a16="http://schemas.microsoft.com/office/drawing/2014/main" id="{61107D64-DA79-4E03-A89A-EF3F84B6A55F}"/>
              </a:ext>
            </a:extLst>
          </p:cNvPr>
          <p:cNvSpPr/>
          <p:nvPr/>
        </p:nvSpPr>
        <p:spPr>
          <a:xfrm>
            <a:off x="146304" y="3970815"/>
            <a:ext cx="5303520" cy="918561"/>
          </a:xfrm>
          <a:prstGeom prst="rect">
            <a:avLst/>
          </a:prstGeom>
          <a:noFill/>
          <a:ln/>
        </p:spPr>
        <p:txBody>
          <a:bodyPr wrap="square" lIns="0" tIns="0" rIns="0" bIns="0" rtlCol="0" anchor="ctr"/>
          <a:lstStyle/>
          <a:p>
            <a:pPr marL="0" indent="0" algn="just">
              <a:buNone/>
            </a:pPr>
            <a:r>
              <a:rPr lang="en-US" sz="1200" dirty="0">
                <a:latin typeface="Unesa" pitchFamily="50" charset="0"/>
              </a:rPr>
              <a:t>Armed Forces regions (</a:t>
            </a:r>
            <a:r>
              <a:rPr lang="en-US" sz="1200" dirty="0" err="1">
                <a:latin typeface="Unesa" pitchFamily="50" charset="0"/>
              </a:rPr>
              <a:t>Europe,Americas,Pacific</a:t>
            </a:r>
            <a:r>
              <a:rPr lang="en-US" sz="1200" dirty="0">
                <a:latin typeface="Unesa" pitchFamily="50" charset="0"/>
              </a:rPr>
              <a:t>) lead transaction volume at 3,500+, nearly 2x higher than regular regions (1,500+). This suggests that military based customers represent a highly active segment, likely driven by collective and frequent purchasing needs. Meanwhile regular regions shows remarkably balanced activity, with only  a 31 transactions gap across the bottom 7 regions.</a:t>
            </a:r>
          </a:p>
        </p:txBody>
      </p:sp>
      <p:graphicFrame>
        <p:nvGraphicFramePr>
          <p:cNvPr id="29" name="Chart 28">
            <a:extLst>
              <a:ext uri="{FF2B5EF4-FFF2-40B4-BE49-F238E27FC236}">
                <a16:creationId xmlns:a16="http://schemas.microsoft.com/office/drawing/2014/main" id="{59D5065E-6156-4972-832E-4BF358D1D970}"/>
              </a:ext>
            </a:extLst>
          </p:cNvPr>
          <p:cNvGraphicFramePr>
            <a:graphicFrameLocks/>
          </p:cNvGraphicFramePr>
          <p:nvPr>
            <p:extLst>
              <p:ext uri="{D42A27DB-BD31-4B8C-83A1-F6EECF244321}">
                <p14:modId xmlns:p14="http://schemas.microsoft.com/office/powerpoint/2010/main" val="1962843533"/>
              </p:ext>
            </p:extLst>
          </p:nvPr>
        </p:nvGraphicFramePr>
        <p:xfrm>
          <a:off x="78104" y="1001878"/>
          <a:ext cx="5499736" cy="256164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858841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044"/>
          </a:solidFill>
          <a:ln/>
        </p:spPr>
        <p:txBody>
          <a:bodyPr/>
          <a:lstStyle/>
          <a:p>
            <a:endParaRPr lang="en-US" dirty="0"/>
          </a:p>
        </p:txBody>
      </p:sp>
      <p:sp>
        <p:nvSpPr>
          <p:cNvPr id="3" name="Text 1"/>
          <p:cNvSpPr/>
          <p:nvPr/>
        </p:nvSpPr>
        <p:spPr>
          <a:xfrm>
            <a:off x="152400" y="50952"/>
            <a:ext cx="8801100" cy="640080"/>
          </a:xfrm>
          <a:prstGeom prst="rect">
            <a:avLst/>
          </a:prstGeom>
          <a:noFill/>
          <a:ln/>
        </p:spPr>
        <p:txBody>
          <a:bodyPr wrap="square" lIns="0" tIns="0" rIns="0" bIns="0" rtlCol="0" anchor="ctr"/>
          <a:lstStyle/>
          <a:p>
            <a:r>
              <a:rPr lang="en-US" sz="1400" b="1" dirty="0">
                <a:solidFill>
                  <a:srgbClr val="FFFFFF"/>
                </a:solidFill>
              </a:rPr>
              <a:t>04.a | Military-Based regions dominate net revenue, with armed forces Americas leading at $902k, nearly 2x higher then regular regions</a:t>
            </a:r>
          </a:p>
        </p:txBody>
      </p:sp>
      <p:graphicFrame>
        <p:nvGraphicFramePr>
          <p:cNvPr id="5" name="Chart 0"/>
          <p:cNvGraphicFramePr/>
          <p:nvPr/>
        </p:nvGraphicFramePr>
        <p:xfrm>
          <a:off x="274320" y="1234440"/>
          <a:ext cx="5303520" cy="2862072"/>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935980" y="2090962"/>
            <a:ext cx="3017520" cy="82296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7" name="Shape 4"/>
          <p:cNvSpPr/>
          <p:nvPr/>
        </p:nvSpPr>
        <p:spPr>
          <a:xfrm>
            <a:off x="5935980" y="2090962"/>
            <a:ext cx="54864" cy="822960"/>
          </a:xfrm>
          <a:prstGeom prst="rect">
            <a:avLst/>
          </a:prstGeom>
          <a:solidFill>
            <a:srgbClr val="0D9488"/>
          </a:solidFill>
          <a:ln/>
        </p:spPr>
      </p:sp>
      <p:sp>
        <p:nvSpPr>
          <p:cNvPr id="8" name="Text 5"/>
          <p:cNvSpPr/>
          <p:nvPr/>
        </p:nvSpPr>
        <p:spPr>
          <a:xfrm>
            <a:off x="6118860" y="2081064"/>
            <a:ext cx="2651760" cy="256032"/>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Top Regional</a:t>
            </a:r>
          </a:p>
        </p:txBody>
      </p:sp>
      <p:sp>
        <p:nvSpPr>
          <p:cNvPr id="9" name="Text 6"/>
          <p:cNvSpPr/>
          <p:nvPr/>
        </p:nvSpPr>
        <p:spPr>
          <a:xfrm>
            <a:off x="6118860" y="2308894"/>
            <a:ext cx="2651760" cy="347472"/>
          </a:xfrm>
          <a:prstGeom prst="rect">
            <a:avLst/>
          </a:prstGeom>
          <a:noFill/>
          <a:ln/>
        </p:spPr>
        <p:txBody>
          <a:bodyPr wrap="square" lIns="0" tIns="0" rIns="0" bIns="0" rtlCol="0" anchor="ctr"/>
          <a:lstStyle/>
          <a:p>
            <a:pPr marL="0" indent="0">
              <a:buNone/>
            </a:pPr>
            <a:r>
              <a:rPr lang="en-US" sz="1600" b="1" dirty="0"/>
              <a:t>$902,032 </a:t>
            </a:r>
          </a:p>
        </p:txBody>
      </p:sp>
      <p:sp>
        <p:nvSpPr>
          <p:cNvPr id="10" name="Text 7"/>
          <p:cNvSpPr/>
          <p:nvPr/>
        </p:nvSpPr>
        <p:spPr>
          <a:xfrm>
            <a:off x="6118860" y="2646452"/>
            <a:ext cx="2651760" cy="274320"/>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Armed Forces Americas </a:t>
            </a:r>
          </a:p>
        </p:txBody>
      </p:sp>
      <p:sp>
        <p:nvSpPr>
          <p:cNvPr id="16" name="Shape 13"/>
          <p:cNvSpPr/>
          <p:nvPr/>
        </p:nvSpPr>
        <p:spPr>
          <a:xfrm>
            <a:off x="5935980" y="3152047"/>
            <a:ext cx="3017520" cy="82296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17" name="Shape 14"/>
          <p:cNvSpPr/>
          <p:nvPr/>
        </p:nvSpPr>
        <p:spPr>
          <a:xfrm>
            <a:off x="5935980" y="3152047"/>
            <a:ext cx="54864" cy="822960"/>
          </a:xfrm>
          <a:prstGeom prst="rect">
            <a:avLst/>
          </a:prstGeom>
          <a:solidFill>
            <a:srgbClr val="FF0000"/>
          </a:solidFill>
          <a:ln>
            <a:solidFill>
              <a:srgbClr val="FF0000"/>
            </a:solidFill>
          </a:ln>
        </p:spPr>
      </p:sp>
      <p:sp>
        <p:nvSpPr>
          <p:cNvPr id="18" name="Text 15"/>
          <p:cNvSpPr/>
          <p:nvPr/>
        </p:nvSpPr>
        <p:spPr>
          <a:xfrm>
            <a:off x="6118860" y="3145197"/>
            <a:ext cx="2651760" cy="256032"/>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Revenue Gap  Top - Bottom</a:t>
            </a:r>
          </a:p>
        </p:txBody>
      </p:sp>
      <p:sp>
        <p:nvSpPr>
          <p:cNvPr id="19" name="Text 16"/>
          <p:cNvSpPr/>
          <p:nvPr/>
        </p:nvSpPr>
        <p:spPr>
          <a:xfrm>
            <a:off x="6139542" y="3406391"/>
            <a:ext cx="2631077" cy="260768"/>
          </a:xfrm>
          <a:prstGeom prst="rect">
            <a:avLst/>
          </a:prstGeom>
          <a:noFill/>
          <a:ln/>
        </p:spPr>
        <p:txBody>
          <a:bodyPr wrap="square" lIns="0" tIns="0" rIns="0" bIns="0" rtlCol="0" anchor="ctr"/>
          <a:lstStyle/>
          <a:p>
            <a:pPr marL="0" indent="0">
              <a:buNone/>
            </a:pPr>
            <a:r>
              <a:rPr lang="en-US" sz="1600" b="1" dirty="0"/>
              <a:t>2,3%</a:t>
            </a:r>
          </a:p>
        </p:txBody>
      </p:sp>
      <p:sp>
        <p:nvSpPr>
          <p:cNvPr id="20" name="Text 17"/>
          <p:cNvSpPr/>
          <p:nvPr/>
        </p:nvSpPr>
        <p:spPr>
          <a:xfrm>
            <a:off x="6118860" y="3696495"/>
            <a:ext cx="2651760" cy="274320"/>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Top 10 Regions</a:t>
            </a:r>
          </a:p>
        </p:txBody>
      </p:sp>
      <p:sp>
        <p:nvSpPr>
          <p:cNvPr id="35" name="Shape 3">
            <a:extLst>
              <a:ext uri="{FF2B5EF4-FFF2-40B4-BE49-F238E27FC236}">
                <a16:creationId xmlns:a16="http://schemas.microsoft.com/office/drawing/2014/main" id="{910C3358-1D7A-4BDE-9D38-215781253665}"/>
              </a:ext>
            </a:extLst>
          </p:cNvPr>
          <p:cNvSpPr/>
          <p:nvPr/>
        </p:nvSpPr>
        <p:spPr>
          <a:xfrm>
            <a:off x="78104" y="3641626"/>
            <a:ext cx="5531740" cy="1410433"/>
          </a:xfrm>
          <a:prstGeom prst="rect">
            <a:avLst/>
          </a:prstGeom>
          <a:solidFill>
            <a:srgbClr val="FFFFFF"/>
          </a:solidFill>
          <a:ln w="6350">
            <a:solidFill>
              <a:srgbClr val="E2E8F0"/>
            </a:solidFill>
            <a:prstDash val="solid"/>
          </a:ln>
          <a:effectLst>
            <a:outerShdw blurRad="50800" dist="38100" dir="2700000" algn="tl" rotWithShape="0">
              <a:prstClr val="black">
                <a:alpha val="40000"/>
              </a:prstClr>
            </a:outerShdw>
          </a:effectLst>
        </p:spPr>
        <p:txBody>
          <a:bodyPr/>
          <a:lstStyle/>
          <a:p>
            <a:endParaRPr lang="en-US" dirty="0">
              <a:latin typeface="Unesa" pitchFamily="50" charset="0"/>
            </a:endParaRPr>
          </a:p>
        </p:txBody>
      </p:sp>
      <p:sp>
        <p:nvSpPr>
          <p:cNvPr id="37" name="Text 5">
            <a:extLst>
              <a:ext uri="{FF2B5EF4-FFF2-40B4-BE49-F238E27FC236}">
                <a16:creationId xmlns:a16="http://schemas.microsoft.com/office/drawing/2014/main" id="{027D02F0-14CF-40D2-A823-DE755DC81BCF}"/>
              </a:ext>
            </a:extLst>
          </p:cNvPr>
          <p:cNvSpPr/>
          <p:nvPr/>
        </p:nvSpPr>
        <p:spPr>
          <a:xfrm>
            <a:off x="152400" y="3653028"/>
            <a:ext cx="2651760" cy="256032"/>
          </a:xfrm>
          <a:prstGeom prst="rect">
            <a:avLst/>
          </a:prstGeom>
          <a:noFill/>
          <a:ln/>
        </p:spPr>
        <p:txBody>
          <a:bodyPr wrap="square" lIns="0" tIns="0" rIns="0" bIns="0" rtlCol="0" anchor="ctr"/>
          <a:lstStyle/>
          <a:p>
            <a:pPr marL="0" indent="0">
              <a:buNone/>
            </a:pPr>
            <a:r>
              <a:rPr lang="en-US" sz="1000" dirty="0"/>
              <a:t>Quick Insight</a:t>
            </a:r>
          </a:p>
        </p:txBody>
      </p:sp>
      <p:sp>
        <p:nvSpPr>
          <p:cNvPr id="38" name="Text 5">
            <a:extLst>
              <a:ext uri="{FF2B5EF4-FFF2-40B4-BE49-F238E27FC236}">
                <a16:creationId xmlns:a16="http://schemas.microsoft.com/office/drawing/2014/main" id="{61107D64-DA79-4E03-A89A-EF3F84B6A55F}"/>
              </a:ext>
            </a:extLst>
          </p:cNvPr>
          <p:cNvSpPr/>
          <p:nvPr/>
        </p:nvSpPr>
        <p:spPr>
          <a:xfrm>
            <a:off x="146304" y="3970815"/>
            <a:ext cx="5303520" cy="918561"/>
          </a:xfrm>
          <a:prstGeom prst="rect">
            <a:avLst/>
          </a:prstGeom>
          <a:noFill/>
          <a:ln/>
        </p:spPr>
        <p:txBody>
          <a:bodyPr wrap="square" lIns="0" tIns="0" rIns="0" bIns="0" rtlCol="0" anchor="ctr"/>
          <a:lstStyle/>
          <a:p>
            <a:pPr marL="0" indent="0" algn="just">
              <a:buNone/>
            </a:pPr>
            <a:r>
              <a:rPr lang="en-US" sz="1200" dirty="0">
                <a:latin typeface="Unesa" pitchFamily="50" charset="0"/>
              </a:rPr>
              <a:t>Armed Forces regions (</a:t>
            </a:r>
            <a:r>
              <a:rPr lang="en-US" sz="1200" dirty="0" err="1">
                <a:latin typeface="Unesa" pitchFamily="50" charset="0"/>
              </a:rPr>
              <a:t>Europe,Americas,Pacific</a:t>
            </a:r>
            <a:r>
              <a:rPr lang="en-US" sz="1200" dirty="0">
                <a:latin typeface="Unesa" pitchFamily="50" charset="0"/>
              </a:rPr>
              <a:t>) not only lead in transaction volume but also in net revenue, with Armed Forces Americas topping at $902k, nearly 2x higher than regular regions (~$385k-$395k). This confirms that higher transaction activity directly translates to higher revenue, making  Armed Forces as critical customer segment that significantly drives overall business performance</a:t>
            </a:r>
          </a:p>
        </p:txBody>
      </p:sp>
      <p:graphicFrame>
        <p:nvGraphicFramePr>
          <p:cNvPr id="21" name="Chart 20">
            <a:extLst>
              <a:ext uri="{FF2B5EF4-FFF2-40B4-BE49-F238E27FC236}">
                <a16:creationId xmlns:a16="http://schemas.microsoft.com/office/drawing/2014/main" id="{85D59BDE-7FF4-47E6-9BF5-93646F9586C0}"/>
              </a:ext>
            </a:extLst>
          </p:cNvPr>
          <p:cNvGraphicFramePr>
            <a:graphicFrameLocks/>
          </p:cNvGraphicFramePr>
          <p:nvPr>
            <p:extLst>
              <p:ext uri="{D42A27DB-BD31-4B8C-83A1-F6EECF244321}">
                <p14:modId xmlns:p14="http://schemas.microsoft.com/office/powerpoint/2010/main" val="2543574868"/>
              </p:ext>
            </p:extLst>
          </p:nvPr>
        </p:nvGraphicFramePr>
        <p:xfrm>
          <a:off x="78104" y="884715"/>
          <a:ext cx="5531740" cy="267881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617373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20097"/>
            <a:ext cx="9144000" cy="822960"/>
          </a:xfrm>
          <a:prstGeom prst="rect">
            <a:avLst/>
          </a:prstGeom>
          <a:solidFill>
            <a:srgbClr val="0F2044"/>
          </a:solidFill>
          <a:ln/>
        </p:spPr>
        <p:txBody>
          <a:bodyPr/>
          <a:lstStyle/>
          <a:p>
            <a:endParaRPr lang="en-US" dirty="0"/>
          </a:p>
        </p:txBody>
      </p:sp>
      <p:sp>
        <p:nvSpPr>
          <p:cNvPr id="3" name="Text 1"/>
          <p:cNvSpPr/>
          <p:nvPr/>
        </p:nvSpPr>
        <p:spPr>
          <a:xfrm>
            <a:off x="152400" y="50952"/>
            <a:ext cx="8801100" cy="640080"/>
          </a:xfrm>
          <a:prstGeom prst="rect">
            <a:avLst/>
          </a:prstGeom>
          <a:noFill/>
          <a:ln/>
        </p:spPr>
        <p:txBody>
          <a:bodyPr wrap="square" lIns="0" tIns="0" rIns="0" bIns="0" rtlCol="0" anchor="ctr"/>
          <a:lstStyle/>
          <a:p>
            <a:r>
              <a:rPr lang="en-US" sz="1400" b="1" dirty="0">
                <a:solidFill>
                  <a:srgbClr val="FFFFFF"/>
                </a:solidFill>
              </a:rPr>
              <a:t>05 | All 4 payment methods perform almost equally, with PayPal leading at 24,711, only 0,86% gap from Debit Card</a:t>
            </a:r>
          </a:p>
        </p:txBody>
      </p:sp>
      <p:graphicFrame>
        <p:nvGraphicFramePr>
          <p:cNvPr id="5" name="Chart 0"/>
          <p:cNvGraphicFramePr/>
          <p:nvPr/>
        </p:nvGraphicFramePr>
        <p:xfrm>
          <a:off x="274320" y="1234440"/>
          <a:ext cx="5303520" cy="2862072"/>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935980" y="1036727"/>
            <a:ext cx="3017520" cy="82296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7" name="Shape 4"/>
          <p:cNvSpPr/>
          <p:nvPr/>
        </p:nvSpPr>
        <p:spPr>
          <a:xfrm>
            <a:off x="5935980" y="1036727"/>
            <a:ext cx="54864" cy="822960"/>
          </a:xfrm>
          <a:prstGeom prst="rect">
            <a:avLst/>
          </a:prstGeom>
          <a:solidFill>
            <a:srgbClr val="0D9488"/>
          </a:solidFill>
          <a:ln/>
        </p:spPr>
      </p:sp>
      <p:sp>
        <p:nvSpPr>
          <p:cNvPr id="8" name="Text 5"/>
          <p:cNvSpPr/>
          <p:nvPr/>
        </p:nvSpPr>
        <p:spPr>
          <a:xfrm>
            <a:off x="6118860" y="1026829"/>
            <a:ext cx="2651760" cy="256032"/>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Most Used Payment</a:t>
            </a:r>
          </a:p>
        </p:txBody>
      </p:sp>
      <p:sp>
        <p:nvSpPr>
          <p:cNvPr id="9" name="Text 6"/>
          <p:cNvSpPr/>
          <p:nvPr/>
        </p:nvSpPr>
        <p:spPr>
          <a:xfrm>
            <a:off x="6118860" y="1254659"/>
            <a:ext cx="2651760" cy="347472"/>
          </a:xfrm>
          <a:prstGeom prst="rect">
            <a:avLst/>
          </a:prstGeom>
          <a:noFill/>
          <a:ln/>
        </p:spPr>
        <p:txBody>
          <a:bodyPr wrap="square" lIns="0" tIns="0" rIns="0" bIns="0" rtlCol="0" anchor="ctr"/>
          <a:lstStyle/>
          <a:p>
            <a:pPr marL="0" indent="0">
              <a:buNone/>
            </a:pPr>
            <a:r>
              <a:rPr lang="en-US" sz="1600" b="1" dirty="0"/>
              <a:t>24,711 transaction</a:t>
            </a:r>
          </a:p>
        </p:txBody>
      </p:sp>
      <p:sp>
        <p:nvSpPr>
          <p:cNvPr id="10" name="Text 7"/>
          <p:cNvSpPr/>
          <p:nvPr/>
        </p:nvSpPr>
        <p:spPr>
          <a:xfrm>
            <a:off x="6118860" y="1592217"/>
            <a:ext cx="2651760" cy="274320"/>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PayPal</a:t>
            </a:r>
          </a:p>
        </p:txBody>
      </p:sp>
      <p:sp>
        <p:nvSpPr>
          <p:cNvPr id="16" name="Shape 13"/>
          <p:cNvSpPr/>
          <p:nvPr/>
        </p:nvSpPr>
        <p:spPr>
          <a:xfrm>
            <a:off x="5935980" y="2097812"/>
            <a:ext cx="3017520" cy="82296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17" name="Shape 14"/>
          <p:cNvSpPr/>
          <p:nvPr/>
        </p:nvSpPr>
        <p:spPr>
          <a:xfrm>
            <a:off x="5935980" y="2097812"/>
            <a:ext cx="54864" cy="822960"/>
          </a:xfrm>
          <a:prstGeom prst="rect">
            <a:avLst/>
          </a:prstGeom>
          <a:solidFill>
            <a:srgbClr val="FF0000"/>
          </a:solidFill>
          <a:ln>
            <a:solidFill>
              <a:srgbClr val="FF0000"/>
            </a:solidFill>
          </a:ln>
        </p:spPr>
      </p:sp>
      <p:sp>
        <p:nvSpPr>
          <p:cNvPr id="18" name="Text 15"/>
          <p:cNvSpPr/>
          <p:nvPr/>
        </p:nvSpPr>
        <p:spPr>
          <a:xfrm>
            <a:off x="6118860" y="2090962"/>
            <a:ext cx="2651760" cy="256032"/>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Least Used Payment</a:t>
            </a:r>
          </a:p>
        </p:txBody>
      </p:sp>
      <p:sp>
        <p:nvSpPr>
          <p:cNvPr id="19" name="Text 16"/>
          <p:cNvSpPr/>
          <p:nvPr/>
        </p:nvSpPr>
        <p:spPr>
          <a:xfrm>
            <a:off x="6118860" y="2356892"/>
            <a:ext cx="2651760" cy="256032"/>
          </a:xfrm>
          <a:prstGeom prst="rect">
            <a:avLst/>
          </a:prstGeom>
          <a:noFill/>
          <a:ln/>
        </p:spPr>
        <p:txBody>
          <a:bodyPr wrap="square" lIns="0" tIns="0" rIns="0" bIns="0" rtlCol="0" anchor="ctr"/>
          <a:lstStyle/>
          <a:p>
            <a:pPr marL="0" indent="0">
              <a:buNone/>
            </a:pPr>
            <a:r>
              <a:rPr lang="en-US" sz="1600" b="1" dirty="0"/>
              <a:t>24,498 transaction</a:t>
            </a:r>
          </a:p>
        </p:txBody>
      </p:sp>
      <p:sp>
        <p:nvSpPr>
          <p:cNvPr id="20" name="Text 17"/>
          <p:cNvSpPr/>
          <p:nvPr/>
        </p:nvSpPr>
        <p:spPr>
          <a:xfrm>
            <a:off x="6118860" y="2642260"/>
            <a:ext cx="2651760" cy="274320"/>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Debit Card</a:t>
            </a:r>
          </a:p>
        </p:txBody>
      </p:sp>
      <p:sp>
        <p:nvSpPr>
          <p:cNvPr id="35" name="Shape 3">
            <a:extLst>
              <a:ext uri="{FF2B5EF4-FFF2-40B4-BE49-F238E27FC236}">
                <a16:creationId xmlns:a16="http://schemas.microsoft.com/office/drawing/2014/main" id="{910C3358-1D7A-4BDE-9D38-215781253665}"/>
              </a:ext>
            </a:extLst>
          </p:cNvPr>
          <p:cNvSpPr/>
          <p:nvPr/>
        </p:nvSpPr>
        <p:spPr>
          <a:xfrm>
            <a:off x="78104" y="3641626"/>
            <a:ext cx="5531740" cy="1410433"/>
          </a:xfrm>
          <a:prstGeom prst="rect">
            <a:avLst/>
          </a:prstGeom>
          <a:solidFill>
            <a:srgbClr val="FFFFFF"/>
          </a:solidFill>
          <a:ln w="6350">
            <a:solidFill>
              <a:srgbClr val="E2E8F0"/>
            </a:solidFill>
            <a:prstDash val="solid"/>
          </a:ln>
          <a:effectLst>
            <a:outerShdw blurRad="50800" dist="38100" dir="2700000" algn="tl" rotWithShape="0">
              <a:prstClr val="black">
                <a:alpha val="40000"/>
              </a:prstClr>
            </a:outerShdw>
          </a:effectLst>
        </p:spPr>
        <p:txBody>
          <a:bodyPr/>
          <a:lstStyle/>
          <a:p>
            <a:endParaRPr lang="en-US" dirty="0">
              <a:latin typeface="Unesa" pitchFamily="50" charset="0"/>
            </a:endParaRPr>
          </a:p>
        </p:txBody>
      </p:sp>
      <p:sp>
        <p:nvSpPr>
          <p:cNvPr id="37" name="Text 5">
            <a:extLst>
              <a:ext uri="{FF2B5EF4-FFF2-40B4-BE49-F238E27FC236}">
                <a16:creationId xmlns:a16="http://schemas.microsoft.com/office/drawing/2014/main" id="{027D02F0-14CF-40D2-A823-DE755DC81BCF}"/>
              </a:ext>
            </a:extLst>
          </p:cNvPr>
          <p:cNvSpPr/>
          <p:nvPr/>
        </p:nvSpPr>
        <p:spPr>
          <a:xfrm>
            <a:off x="152400" y="3653028"/>
            <a:ext cx="2651760" cy="256032"/>
          </a:xfrm>
          <a:prstGeom prst="rect">
            <a:avLst/>
          </a:prstGeom>
          <a:noFill/>
          <a:ln/>
        </p:spPr>
        <p:txBody>
          <a:bodyPr wrap="square" lIns="0" tIns="0" rIns="0" bIns="0" rtlCol="0" anchor="ctr"/>
          <a:lstStyle/>
          <a:p>
            <a:pPr marL="0" indent="0">
              <a:buNone/>
            </a:pPr>
            <a:r>
              <a:rPr lang="en-US" sz="1000" dirty="0"/>
              <a:t>Quick Insight</a:t>
            </a:r>
          </a:p>
        </p:txBody>
      </p:sp>
      <p:sp>
        <p:nvSpPr>
          <p:cNvPr id="38" name="Text 5">
            <a:extLst>
              <a:ext uri="{FF2B5EF4-FFF2-40B4-BE49-F238E27FC236}">
                <a16:creationId xmlns:a16="http://schemas.microsoft.com/office/drawing/2014/main" id="{61107D64-DA79-4E03-A89A-EF3F84B6A55F}"/>
              </a:ext>
            </a:extLst>
          </p:cNvPr>
          <p:cNvSpPr/>
          <p:nvPr/>
        </p:nvSpPr>
        <p:spPr>
          <a:xfrm>
            <a:off x="146304" y="3970815"/>
            <a:ext cx="5303520" cy="918561"/>
          </a:xfrm>
          <a:prstGeom prst="rect">
            <a:avLst/>
          </a:prstGeom>
          <a:noFill/>
          <a:ln/>
        </p:spPr>
        <p:txBody>
          <a:bodyPr wrap="square" lIns="0" tIns="0" rIns="0" bIns="0" rtlCol="0" anchor="ctr"/>
          <a:lstStyle/>
          <a:p>
            <a:pPr marL="0" indent="0" algn="just">
              <a:buNone/>
            </a:pPr>
            <a:r>
              <a:rPr lang="en-US" sz="1200" dirty="0">
                <a:latin typeface="Unesa" pitchFamily="50" charset="0"/>
              </a:rPr>
              <a:t>PayPal leads transaction volume at 24,711, yet all 4 payments methods perform almost equally with only a 0,86% gap between the highest (PayPal) and lowest (Debit Card). This suggests customers show no strong preference toward any single payment method, indicating that all payment channels are equally accessible and utilized</a:t>
            </a:r>
          </a:p>
        </p:txBody>
      </p:sp>
      <p:graphicFrame>
        <p:nvGraphicFramePr>
          <p:cNvPr id="21" name="Chart 20">
            <a:extLst>
              <a:ext uri="{FF2B5EF4-FFF2-40B4-BE49-F238E27FC236}">
                <a16:creationId xmlns:a16="http://schemas.microsoft.com/office/drawing/2014/main" id="{90EDC472-F49C-49BB-8750-4D28066ABD44}"/>
              </a:ext>
            </a:extLst>
          </p:cNvPr>
          <p:cNvGraphicFramePr>
            <a:graphicFrameLocks/>
          </p:cNvGraphicFramePr>
          <p:nvPr>
            <p:extLst>
              <p:ext uri="{D42A27DB-BD31-4B8C-83A1-F6EECF244321}">
                <p14:modId xmlns:p14="http://schemas.microsoft.com/office/powerpoint/2010/main" val="168019969"/>
              </p:ext>
            </p:extLst>
          </p:nvPr>
        </p:nvGraphicFramePr>
        <p:xfrm>
          <a:off x="78105" y="1000124"/>
          <a:ext cx="5531739" cy="2560320"/>
        </p:xfrm>
        <a:graphic>
          <a:graphicData uri="http://schemas.openxmlformats.org/drawingml/2006/chart">
            <c:chart xmlns:c="http://schemas.openxmlformats.org/drawingml/2006/chart" xmlns:r="http://schemas.openxmlformats.org/officeDocument/2006/relationships" r:id="rId4"/>
          </a:graphicData>
        </a:graphic>
      </p:graphicFrame>
      <p:sp>
        <p:nvSpPr>
          <p:cNvPr id="22" name="Shape 3">
            <a:extLst>
              <a:ext uri="{FF2B5EF4-FFF2-40B4-BE49-F238E27FC236}">
                <a16:creationId xmlns:a16="http://schemas.microsoft.com/office/drawing/2014/main" id="{DF5233DE-ABAE-421B-95A2-10BCC59B4850}"/>
              </a:ext>
            </a:extLst>
          </p:cNvPr>
          <p:cNvSpPr/>
          <p:nvPr/>
        </p:nvSpPr>
        <p:spPr>
          <a:xfrm>
            <a:off x="5935980" y="3086100"/>
            <a:ext cx="3017520" cy="82296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23" name="Shape 4">
            <a:extLst>
              <a:ext uri="{FF2B5EF4-FFF2-40B4-BE49-F238E27FC236}">
                <a16:creationId xmlns:a16="http://schemas.microsoft.com/office/drawing/2014/main" id="{20C0975F-0721-4884-823C-89EB4898BD43}"/>
              </a:ext>
            </a:extLst>
          </p:cNvPr>
          <p:cNvSpPr/>
          <p:nvPr/>
        </p:nvSpPr>
        <p:spPr>
          <a:xfrm>
            <a:off x="5935980" y="3086100"/>
            <a:ext cx="54864" cy="822960"/>
          </a:xfrm>
          <a:prstGeom prst="rect">
            <a:avLst/>
          </a:prstGeom>
          <a:solidFill>
            <a:srgbClr val="0D9488"/>
          </a:solidFill>
          <a:ln/>
        </p:spPr>
      </p:sp>
      <p:sp>
        <p:nvSpPr>
          <p:cNvPr id="24" name="Text 5">
            <a:extLst>
              <a:ext uri="{FF2B5EF4-FFF2-40B4-BE49-F238E27FC236}">
                <a16:creationId xmlns:a16="http://schemas.microsoft.com/office/drawing/2014/main" id="{14278136-86C6-47F4-8142-50CD71D4AD10}"/>
              </a:ext>
            </a:extLst>
          </p:cNvPr>
          <p:cNvSpPr/>
          <p:nvPr/>
        </p:nvSpPr>
        <p:spPr>
          <a:xfrm>
            <a:off x="6118860" y="3076202"/>
            <a:ext cx="2651760" cy="256032"/>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Transaction Gap</a:t>
            </a:r>
          </a:p>
        </p:txBody>
      </p:sp>
      <p:sp>
        <p:nvSpPr>
          <p:cNvPr id="25" name="Text 6">
            <a:extLst>
              <a:ext uri="{FF2B5EF4-FFF2-40B4-BE49-F238E27FC236}">
                <a16:creationId xmlns:a16="http://schemas.microsoft.com/office/drawing/2014/main" id="{72259E60-F502-4516-93AC-0A441A96197D}"/>
              </a:ext>
            </a:extLst>
          </p:cNvPr>
          <p:cNvSpPr/>
          <p:nvPr/>
        </p:nvSpPr>
        <p:spPr>
          <a:xfrm>
            <a:off x="6118860" y="3304032"/>
            <a:ext cx="2651760" cy="347472"/>
          </a:xfrm>
          <a:prstGeom prst="rect">
            <a:avLst/>
          </a:prstGeom>
          <a:noFill/>
          <a:ln/>
        </p:spPr>
        <p:txBody>
          <a:bodyPr wrap="square" lIns="0" tIns="0" rIns="0" bIns="0" rtlCol="0" anchor="ctr"/>
          <a:lstStyle/>
          <a:p>
            <a:pPr marL="0" indent="0">
              <a:buNone/>
            </a:pPr>
            <a:r>
              <a:rPr lang="en-US" sz="1600" b="1" dirty="0"/>
              <a:t>0.86% (213 transactions)</a:t>
            </a:r>
          </a:p>
        </p:txBody>
      </p:sp>
      <p:sp>
        <p:nvSpPr>
          <p:cNvPr id="26" name="Text 7">
            <a:extLst>
              <a:ext uri="{FF2B5EF4-FFF2-40B4-BE49-F238E27FC236}">
                <a16:creationId xmlns:a16="http://schemas.microsoft.com/office/drawing/2014/main" id="{934CB619-47A3-42DA-A3BA-33DBD46EA280}"/>
              </a:ext>
            </a:extLst>
          </p:cNvPr>
          <p:cNvSpPr/>
          <p:nvPr/>
        </p:nvSpPr>
        <p:spPr>
          <a:xfrm>
            <a:off x="6118860" y="3641590"/>
            <a:ext cx="2651760" cy="274320"/>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Armed Forces </a:t>
            </a:r>
          </a:p>
        </p:txBody>
      </p:sp>
      <p:sp>
        <p:nvSpPr>
          <p:cNvPr id="27" name="Shape 13">
            <a:extLst>
              <a:ext uri="{FF2B5EF4-FFF2-40B4-BE49-F238E27FC236}">
                <a16:creationId xmlns:a16="http://schemas.microsoft.com/office/drawing/2014/main" id="{3A4DE10B-9AEF-48E2-9478-9C65D5CAB9A6}"/>
              </a:ext>
            </a:extLst>
          </p:cNvPr>
          <p:cNvSpPr/>
          <p:nvPr/>
        </p:nvSpPr>
        <p:spPr>
          <a:xfrm>
            <a:off x="5935980" y="4147185"/>
            <a:ext cx="3017520" cy="82296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28" name="Shape 14">
            <a:extLst>
              <a:ext uri="{FF2B5EF4-FFF2-40B4-BE49-F238E27FC236}">
                <a16:creationId xmlns:a16="http://schemas.microsoft.com/office/drawing/2014/main" id="{9D502346-E2AC-4D1F-B35D-981C9D02B9C6}"/>
              </a:ext>
            </a:extLst>
          </p:cNvPr>
          <p:cNvSpPr/>
          <p:nvPr/>
        </p:nvSpPr>
        <p:spPr>
          <a:xfrm>
            <a:off x="5935980" y="4147185"/>
            <a:ext cx="54864" cy="822960"/>
          </a:xfrm>
          <a:prstGeom prst="rect">
            <a:avLst/>
          </a:prstGeom>
          <a:solidFill>
            <a:srgbClr val="FF0000"/>
          </a:solidFill>
          <a:ln>
            <a:solidFill>
              <a:srgbClr val="FF0000"/>
            </a:solidFill>
          </a:ln>
        </p:spPr>
      </p:sp>
      <p:sp>
        <p:nvSpPr>
          <p:cNvPr id="30" name="Text 15">
            <a:extLst>
              <a:ext uri="{FF2B5EF4-FFF2-40B4-BE49-F238E27FC236}">
                <a16:creationId xmlns:a16="http://schemas.microsoft.com/office/drawing/2014/main" id="{CCA7B603-2D7E-4133-969A-D41B022CD2D1}"/>
              </a:ext>
            </a:extLst>
          </p:cNvPr>
          <p:cNvSpPr/>
          <p:nvPr/>
        </p:nvSpPr>
        <p:spPr>
          <a:xfrm>
            <a:off x="6118860" y="4140335"/>
            <a:ext cx="2651760" cy="256032"/>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Total Transactions</a:t>
            </a:r>
          </a:p>
        </p:txBody>
      </p:sp>
      <p:sp>
        <p:nvSpPr>
          <p:cNvPr id="31" name="Text 16">
            <a:extLst>
              <a:ext uri="{FF2B5EF4-FFF2-40B4-BE49-F238E27FC236}">
                <a16:creationId xmlns:a16="http://schemas.microsoft.com/office/drawing/2014/main" id="{8F010144-7C40-4B49-9FE1-9498F67D2C41}"/>
              </a:ext>
            </a:extLst>
          </p:cNvPr>
          <p:cNvSpPr/>
          <p:nvPr/>
        </p:nvSpPr>
        <p:spPr>
          <a:xfrm>
            <a:off x="6118860" y="4406265"/>
            <a:ext cx="2651760" cy="256032"/>
          </a:xfrm>
          <a:prstGeom prst="rect">
            <a:avLst/>
          </a:prstGeom>
          <a:noFill/>
          <a:ln/>
        </p:spPr>
        <p:txBody>
          <a:bodyPr wrap="square" lIns="0" tIns="0" rIns="0" bIns="0" rtlCol="0" anchor="ctr"/>
          <a:lstStyle/>
          <a:p>
            <a:pPr marL="0" indent="0">
              <a:buNone/>
            </a:pPr>
            <a:r>
              <a:rPr lang="en-US" sz="1600" b="1" dirty="0"/>
              <a:t>98,501 transactions</a:t>
            </a:r>
          </a:p>
        </p:txBody>
      </p:sp>
      <p:sp>
        <p:nvSpPr>
          <p:cNvPr id="32" name="Text 17">
            <a:extLst>
              <a:ext uri="{FF2B5EF4-FFF2-40B4-BE49-F238E27FC236}">
                <a16:creationId xmlns:a16="http://schemas.microsoft.com/office/drawing/2014/main" id="{D1BFD122-DDA9-40E6-A149-DFD21521D511}"/>
              </a:ext>
            </a:extLst>
          </p:cNvPr>
          <p:cNvSpPr/>
          <p:nvPr/>
        </p:nvSpPr>
        <p:spPr>
          <a:xfrm>
            <a:off x="6118860" y="4691633"/>
            <a:ext cx="2651760" cy="274320"/>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All Payment Method</a:t>
            </a:r>
          </a:p>
        </p:txBody>
      </p:sp>
    </p:spTree>
    <p:extLst>
      <p:ext uri="{BB962C8B-B14F-4D97-AF65-F5344CB8AC3E}">
        <p14:creationId xmlns:p14="http://schemas.microsoft.com/office/powerpoint/2010/main" val="30997424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20097"/>
            <a:ext cx="9144000" cy="822960"/>
          </a:xfrm>
          <a:prstGeom prst="rect">
            <a:avLst/>
          </a:prstGeom>
          <a:solidFill>
            <a:srgbClr val="0F2044"/>
          </a:solidFill>
          <a:ln/>
        </p:spPr>
        <p:txBody>
          <a:bodyPr/>
          <a:lstStyle/>
          <a:p>
            <a:endParaRPr lang="en-US" dirty="0"/>
          </a:p>
        </p:txBody>
      </p:sp>
      <p:sp>
        <p:nvSpPr>
          <p:cNvPr id="3" name="Text 1"/>
          <p:cNvSpPr/>
          <p:nvPr/>
        </p:nvSpPr>
        <p:spPr>
          <a:xfrm>
            <a:off x="152400" y="50952"/>
            <a:ext cx="8801100" cy="640080"/>
          </a:xfrm>
          <a:prstGeom prst="rect">
            <a:avLst/>
          </a:prstGeom>
          <a:noFill/>
          <a:ln/>
        </p:spPr>
        <p:txBody>
          <a:bodyPr wrap="square" lIns="0" tIns="0" rIns="0" bIns="0" rtlCol="0" anchor="ctr"/>
          <a:lstStyle/>
          <a:p>
            <a:r>
              <a:rPr lang="en-US" sz="1400" b="1" dirty="0">
                <a:solidFill>
                  <a:srgbClr val="FFFFFF"/>
                </a:solidFill>
              </a:rPr>
              <a:t>05.a | All 4 payment methods generate almost equal revenue, with PayPal leading at $6.14M</a:t>
            </a:r>
            <a:r>
              <a:rPr lang="en-US" sz="1400" dirty="0">
                <a:solidFill>
                  <a:schemeClr val="bg1"/>
                </a:solidFill>
              </a:rPr>
              <a:t>—Only 0,49% gap from credit card</a:t>
            </a:r>
            <a:endParaRPr lang="en-US" sz="1400" b="1" dirty="0">
              <a:solidFill>
                <a:schemeClr val="bg1"/>
              </a:solidFill>
            </a:endParaRPr>
          </a:p>
        </p:txBody>
      </p:sp>
      <p:graphicFrame>
        <p:nvGraphicFramePr>
          <p:cNvPr id="5" name="Chart 0"/>
          <p:cNvGraphicFramePr/>
          <p:nvPr/>
        </p:nvGraphicFramePr>
        <p:xfrm>
          <a:off x="274320" y="1234440"/>
          <a:ext cx="5303520" cy="2862072"/>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935980" y="1036727"/>
            <a:ext cx="3017520" cy="82296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7" name="Shape 4"/>
          <p:cNvSpPr/>
          <p:nvPr/>
        </p:nvSpPr>
        <p:spPr>
          <a:xfrm>
            <a:off x="5935980" y="1036727"/>
            <a:ext cx="54864" cy="822960"/>
          </a:xfrm>
          <a:prstGeom prst="rect">
            <a:avLst/>
          </a:prstGeom>
          <a:solidFill>
            <a:srgbClr val="0D9488"/>
          </a:solidFill>
          <a:ln/>
        </p:spPr>
      </p:sp>
      <p:sp>
        <p:nvSpPr>
          <p:cNvPr id="8" name="Text 5"/>
          <p:cNvSpPr/>
          <p:nvPr/>
        </p:nvSpPr>
        <p:spPr>
          <a:xfrm>
            <a:off x="6118860" y="1026829"/>
            <a:ext cx="2651760" cy="256032"/>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Top Payment Revenue</a:t>
            </a:r>
          </a:p>
        </p:txBody>
      </p:sp>
      <p:sp>
        <p:nvSpPr>
          <p:cNvPr id="9" name="Text 6"/>
          <p:cNvSpPr/>
          <p:nvPr/>
        </p:nvSpPr>
        <p:spPr>
          <a:xfrm>
            <a:off x="6118860" y="1254659"/>
            <a:ext cx="2651760" cy="347472"/>
          </a:xfrm>
          <a:prstGeom prst="rect">
            <a:avLst/>
          </a:prstGeom>
          <a:noFill/>
          <a:ln/>
        </p:spPr>
        <p:txBody>
          <a:bodyPr wrap="square" lIns="0" tIns="0" rIns="0" bIns="0" rtlCol="0" anchor="ctr"/>
          <a:lstStyle/>
          <a:p>
            <a:pPr marL="0" indent="0">
              <a:buNone/>
            </a:pPr>
            <a:r>
              <a:rPr lang="en-US" sz="1600" b="1" dirty="0"/>
              <a:t>$6.14 M</a:t>
            </a:r>
          </a:p>
        </p:txBody>
      </p:sp>
      <p:sp>
        <p:nvSpPr>
          <p:cNvPr id="10" name="Text 7"/>
          <p:cNvSpPr/>
          <p:nvPr/>
        </p:nvSpPr>
        <p:spPr>
          <a:xfrm>
            <a:off x="6118860" y="1592217"/>
            <a:ext cx="2651760" cy="274320"/>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PayPal</a:t>
            </a:r>
          </a:p>
        </p:txBody>
      </p:sp>
      <p:sp>
        <p:nvSpPr>
          <p:cNvPr id="16" name="Shape 13"/>
          <p:cNvSpPr/>
          <p:nvPr/>
        </p:nvSpPr>
        <p:spPr>
          <a:xfrm>
            <a:off x="5935980" y="2097812"/>
            <a:ext cx="3017520" cy="82296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17" name="Shape 14"/>
          <p:cNvSpPr/>
          <p:nvPr/>
        </p:nvSpPr>
        <p:spPr>
          <a:xfrm>
            <a:off x="5935980" y="2097812"/>
            <a:ext cx="54864" cy="822960"/>
          </a:xfrm>
          <a:prstGeom prst="rect">
            <a:avLst/>
          </a:prstGeom>
          <a:solidFill>
            <a:srgbClr val="FF0000"/>
          </a:solidFill>
          <a:ln>
            <a:solidFill>
              <a:srgbClr val="FF0000"/>
            </a:solidFill>
          </a:ln>
        </p:spPr>
      </p:sp>
      <p:sp>
        <p:nvSpPr>
          <p:cNvPr id="18" name="Text 15"/>
          <p:cNvSpPr/>
          <p:nvPr/>
        </p:nvSpPr>
        <p:spPr>
          <a:xfrm>
            <a:off x="6118860" y="2090962"/>
            <a:ext cx="2651760" cy="256032"/>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Revenue Gap</a:t>
            </a:r>
          </a:p>
        </p:txBody>
      </p:sp>
      <p:sp>
        <p:nvSpPr>
          <p:cNvPr id="19" name="Text 16"/>
          <p:cNvSpPr/>
          <p:nvPr/>
        </p:nvSpPr>
        <p:spPr>
          <a:xfrm>
            <a:off x="6118860" y="2356892"/>
            <a:ext cx="2651760" cy="256032"/>
          </a:xfrm>
          <a:prstGeom prst="rect">
            <a:avLst/>
          </a:prstGeom>
          <a:noFill/>
          <a:ln/>
        </p:spPr>
        <p:txBody>
          <a:bodyPr wrap="square" lIns="0" tIns="0" rIns="0" bIns="0" rtlCol="0" anchor="ctr"/>
          <a:lstStyle/>
          <a:p>
            <a:pPr marL="0" indent="0">
              <a:buNone/>
            </a:pPr>
            <a:r>
              <a:rPr lang="en-US" sz="1600" b="1" dirty="0"/>
              <a:t>$29,987 (0,49%)</a:t>
            </a:r>
          </a:p>
        </p:txBody>
      </p:sp>
      <p:sp>
        <p:nvSpPr>
          <p:cNvPr id="20" name="Text 17"/>
          <p:cNvSpPr/>
          <p:nvPr/>
        </p:nvSpPr>
        <p:spPr>
          <a:xfrm>
            <a:off x="6118860" y="2642260"/>
            <a:ext cx="2651760" cy="274320"/>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PayPal to Credit Card</a:t>
            </a:r>
          </a:p>
        </p:txBody>
      </p:sp>
      <p:sp>
        <p:nvSpPr>
          <p:cNvPr id="35" name="Shape 3">
            <a:extLst>
              <a:ext uri="{FF2B5EF4-FFF2-40B4-BE49-F238E27FC236}">
                <a16:creationId xmlns:a16="http://schemas.microsoft.com/office/drawing/2014/main" id="{910C3358-1D7A-4BDE-9D38-215781253665}"/>
              </a:ext>
            </a:extLst>
          </p:cNvPr>
          <p:cNvSpPr/>
          <p:nvPr/>
        </p:nvSpPr>
        <p:spPr>
          <a:xfrm>
            <a:off x="78104" y="3641626"/>
            <a:ext cx="5531740" cy="1410433"/>
          </a:xfrm>
          <a:prstGeom prst="rect">
            <a:avLst/>
          </a:prstGeom>
          <a:solidFill>
            <a:srgbClr val="FFFFFF"/>
          </a:solidFill>
          <a:ln w="6350">
            <a:solidFill>
              <a:srgbClr val="E2E8F0"/>
            </a:solidFill>
            <a:prstDash val="solid"/>
          </a:ln>
          <a:effectLst>
            <a:outerShdw blurRad="50800" dist="38100" dir="2700000" algn="tl" rotWithShape="0">
              <a:prstClr val="black">
                <a:alpha val="40000"/>
              </a:prstClr>
            </a:outerShdw>
          </a:effectLst>
        </p:spPr>
        <p:txBody>
          <a:bodyPr/>
          <a:lstStyle/>
          <a:p>
            <a:endParaRPr lang="en-US" dirty="0">
              <a:latin typeface="Unesa" pitchFamily="50" charset="0"/>
            </a:endParaRPr>
          </a:p>
        </p:txBody>
      </p:sp>
      <p:sp>
        <p:nvSpPr>
          <p:cNvPr id="37" name="Text 5">
            <a:extLst>
              <a:ext uri="{FF2B5EF4-FFF2-40B4-BE49-F238E27FC236}">
                <a16:creationId xmlns:a16="http://schemas.microsoft.com/office/drawing/2014/main" id="{027D02F0-14CF-40D2-A823-DE755DC81BCF}"/>
              </a:ext>
            </a:extLst>
          </p:cNvPr>
          <p:cNvSpPr/>
          <p:nvPr/>
        </p:nvSpPr>
        <p:spPr>
          <a:xfrm>
            <a:off x="152400" y="3653028"/>
            <a:ext cx="2651760" cy="256032"/>
          </a:xfrm>
          <a:prstGeom prst="rect">
            <a:avLst/>
          </a:prstGeom>
          <a:noFill/>
          <a:ln/>
        </p:spPr>
        <p:txBody>
          <a:bodyPr wrap="square" lIns="0" tIns="0" rIns="0" bIns="0" rtlCol="0" anchor="ctr"/>
          <a:lstStyle/>
          <a:p>
            <a:pPr marL="0" indent="0">
              <a:buNone/>
            </a:pPr>
            <a:r>
              <a:rPr lang="en-US" sz="1000" dirty="0"/>
              <a:t>Quick Insight</a:t>
            </a:r>
          </a:p>
        </p:txBody>
      </p:sp>
      <p:sp>
        <p:nvSpPr>
          <p:cNvPr id="38" name="Text 5">
            <a:extLst>
              <a:ext uri="{FF2B5EF4-FFF2-40B4-BE49-F238E27FC236}">
                <a16:creationId xmlns:a16="http://schemas.microsoft.com/office/drawing/2014/main" id="{61107D64-DA79-4E03-A89A-EF3F84B6A55F}"/>
              </a:ext>
            </a:extLst>
          </p:cNvPr>
          <p:cNvSpPr/>
          <p:nvPr/>
        </p:nvSpPr>
        <p:spPr>
          <a:xfrm>
            <a:off x="146304" y="3970815"/>
            <a:ext cx="5303520" cy="918561"/>
          </a:xfrm>
          <a:prstGeom prst="rect">
            <a:avLst/>
          </a:prstGeom>
          <a:noFill/>
          <a:ln/>
        </p:spPr>
        <p:txBody>
          <a:bodyPr wrap="square" lIns="0" tIns="0" rIns="0" bIns="0" rtlCol="0" anchor="ctr"/>
          <a:lstStyle/>
          <a:p>
            <a:pPr marL="0" indent="0" algn="just">
              <a:buNone/>
            </a:pPr>
            <a:r>
              <a:rPr lang="en-US" sz="1200" dirty="0">
                <a:latin typeface="Unesa" pitchFamily="50" charset="0"/>
              </a:rPr>
              <a:t>PayPal leads revenue generated at $6.14M, yet all 4 payment methods perform almost equally with only 0,49% gap between the highest (</a:t>
            </a:r>
            <a:r>
              <a:rPr lang="en-US" sz="1200" dirty="0" err="1">
                <a:latin typeface="Unesa" pitchFamily="50" charset="0"/>
              </a:rPr>
              <a:t>Paypal</a:t>
            </a:r>
            <a:r>
              <a:rPr lang="en-US" sz="1200" dirty="0">
                <a:latin typeface="Unesa" pitchFamily="50" charset="0"/>
              </a:rPr>
              <a:t>) and lowest (Credit Card). This suggests customers show no strong preference toward any single payment method, indicating that all payment channels generate revenue equally</a:t>
            </a:r>
          </a:p>
        </p:txBody>
      </p:sp>
      <p:sp>
        <p:nvSpPr>
          <p:cNvPr id="22" name="Shape 3">
            <a:extLst>
              <a:ext uri="{FF2B5EF4-FFF2-40B4-BE49-F238E27FC236}">
                <a16:creationId xmlns:a16="http://schemas.microsoft.com/office/drawing/2014/main" id="{DF5233DE-ABAE-421B-95A2-10BCC59B4850}"/>
              </a:ext>
            </a:extLst>
          </p:cNvPr>
          <p:cNvSpPr/>
          <p:nvPr/>
        </p:nvSpPr>
        <p:spPr>
          <a:xfrm>
            <a:off x="5935980" y="3086100"/>
            <a:ext cx="3017520" cy="82296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23" name="Shape 4">
            <a:extLst>
              <a:ext uri="{FF2B5EF4-FFF2-40B4-BE49-F238E27FC236}">
                <a16:creationId xmlns:a16="http://schemas.microsoft.com/office/drawing/2014/main" id="{20C0975F-0721-4884-823C-89EB4898BD43}"/>
              </a:ext>
            </a:extLst>
          </p:cNvPr>
          <p:cNvSpPr/>
          <p:nvPr/>
        </p:nvSpPr>
        <p:spPr>
          <a:xfrm>
            <a:off x="5935980" y="3086100"/>
            <a:ext cx="54864" cy="822960"/>
          </a:xfrm>
          <a:prstGeom prst="rect">
            <a:avLst/>
          </a:prstGeom>
          <a:solidFill>
            <a:srgbClr val="0D9488"/>
          </a:solidFill>
          <a:ln/>
        </p:spPr>
      </p:sp>
      <p:sp>
        <p:nvSpPr>
          <p:cNvPr id="24" name="Text 5">
            <a:extLst>
              <a:ext uri="{FF2B5EF4-FFF2-40B4-BE49-F238E27FC236}">
                <a16:creationId xmlns:a16="http://schemas.microsoft.com/office/drawing/2014/main" id="{14278136-86C6-47F4-8142-50CD71D4AD10}"/>
              </a:ext>
            </a:extLst>
          </p:cNvPr>
          <p:cNvSpPr/>
          <p:nvPr/>
        </p:nvSpPr>
        <p:spPr>
          <a:xfrm>
            <a:off x="6118860" y="3076202"/>
            <a:ext cx="2651760" cy="256032"/>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Most Used Method</a:t>
            </a:r>
          </a:p>
        </p:txBody>
      </p:sp>
      <p:sp>
        <p:nvSpPr>
          <p:cNvPr id="25" name="Text 6">
            <a:extLst>
              <a:ext uri="{FF2B5EF4-FFF2-40B4-BE49-F238E27FC236}">
                <a16:creationId xmlns:a16="http://schemas.microsoft.com/office/drawing/2014/main" id="{72259E60-F502-4516-93AC-0A441A96197D}"/>
              </a:ext>
            </a:extLst>
          </p:cNvPr>
          <p:cNvSpPr/>
          <p:nvPr/>
        </p:nvSpPr>
        <p:spPr>
          <a:xfrm>
            <a:off x="6118860" y="3304032"/>
            <a:ext cx="2651760" cy="347472"/>
          </a:xfrm>
          <a:prstGeom prst="rect">
            <a:avLst/>
          </a:prstGeom>
          <a:noFill/>
          <a:ln/>
        </p:spPr>
        <p:txBody>
          <a:bodyPr wrap="square" lIns="0" tIns="0" rIns="0" bIns="0" rtlCol="0" anchor="ctr"/>
          <a:lstStyle/>
          <a:p>
            <a:pPr marL="0" indent="0">
              <a:buNone/>
            </a:pPr>
            <a:r>
              <a:rPr lang="en-US" sz="1600" b="1" dirty="0"/>
              <a:t>24,711 transactions</a:t>
            </a:r>
          </a:p>
        </p:txBody>
      </p:sp>
      <p:sp>
        <p:nvSpPr>
          <p:cNvPr id="26" name="Text 7">
            <a:extLst>
              <a:ext uri="{FF2B5EF4-FFF2-40B4-BE49-F238E27FC236}">
                <a16:creationId xmlns:a16="http://schemas.microsoft.com/office/drawing/2014/main" id="{934CB619-47A3-42DA-A3BA-33DBD46EA280}"/>
              </a:ext>
            </a:extLst>
          </p:cNvPr>
          <p:cNvSpPr/>
          <p:nvPr/>
        </p:nvSpPr>
        <p:spPr>
          <a:xfrm>
            <a:off x="6118860" y="3641590"/>
            <a:ext cx="2651760" cy="274320"/>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PayPal</a:t>
            </a:r>
          </a:p>
        </p:txBody>
      </p:sp>
      <p:sp>
        <p:nvSpPr>
          <p:cNvPr id="27" name="Shape 13">
            <a:extLst>
              <a:ext uri="{FF2B5EF4-FFF2-40B4-BE49-F238E27FC236}">
                <a16:creationId xmlns:a16="http://schemas.microsoft.com/office/drawing/2014/main" id="{3A4DE10B-9AEF-48E2-9478-9C65D5CAB9A6}"/>
              </a:ext>
            </a:extLst>
          </p:cNvPr>
          <p:cNvSpPr/>
          <p:nvPr/>
        </p:nvSpPr>
        <p:spPr>
          <a:xfrm>
            <a:off x="5935980" y="4147185"/>
            <a:ext cx="3017520" cy="82296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US" dirty="0"/>
          </a:p>
        </p:txBody>
      </p:sp>
      <p:sp>
        <p:nvSpPr>
          <p:cNvPr id="28" name="Shape 14">
            <a:extLst>
              <a:ext uri="{FF2B5EF4-FFF2-40B4-BE49-F238E27FC236}">
                <a16:creationId xmlns:a16="http://schemas.microsoft.com/office/drawing/2014/main" id="{9D502346-E2AC-4D1F-B35D-981C9D02B9C6}"/>
              </a:ext>
            </a:extLst>
          </p:cNvPr>
          <p:cNvSpPr/>
          <p:nvPr/>
        </p:nvSpPr>
        <p:spPr>
          <a:xfrm>
            <a:off x="5935980" y="4147185"/>
            <a:ext cx="54864" cy="822960"/>
          </a:xfrm>
          <a:prstGeom prst="rect">
            <a:avLst/>
          </a:prstGeom>
          <a:solidFill>
            <a:srgbClr val="FF0000"/>
          </a:solidFill>
          <a:ln>
            <a:solidFill>
              <a:srgbClr val="FF0000"/>
            </a:solidFill>
          </a:ln>
        </p:spPr>
      </p:sp>
      <p:sp>
        <p:nvSpPr>
          <p:cNvPr id="30" name="Text 15">
            <a:extLst>
              <a:ext uri="{FF2B5EF4-FFF2-40B4-BE49-F238E27FC236}">
                <a16:creationId xmlns:a16="http://schemas.microsoft.com/office/drawing/2014/main" id="{CCA7B603-2D7E-4133-969A-D41B022CD2D1}"/>
              </a:ext>
            </a:extLst>
          </p:cNvPr>
          <p:cNvSpPr/>
          <p:nvPr/>
        </p:nvSpPr>
        <p:spPr>
          <a:xfrm>
            <a:off x="6118860" y="4140335"/>
            <a:ext cx="2651760" cy="256032"/>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Total Revenue</a:t>
            </a:r>
          </a:p>
        </p:txBody>
      </p:sp>
      <p:sp>
        <p:nvSpPr>
          <p:cNvPr id="31" name="Text 16">
            <a:extLst>
              <a:ext uri="{FF2B5EF4-FFF2-40B4-BE49-F238E27FC236}">
                <a16:creationId xmlns:a16="http://schemas.microsoft.com/office/drawing/2014/main" id="{8F010144-7C40-4B49-9FE1-9498F67D2C41}"/>
              </a:ext>
            </a:extLst>
          </p:cNvPr>
          <p:cNvSpPr/>
          <p:nvPr/>
        </p:nvSpPr>
        <p:spPr>
          <a:xfrm>
            <a:off x="6118860" y="4406265"/>
            <a:ext cx="2651760" cy="256032"/>
          </a:xfrm>
          <a:prstGeom prst="rect">
            <a:avLst/>
          </a:prstGeom>
          <a:noFill/>
          <a:ln/>
        </p:spPr>
        <p:txBody>
          <a:bodyPr wrap="square" lIns="0" tIns="0" rIns="0" bIns="0" rtlCol="0" anchor="ctr"/>
          <a:lstStyle/>
          <a:p>
            <a:pPr marL="0" indent="0">
              <a:buNone/>
            </a:pPr>
            <a:r>
              <a:rPr lang="en-US" sz="1600" b="1" dirty="0"/>
              <a:t>$24.47 M</a:t>
            </a:r>
          </a:p>
        </p:txBody>
      </p:sp>
      <p:sp>
        <p:nvSpPr>
          <p:cNvPr id="32" name="Text 17">
            <a:extLst>
              <a:ext uri="{FF2B5EF4-FFF2-40B4-BE49-F238E27FC236}">
                <a16:creationId xmlns:a16="http://schemas.microsoft.com/office/drawing/2014/main" id="{D1BFD122-DDA9-40E6-A149-DFD21521D511}"/>
              </a:ext>
            </a:extLst>
          </p:cNvPr>
          <p:cNvSpPr/>
          <p:nvPr/>
        </p:nvSpPr>
        <p:spPr>
          <a:xfrm>
            <a:off x="6118860" y="4691633"/>
            <a:ext cx="2651760" cy="274320"/>
          </a:xfrm>
          <a:prstGeom prst="rect">
            <a:avLst/>
          </a:prstGeom>
          <a:noFill/>
          <a:ln/>
        </p:spPr>
        <p:txBody>
          <a:bodyPr wrap="square" lIns="0" tIns="0" rIns="0" bIns="0" rtlCol="0" anchor="ctr"/>
          <a:lstStyle/>
          <a:p>
            <a:pPr marL="0" indent="0">
              <a:buNone/>
            </a:pPr>
            <a:r>
              <a:rPr lang="en-US" sz="1000" dirty="0">
                <a:solidFill>
                  <a:schemeClr val="bg2">
                    <a:lumMod val="50000"/>
                  </a:schemeClr>
                </a:solidFill>
              </a:rPr>
              <a:t>All Payment Method</a:t>
            </a:r>
          </a:p>
        </p:txBody>
      </p:sp>
      <p:graphicFrame>
        <p:nvGraphicFramePr>
          <p:cNvPr id="33" name="Chart 32">
            <a:extLst>
              <a:ext uri="{FF2B5EF4-FFF2-40B4-BE49-F238E27FC236}">
                <a16:creationId xmlns:a16="http://schemas.microsoft.com/office/drawing/2014/main" id="{323D2D1E-207D-41BD-93C2-C677E10F1D54}"/>
              </a:ext>
            </a:extLst>
          </p:cNvPr>
          <p:cNvGraphicFramePr>
            <a:graphicFrameLocks/>
          </p:cNvGraphicFramePr>
          <p:nvPr>
            <p:extLst>
              <p:ext uri="{D42A27DB-BD31-4B8C-83A1-F6EECF244321}">
                <p14:modId xmlns:p14="http://schemas.microsoft.com/office/powerpoint/2010/main" val="4274875827"/>
              </p:ext>
            </p:extLst>
          </p:nvPr>
        </p:nvGraphicFramePr>
        <p:xfrm>
          <a:off x="72111" y="931321"/>
          <a:ext cx="5537734" cy="26517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964216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044"/>
          </a:solidFill>
          <a:ln/>
        </p:spPr>
        <p:txBody>
          <a:bodyPr/>
          <a:lstStyle/>
          <a:p>
            <a:endParaRPr lang="en-US" dirty="0"/>
          </a:p>
        </p:txBody>
      </p:sp>
      <p:sp>
        <p:nvSpPr>
          <p:cNvPr id="3" name="Text 1"/>
          <p:cNvSpPr/>
          <p:nvPr/>
        </p:nvSpPr>
        <p:spPr>
          <a:xfrm>
            <a:off x="180753" y="91440"/>
            <a:ext cx="8688927" cy="640080"/>
          </a:xfrm>
          <a:prstGeom prst="rect">
            <a:avLst/>
          </a:prstGeom>
          <a:noFill/>
          <a:ln/>
        </p:spPr>
        <p:txBody>
          <a:bodyPr wrap="square" lIns="0" tIns="0" rIns="0" bIns="0" rtlCol="0" anchor="ctr"/>
          <a:lstStyle/>
          <a:p>
            <a:pPr marL="0" indent="0">
              <a:buNone/>
            </a:pPr>
            <a:r>
              <a:rPr lang="en-US" sz="2000" b="1" dirty="0">
                <a:solidFill>
                  <a:srgbClr val="FFFFFF"/>
                </a:solidFill>
              </a:rPr>
              <a:t>05.b  | Payment Method distribution is nearly identical across all 4 methods, even Avg transaction value shows no meaningful difference</a:t>
            </a:r>
            <a:endParaRPr lang="en-US" sz="2000" dirty="0"/>
          </a:p>
        </p:txBody>
      </p:sp>
      <p:sp>
        <p:nvSpPr>
          <p:cNvPr id="6" name="Shape 3"/>
          <p:cNvSpPr/>
          <p:nvPr/>
        </p:nvSpPr>
        <p:spPr>
          <a:xfrm>
            <a:off x="4610288" y="1188720"/>
            <a:ext cx="4389120" cy="841248"/>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7" name="Shape 4"/>
          <p:cNvSpPr/>
          <p:nvPr/>
        </p:nvSpPr>
        <p:spPr>
          <a:xfrm>
            <a:off x="4610288" y="1188720"/>
            <a:ext cx="54864" cy="841248"/>
          </a:xfrm>
          <a:prstGeom prst="rect">
            <a:avLst/>
          </a:prstGeom>
          <a:solidFill>
            <a:srgbClr val="0D9488"/>
          </a:solidFill>
          <a:ln/>
        </p:spPr>
      </p:sp>
      <p:sp>
        <p:nvSpPr>
          <p:cNvPr id="8" name="Text 5"/>
          <p:cNvSpPr/>
          <p:nvPr/>
        </p:nvSpPr>
        <p:spPr>
          <a:xfrm>
            <a:off x="4774880" y="1261872"/>
            <a:ext cx="1097280" cy="274320"/>
          </a:xfrm>
          <a:prstGeom prst="rect">
            <a:avLst/>
          </a:prstGeom>
          <a:noFill/>
          <a:ln/>
        </p:spPr>
        <p:txBody>
          <a:bodyPr wrap="square" lIns="0" tIns="0" rIns="0" bIns="0" rtlCol="0" anchor="ctr"/>
          <a:lstStyle/>
          <a:p>
            <a:pPr marL="0" indent="0">
              <a:buNone/>
            </a:pPr>
            <a:r>
              <a:rPr lang="en-US" sz="1300" b="1" dirty="0">
                <a:solidFill>
                  <a:srgbClr val="1E293B"/>
                </a:solidFill>
              </a:rPr>
              <a:t>PayPal</a:t>
            </a:r>
            <a:endParaRPr lang="en-US" sz="1300" dirty="0"/>
          </a:p>
        </p:txBody>
      </p:sp>
      <p:sp>
        <p:nvSpPr>
          <p:cNvPr id="9" name="Text 6"/>
          <p:cNvSpPr/>
          <p:nvPr/>
        </p:nvSpPr>
        <p:spPr>
          <a:xfrm>
            <a:off x="5936168" y="1261872"/>
            <a:ext cx="1463040" cy="201168"/>
          </a:xfrm>
          <a:prstGeom prst="rect">
            <a:avLst/>
          </a:prstGeom>
          <a:noFill/>
          <a:ln/>
        </p:spPr>
        <p:txBody>
          <a:bodyPr wrap="square" lIns="0" tIns="0" rIns="0" bIns="0" rtlCol="0" anchor="ctr"/>
          <a:lstStyle/>
          <a:p>
            <a:pPr marL="0" indent="0">
              <a:buNone/>
            </a:pPr>
            <a:r>
              <a:rPr lang="en-US" sz="900" dirty="0">
                <a:solidFill>
                  <a:srgbClr val="64748B"/>
                </a:solidFill>
              </a:rPr>
              <a:t>Net Revenue</a:t>
            </a:r>
            <a:endParaRPr lang="en-US" sz="900" dirty="0"/>
          </a:p>
        </p:txBody>
      </p:sp>
      <p:sp>
        <p:nvSpPr>
          <p:cNvPr id="10" name="Text 7"/>
          <p:cNvSpPr/>
          <p:nvPr/>
        </p:nvSpPr>
        <p:spPr>
          <a:xfrm>
            <a:off x="7040884" y="1261872"/>
            <a:ext cx="1463040" cy="201168"/>
          </a:xfrm>
          <a:prstGeom prst="rect">
            <a:avLst/>
          </a:prstGeom>
          <a:noFill/>
          <a:ln/>
        </p:spPr>
        <p:txBody>
          <a:bodyPr wrap="square" lIns="0" tIns="0" rIns="0" bIns="0" rtlCol="0" anchor="ctr"/>
          <a:lstStyle/>
          <a:p>
            <a:pPr marL="0" indent="0">
              <a:buNone/>
            </a:pPr>
            <a:r>
              <a:rPr lang="en-US" sz="900" dirty="0">
                <a:solidFill>
                  <a:srgbClr val="64748B"/>
                </a:solidFill>
              </a:rPr>
              <a:t>Avg Transaksi</a:t>
            </a:r>
            <a:endParaRPr lang="en-US" sz="900" dirty="0"/>
          </a:p>
        </p:txBody>
      </p:sp>
      <p:sp>
        <p:nvSpPr>
          <p:cNvPr id="11" name="Text 8"/>
          <p:cNvSpPr/>
          <p:nvPr/>
        </p:nvSpPr>
        <p:spPr>
          <a:xfrm>
            <a:off x="8374208" y="1261872"/>
            <a:ext cx="731520" cy="201168"/>
          </a:xfrm>
          <a:prstGeom prst="rect">
            <a:avLst/>
          </a:prstGeom>
          <a:noFill/>
          <a:ln/>
        </p:spPr>
        <p:txBody>
          <a:bodyPr wrap="square" lIns="0" tIns="0" rIns="0" bIns="0" rtlCol="0" anchor="ctr"/>
          <a:lstStyle/>
          <a:p>
            <a:pPr marL="0" indent="0">
              <a:buNone/>
            </a:pPr>
            <a:r>
              <a:rPr lang="en-US" sz="900" dirty="0">
                <a:solidFill>
                  <a:srgbClr val="64748B"/>
                </a:solidFill>
              </a:rPr>
              <a:t>Median</a:t>
            </a:r>
            <a:endParaRPr lang="en-US" sz="900" dirty="0"/>
          </a:p>
        </p:txBody>
      </p:sp>
      <p:sp>
        <p:nvSpPr>
          <p:cNvPr id="12" name="Text 9"/>
          <p:cNvSpPr/>
          <p:nvPr/>
        </p:nvSpPr>
        <p:spPr>
          <a:xfrm>
            <a:off x="5936168" y="1499616"/>
            <a:ext cx="1463040" cy="320040"/>
          </a:xfrm>
          <a:prstGeom prst="rect">
            <a:avLst/>
          </a:prstGeom>
          <a:noFill/>
          <a:ln/>
        </p:spPr>
        <p:txBody>
          <a:bodyPr wrap="square" lIns="0" tIns="0" rIns="0" bIns="0" rtlCol="0" anchor="ctr"/>
          <a:lstStyle/>
          <a:p>
            <a:pPr marL="0" indent="0">
              <a:buNone/>
            </a:pPr>
            <a:r>
              <a:rPr lang="en-US" sz="1400" b="1" dirty="0">
                <a:solidFill>
                  <a:srgbClr val="0D9488"/>
                </a:solidFill>
              </a:rPr>
              <a:t>$ 6.13 M</a:t>
            </a:r>
            <a:endParaRPr lang="en-US" sz="1400" dirty="0"/>
          </a:p>
        </p:txBody>
      </p:sp>
      <p:sp>
        <p:nvSpPr>
          <p:cNvPr id="13" name="Text 10"/>
          <p:cNvSpPr/>
          <p:nvPr/>
        </p:nvSpPr>
        <p:spPr>
          <a:xfrm>
            <a:off x="7125948" y="1499616"/>
            <a:ext cx="1248263" cy="320040"/>
          </a:xfrm>
          <a:prstGeom prst="rect">
            <a:avLst/>
          </a:prstGeom>
          <a:noFill/>
          <a:ln/>
        </p:spPr>
        <p:txBody>
          <a:bodyPr wrap="square" lIns="0" tIns="0" rIns="0" bIns="0" rtlCol="0" anchor="ctr"/>
          <a:lstStyle/>
          <a:p>
            <a:pPr marL="0" indent="0">
              <a:buNone/>
            </a:pPr>
            <a:r>
              <a:rPr lang="en-US" sz="1400" b="1" dirty="0">
                <a:solidFill>
                  <a:srgbClr val="1E293B"/>
                </a:solidFill>
              </a:rPr>
              <a:t>$ 248</a:t>
            </a:r>
            <a:endParaRPr lang="en-US" sz="1400" dirty="0"/>
          </a:p>
        </p:txBody>
      </p:sp>
      <p:sp>
        <p:nvSpPr>
          <p:cNvPr id="14" name="Text 11"/>
          <p:cNvSpPr/>
          <p:nvPr/>
        </p:nvSpPr>
        <p:spPr>
          <a:xfrm>
            <a:off x="8363581" y="1499616"/>
            <a:ext cx="731520" cy="320040"/>
          </a:xfrm>
          <a:prstGeom prst="rect">
            <a:avLst/>
          </a:prstGeom>
          <a:noFill/>
          <a:ln/>
        </p:spPr>
        <p:txBody>
          <a:bodyPr wrap="square" lIns="0" tIns="0" rIns="0" bIns="0" rtlCol="0" anchor="ctr"/>
          <a:lstStyle/>
          <a:p>
            <a:pPr marL="0" indent="0">
              <a:buNone/>
            </a:pPr>
            <a:r>
              <a:rPr lang="en-US" sz="1100" dirty="0">
                <a:solidFill>
                  <a:srgbClr val="64748B"/>
                </a:solidFill>
              </a:rPr>
              <a:t>$ 198</a:t>
            </a:r>
            <a:endParaRPr lang="en-US" sz="1100" dirty="0"/>
          </a:p>
        </p:txBody>
      </p:sp>
      <p:sp>
        <p:nvSpPr>
          <p:cNvPr id="15" name="Shape 12"/>
          <p:cNvSpPr/>
          <p:nvPr/>
        </p:nvSpPr>
        <p:spPr>
          <a:xfrm>
            <a:off x="4599655" y="2148840"/>
            <a:ext cx="4389120" cy="841248"/>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16" name="Shape 13"/>
          <p:cNvSpPr/>
          <p:nvPr/>
        </p:nvSpPr>
        <p:spPr>
          <a:xfrm>
            <a:off x="4610288" y="2148840"/>
            <a:ext cx="54864" cy="841248"/>
          </a:xfrm>
          <a:prstGeom prst="rect">
            <a:avLst/>
          </a:prstGeom>
          <a:solidFill>
            <a:srgbClr val="1A3260"/>
          </a:solidFill>
          <a:ln/>
        </p:spPr>
      </p:sp>
      <p:sp>
        <p:nvSpPr>
          <p:cNvPr id="17" name="Text 14"/>
          <p:cNvSpPr/>
          <p:nvPr/>
        </p:nvSpPr>
        <p:spPr>
          <a:xfrm>
            <a:off x="4774880" y="2221992"/>
            <a:ext cx="1097280" cy="274320"/>
          </a:xfrm>
          <a:prstGeom prst="rect">
            <a:avLst/>
          </a:prstGeom>
          <a:noFill/>
          <a:ln/>
        </p:spPr>
        <p:txBody>
          <a:bodyPr wrap="square" lIns="0" tIns="0" rIns="0" bIns="0" rtlCol="0" anchor="ctr"/>
          <a:lstStyle/>
          <a:p>
            <a:pPr marL="0" indent="0">
              <a:buNone/>
            </a:pPr>
            <a:r>
              <a:rPr lang="en-US" sz="1300" b="1" dirty="0">
                <a:solidFill>
                  <a:srgbClr val="1E293B"/>
                </a:solidFill>
              </a:rPr>
              <a:t>Cash</a:t>
            </a:r>
            <a:endParaRPr lang="en-US" sz="1300" dirty="0"/>
          </a:p>
        </p:txBody>
      </p:sp>
      <p:sp>
        <p:nvSpPr>
          <p:cNvPr id="18" name="Text 15"/>
          <p:cNvSpPr/>
          <p:nvPr/>
        </p:nvSpPr>
        <p:spPr>
          <a:xfrm>
            <a:off x="5936168" y="2221992"/>
            <a:ext cx="1463040" cy="201168"/>
          </a:xfrm>
          <a:prstGeom prst="rect">
            <a:avLst/>
          </a:prstGeom>
          <a:noFill/>
          <a:ln/>
        </p:spPr>
        <p:txBody>
          <a:bodyPr wrap="square" lIns="0" tIns="0" rIns="0" bIns="0" rtlCol="0" anchor="ctr"/>
          <a:lstStyle/>
          <a:p>
            <a:pPr marL="0" indent="0">
              <a:buNone/>
            </a:pPr>
            <a:r>
              <a:rPr lang="en-US" sz="900" dirty="0">
                <a:solidFill>
                  <a:srgbClr val="64748B"/>
                </a:solidFill>
              </a:rPr>
              <a:t>Net Revenue</a:t>
            </a:r>
            <a:endParaRPr lang="en-US" sz="900" dirty="0"/>
          </a:p>
        </p:txBody>
      </p:sp>
      <p:sp>
        <p:nvSpPr>
          <p:cNvPr id="19" name="Text 16"/>
          <p:cNvSpPr/>
          <p:nvPr/>
        </p:nvSpPr>
        <p:spPr>
          <a:xfrm>
            <a:off x="7072783" y="2221992"/>
            <a:ext cx="1463040" cy="201168"/>
          </a:xfrm>
          <a:prstGeom prst="rect">
            <a:avLst/>
          </a:prstGeom>
          <a:noFill/>
          <a:ln/>
        </p:spPr>
        <p:txBody>
          <a:bodyPr wrap="square" lIns="0" tIns="0" rIns="0" bIns="0" rtlCol="0" anchor="ctr"/>
          <a:lstStyle/>
          <a:p>
            <a:pPr marL="0" indent="0">
              <a:buNone/>
            </a:pPr>
            <a:r>
              <a:rPr lang="en-US" sz="900" dirty="0">
                <a:solidFill>
                  <a:srgbClr val="64748B"/>
                </a:solidFill>
              </a:rPr>
              <a:t>Avg Transaksi</a:t>
            </a:r>
            <a:endParaRPr lang="en-US" sz="900" dirty="0"/>
          </a:p>
        </p:txBody>
      </p:sp>
      <p:sp>
        <p:nvSpPr>
          <p:cNvPr id="20" name="Text 17"/>
          <p:cNvSpPr/>
          <p:nvPr/>
        </p:nvSpPr>
        <p:spPr>
          <a:xfrm>
            <a:off x="8331681" y="2221992"/>
            <a:ext cx="548640" cy="201168"/>
          </a:xfrm>
          <a:prstGeom prst="rect">
            <a:avLst/>
          </a:prstGeom>
          <a:noFill/>
          <a:ln/>
        </p:spPr>
        <p:txBody>
          <a:bodyPr wrap="square" lIns="0" tIns="0" rIns="0" bIns="0" rtlCol="0" anchor="ctr"/>
          <a:lstStyle/>
          <a:p>
            <a:pPr marL="0" indent="0">
              <a:buNone/>
            </a:pPr>
            <a:r>
              <a:rPr lang="en-US" sz="900" dirty="0">
                <a:solidFill>
                  <a:srgbClr val="64748B"/>
                </a:solidFill>
              </a:rPr>
              <a:t>Median</a:t>
            </a:r>
            <a:endParaRPr lang="en-US" sz="900" dirty="0"/>
          </a:p>
        </p:txBody>
      </p:sp>
      <p:sp>
        <p:nvSpPr>
          <p:cNvPr id="21" name="Text 18"/>
          <p:cNvSpPr/>
          <p:nvPr/>
        </p:nvSpPr>
        <p:spPr>
          <a:xfrm>
            <a:off x="5936168" y="2459736"/>
            <a:ext cx="1463040" cy="320040"/>
          </a:xfrm>
          <a:prstGeom prst="rect">
            <a:avLst/>
          </a:prstGeom>
          <a:noFill/>
          <a:ln/>
        </p:spPr>
        <p:txBody>
          <a:bodyPr wrap="square" lIns="0" tIns="0" rIns="0" bIns="0" rtlCol="0" anchor="ctr"/>
          <a:lstStyle/>
          <a:p>
            <a:pPr marL="0" indent="0">
              <a:buNone/>
            </a:pPr>
            <a:r>
              <a:rPr lang="en-US" sz="1400" b="1" dirty="0">
                <a:solidFill>
                  <a:srgbClr val="0D9488"/>
                </a:solidFill>
              </a:rPr>
              <a:t>$ 6.18 M</a:t>
            </a:r>
            <a:endParaRPr lang="en-US" sz="1400" dirty="0"/>
          </a:p>
        </p:txBody>
      </p:sp>
      <p:sp>
        <p:nvSpPr>
          <p:cNvPr id="22" name="Text 19"/>
          <p:cNvSpPr/>
          <p:nvPr/>
        </p:nvSpPr>
        <p:spPr>
          <a:xfrm>
            <a:off x="7157847" y="2459736"/>
            <a:ext cx="1463040" cy="320040"/>
          </a:xfrm>
          <a:prstGeom prst="rect">
            <a:avLst/>
          </a:prstGeom>
          <a:noFill/>
          <a:ln/>
        </p:spPr>
        <p:txBody>
          <a:bodyPr wrap="square" lIns="0" tIns="0" rIns="0" bIns="0" rtlCol="0" anchor="ctr"/>
          <a:lstStyle/>
          <a:p>
            <a:pPr marL="0" indent="0">
              <a:buNone/>
            </a:pPr>
            <a:r>
              <a:rPr lang="en-US" sz="1400" b="1" dirty="0">
                <a:solidFill>
                  <a:srgbClr val="1E293B"/>
                </a:solidFill>
              </a:rPr>
              <a:t>$ 248</a:t>
            </a:r>
            <a:endParaRPr lang="en-US" sz="1400" dirty="0"/>
          </a:p>
        </p:txBody>
      </p:sp>
      <p:sp>
        <p:nvSpPr>
          <p:cNvPr id="23" name="Text 20"/>
          <p:cNvSpPr/>
          <p:nvPr/>
        </p:nvSpPr>
        <p:spPr>
          <a:xfrm>
            <a:off x="8352945" y="2459736"/>
            <a:ext cx="646463" cy="320040"/>
          </a:xfrm>
          <a:prstGeom prst="rect">
            <a:avLst/>
          </a:prstGeom>
          <a:noFill/>
          <a:ln/>
        </p:spPr>
        <p:txBody>
          <a:bodyPr wrap="square" lIns="0" tIns="0" rIns="0" bIns="0" rtlCol="0" anchor="ctr"/>
          <a:lstStyle/>
          <a:p>
            <a:pPr marL="0" indent="0">
              <a:buNone/>
            </a:pPr>
            <a:r>
              <a:rPr lang="en-US" sz="1100" dirty="0">
                <a:solidFill>
                  <a:srgbClr val="64748B"/>
                </a:solidFill>
              </a:rPr>
              <a:t>$ 201</a:t>
            </a:r>
            <a:endParaRPr lang="en-US" sz="1100" dirty="0"/>
          </a:p>
        </p:txBody>
      </p:sp>
      <p:sp>
        <p:nvSpPr>
          <p:cNvPr id="24" name="Shape 21"/>
          <p:cNvSpPr/>
          <p:nvPr/>
        </p:nvSpPr>
        <p:spPr>
          <a:xfrm>
            <a:off x="4610288" y="3108960"/>
            <a:ext cx="4389120" cy="841248"/>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25" name="Shape 22"/>
          <p:cNvSpPr/>
          <p:nvPr/>
        </p:nvSpPr>
        <p:spPr>
          <a:xfrm>
            <a:off x="4610288" y="3108960"/>
            <a:ext cx="54864" cy="841248"/>
          </a:xfrm>
          <a:prstGeom prst="rect">
            <a:avLst/>
          </a:prstGeom>
          <a:solidFill>
            <a:srgbClr val="F59E0B"/>
          </a:solidFill>
          <a:ln/>
        </p:spPr>
      </p:sp>
      <p:sp>
        <p:nvSpPr>
          <p:cNvPr id="26" name="Text 23"/>
          <p:cNvSpPr/>
          <p:nvPr/>
        </p:nvSpPr>
        <p:spPr>
          <a:xfrm>
            <a:off x="4774880" y="3182112"/>
            <a:ext cx="1097280" cy="274320"/>
          </a:xfrm>
          <a:prstGeom prst="rect">
            <a:avLst/>
          </a:prstGeom>
          <a:noFill/>
          <a:ln/>
        </p:spPr>
        <p:txBody>
          <a:bodyPr wrap="square" lIns="0" tIns="0" rIns="0" bIns="0" rtlCol="0" anchor="ctr"/>
          <a:lstStyle/>
          <a:p>
            <a:pPr marL="0" indent="0">
              <a:buNone/>
            </a:pPr>
            <a:r>
              <a:rPr lang="en-US" sz="1300" b="1" dirty="0">
                <a:solidFill>
                  <a:srgbClr val="1E293B"/>
                </a:solidFill>
              </a:rPr>
              <a:t>Debit Card</a:t>
            </a:r>
            <a:endParaRPr lang="en-US" sz="1300" dirty="0"/>
          </a:p>
        </p:txBody>
      </p:sp>
      <p:sp>
        <p:nvSpPr>
          <p:cNvPr id="27" name="Text 24"/>
          <p:cNvSpPr/>
          <p:nvPr/>
        </p:nvSpPr>
        <p:spPr>
          <a:xfrm>
            <a:off x="5936168" y="3182112"/>
            <a:ext cx="1463040" cy="201168"/>
          </a:xfrm>
          <a:prstGeom prst="rect">
            <a:avLst/>
          </a:prstGeom>
          <a:noFill/>
          <a:ln/>
        </p:spPr>
        <p:txBody>
          <a:bodyPr wrap="square" lIns="0" tIns="0" rIns="0" bIns="0" rtlCol="0" anchor="ctr"/>
          <a:lstStyle/>
          <a:p>
            <a:pPr marL="0" indent="0">
              <a:buNone/>
            </a:pPr>
            <a:r>
              <a:rPr lang="en-US" sz="900" dirty="0">
                <a:solidFill>
                  <a:srgbClr val="64748B"/>
                </a:solidFill>
              </a:rPr>
              <a:t>Net Revenue</a:t>
            </a:r>
            <a:endParaRPr lang="en-US" sz="900" dirty="0"/>
          </a:p>
        </p:txBody>
      </p:sp>
      <p:sp>
        <p:nvSpPr>
          <p:cNvPr id="28" name="Text 25"/>
          <p:cNvSpPr/>
          <p:nvPr/>
        </p:nvSpPr>
        <p:spPr>
          <a:xfrm>
            <a:off x="7040890" y="3182112"/>
            <a:ext cx="1463040" cy="201168"/>
          </a:xfrm>
          <a:prstGeom prst="rect">
            <a:avLst/>
          </a:prstGeom>
          <a:noFill/>
          <a:ln/>
        </p:spPr>
        <p:txBody>
          <a:bodyPr wrap="square" lIns="0" tIns="0" rIns="0" bIns="0" rtlCol="0" anchor="ctr"/>
          <a:lstStyle/>
          <a:p>
            <a:pPr marL="0" indent="0">
              <a:buNone/>
            </a:pPr>
            <a:r>
              <a:rPr lang="en-US" sz="900" dirty="0">
                <a:solidFill>
                  <a:srgbClr val="64748B"/>
                </a:solidFill>
              </a:rPr>
              <a:t>Avg Transaksi</a:t>
            </a:r>
            <a:endParaRPr lang="en-US" sz="900" dirty="0"/>
          </a:p>
        </p:txBody>
      </p:sp>
      <p:sp>
        <p:nvSpPr>
          <p:cNvPr id="29" name="Text 26"/>
          <p:cNvSpPr/>
          <p:nvPr/>
        </p:nvSpPr>
        <p:spPr>
          <a:xfrm>
            <a:off x="8352944" y="3182112"/>
            <a:ext cx="731520" cy="201168"/>
          </a:xfrm>
          <a:prstGeom prst="rect">
            <a:avLst/>
          </a:prstGeom>
          <a:noFill/>
          <a:ln/>
        </p:spPr>
        <p:txBody>
          <a:bodyPr wrap="square" lIns="0" tIns="0" rIns="0" bIns="0" rtlCol="0" anchor="ctr"/>
          <a:lstStyle/>
          <a:p>
            <a:pPr marL="0" indent="0">
              <a:buNone/>
            </a:pPr>
            <a:r>
              <a:rPr lang="en-US" sz="900" dirty="0">
                <a:solidFill>
                  <a:srgbClr val="64748B"/>
                </a:solidFill>
              </a:rPr>
              <a:t>Median</a:t>
            </a:r>
            <a:endParaRPr lang="en-US" sz="900" dirty="0"/>
          </a:p>
        </p:txBody>
      </p:sp>
      <p:sp>
        <p:nvSpPr>
          <p:cNvPr id="30" name="Text 27"/>
          <p:cNvSpPr/>
          <p:nvPr/>
        </p:nvSpPr>
        <p:spPr>
          <a:xfrm>
            <a:off x="5936168" y="3419856"/>
            <a:ext cx="1463040" cy="320040"/>
          </a:xfrm>
          <a:prstGeom prst="rect">
            <a:avLst/>
          </a:prstGeom>
          <a:noFill/>
          <a:ln/>
        </p:spPr>
        <p:txBody>
          <a:bodyPr wrap="square" lIns="0" tIns="0" rIns="0" bIns="0" rtlCol="0" anchor="ctr"/>
          <a:lstStyle/>
          <a:p>
            <a:pPr marL="0" indent="0">
              <a:buNone/>
            </a:pPr>
            <a:r>
              <a:rPr lang="en-US" sz="1400" b="1" dirty="0">
                <a:solidFill>
                  <a:srgbClr val="0D9488"/>
                </a:solidFill>
              </a:rPr>
              <a:t>$ 6.11 M</a:t>
            </a:r>
            <a:endParaRPr lang="en-US" sz="1400" dirty="0"/>
          </a:p>
        </p:txBody>
      </p:sp>
      <p:sp>
        <p:nvSpPr>
          <p:cNvPr id="31" name="Text 28"/>
          <p:cNvSpPr/>
          <p:nvPr/>
        </p:nvSpPr>
        <p:spPr>
          <a:xfrm>
            <a:off x="7147218" y="3419856"/>
            <a:ext cx="1280160" cy="320040"/>
          </a:xfrm>
          <a:prstGeom prst="rect">
            <a:avLst/>
          </a:prstGeom>
          <a:noFill/>
          <a:ln/>
        </p:spPr>
        <p:txBody>
          <a:bodyPr wrap="square" lIns="0" tIns="0" rIns="0" bIns="0" rtlCol="0" anchor="ctr"/>
          <a:lstStyle/>
          <a:p>
            <a:pPr marL="0" indent="0">
              <a:buNone/>
            </a:pPr>
            <a:r>
              <a:rPr lang="en-US" sz="1400" b="1" dirty="0">
                <a:solidFill>
                  <a:srgbClr val="1E293B"/>
                </a:solidFill>
              </a:rPr>
              <a:t>$ 249</a:t>
            </a:r>
            <a:endParaRPr lang="en-US" sz="1400" dirty="0"/>
          </a:p>
        </p:txBody>
      </p:sp>
      <p:sp>
        <p:nvSpPr>
          <p:cNvPr id="32" name="Text 29"/>
          <p:cNvSpPr/>
          <p:nvPr/>
        </p:nvSpPr>
        <p:spPr>
          <a:xfrm>
            <a:off x="8374210" y="3419856"/>
            <a:ext cx="625198" cy="320040"/>
          </a:xfrm>
          <a:prstGeom prst="rect">
            <a:avLst/>
          </a:prstGeom>
          <a:noFill/>
          <a:ln/>
        </p:spPr>
        <p:txBody>
          <a:bodyPr wrap="square" lIns="0" tIns="0" rIns="0" bIns="0" rtlCol="0" anchor="ctr"/>
          <a:lstStyle/>
          <a:p>
            <a:pPr marL="0" indent="0">
              <a:buNone/>
            </a:pPr>
            <a:r>
              <a:rPr lang="en-US" sz="1100" dirty="0">
                <a:solidFill>
                  <a:srgbClr val="64748B"/>
                </a:solidFill>
              </a:rPr>
              <a:t>$ 202</a:t>
            </a:r>
            <a:endParaRPr lang="en-US" sz="1100" dirty="0"/>
          </a:p>
        </p:txBody>
      </p:sp>
      <p:sp>
        <p:nvSpPr>
          <p:cNvPr id="33" name="Shape 30"/>
          <p:cNvSpPr/>
          <p:nvPr/>
        </p:nvSpPr>
        <p:spPr>
          <a:xfrm>
            <a:off x="4610288" y="4069080"/>
            <a:ext cx="4389120" cy="841248"/>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34" name="Shape 31"/>
          <p:cNvSpPr/>
          <p:nvPr/>
        </p:nvSpPr>
        <p:spPr>
          <a:xfrm>
            <a:off x="4610288" y="4069080"/>
            <a:ext cx="54864" cy="841248"/>
          </a:xfrm>
          <a:prstGeom prst="rect">
            <a:avLst/>
          </a:prstGeom>
          <a:solidFill>
            <a:srgbClr val="94A3B8"/>
          </a:solidFill>
          <a:ln/>
        </p:spPr>
      </p:sp>
      <p:sp>
        <p:nvSpPr>
          <p:cNvPr id="35" name="Text 32"/>
          <p:cNvSpPr/>
          <p:nvPr/>
        </p:nvSpPr>
        <p:spPr>
          <a:xfrm>
            <a:off x="4774880" y="4142232"/>
            <a:ext cx="1097280" cy="274320"/>
          </a:xfrm>
          <a:prstGeom prst="rect">
            <a:avLst/>
          </a:prstGeom>
          <a:noFill/>
          <a:ln/>
        </p:spPr>
        <p:txBody>
          <a:bodyPr wrap="square" lIns="0" tIns="0" rIns="0" bIns="0" rtlCol="0" anchor="ctr"/>
          <a:lstStyle/>
          <a:p>
            <a:pPr marL="0" indent="0">
              <a:buNone/>
            </a:pPr>
            <a:r>
              <a:rPr lang="en-US" sz="1300" b="1" dirty="0">
                <a:solidFill>
                  <a:srgbClr val="1E293B"/>
                </a:solidFill>
              </a:rPr>
              <a:t>Credit Card</a:t>
            </a:r>
            <a:endParaRPr lang="en-US" sz="1300" dirty="0"/>
          </a:p>
        </p:txBody>
      </p:sp>
      <p:sp>
        <p:nvSpPr>
          <p:cNvPr id="36" name="Text 33"/>
          <p:cNvSpPr/>
          <p:nvPr/>
        </p:nvSpPr>
        <p:spPr>
          <a:xfrm>
            <a:off x="5936168" y="4142232"/>
            <a:ext cx="1463040" cy="201168"/>
          </a:xfrm>
          <a:prstGeom prst="rect">
            <a:avLst/>
          </a:prstGeom>
          <a:noFill/>
          <a:ln/>
        </p:spPr>
        <p:txBody>
          <a:bodyPr wrap="square" lIns="0" tIns="0" rIns="0" bIns="0" rtlCol="0" anchor="ctr"/>
          <a:lstStyle/>
          <a:p>
            <a:pPr marL="0" indent="0">
              <a:buNone/>
            </a:pPr>
            <a:r>
              <a:rPr lang="en-US" sz="900" dirty="0">
                <a:solidFill>
                  <a:srgbClr val="64748B"/>
                </a:solidFill>
              </a:rPr>
              <a:t>Net Revenue</a:t>
            </a:r>
            <a:endParaRPr lang="en-US" sz="900" dirty="0"/>
          </a:p>
        </p:txBody>
      </p:sp>
      <p:sp>
        <p:nvSpPr>
          <p:cNvPr id="37" name="Text 34"/>
          <p:cNvSpPr/>
          <p:nvPr/>
        </p:nvSpPr>
        <p:spPr>
          <a:xfrm>
            <a:off x="7062151" y="4142232"/>
            <a:ext cx="1463040" cy="201168"/>
          </a:xfrm>
          <a:prstGeom prst="rect">
            <a:avLst/>
          </a:prstGeom>
          <a:noFill/>
          <a:ln/>
        </p:spPr>
        <p:txBody>
          <a:bodyPr wrap="square" lIns="0" tIns="0" rIns="0" bIns="0" rtlCol="0" anchor="ctr"/>
          <a:lstStyle/>
          <a:p>
            <a:pPr marL="0" indent="0">
              <a:buNone/>
            </a:pPr>
            <a:r>
              <a:rPr lang="en-US" sz="900" dirty="0">
                <a:solidFill>
                  <a:srgbClr val="64748B"/>
                </a:solidFill>
              </a:rPr>
              <a:t>Avg Transaksi</a:t>
            </a:r>
            <a:endParaRPr lang="en-US" sz="900" dirty="0"/>
          </a:p>
        </p:txBody>
      </p:sp>
      <p:sp>
        <p:nvSpPr>
          <p:cNvPr id="38" name="Text 35"/>
          <p:cNvSpPr/>
          <p:nvPr/>
        </p:nvSpPr>
        <p:spPr>
          <a:xfrm>
            <a:off x="8374211" y="4142232"/>
            <a:ext cx="731520" cy="201168"/>
          </a:xfrm>
          <a:prstGeom prst="rect">
            <a:avLst/>
          </a:prstGeom>
          <a:noFill/>
          <a:ln/>
        </p:spPr>
        <p:txBody>
          <a:bodyPr wrap="square" lIns="0" tIns="0" rIns="0" bIns="0" rtlCol="0" anchor="ctr"/>
          <a:lstStyle/>
          <a:p>
            <a:pPr marL="0" indent="0">
              <a:buNone/>
            </a:pPr>
            <a:r>
              <a:rPr lang="en-US" sz="900" dirty="0">
                <a:solidFill>
                  <a:srgbClr val="64748B"/>
                </a:solidFill>
              </a:rPr>
              <a:t>Median</a:t>
            </a:r>
            <a:endParaRPr lang="en-US" sz="900" dirty="0"/>
          </a:p>
        </p:txBody>
      </p:sp>
      <p:sp>
        <p:nvSpPr>
          <p:cNvPr id="39" name="Text 36"/>
          <p:cNvSpPr/>
          <p:nvPr/>
        </p:nvSpPr>
        <p:spPr>
          <a:xfrm>
            <a:off x="5936168" y="4379976"/>
            <a:ext cx="1463040" cy="320040"/>
          </a:xfrm>
          <a:prstGeom prst="rect">
            <a:avLst/>
          </a:prstGeom>
          <a:noFill/>
          <a:ln/>
        </p:spPr>
        <p:txBody>
          <a:bodyPr wrap="square" lIns="0" tIns="0" rIns="0" bIns="0" rtlCol="0" anchor="ctr"/>
          <a:lstStyle/>
          <a:p>
            <a:pPr marL="0" indent="0">
              <a:buNone/>
            </a:pPr>
            <a:r>
              <a:rPr lang="en-US" sz="1400" b="1" dirty="0">
                <a:solidFill>
                  <a:srgbClr val="0D9488"/>
                </a:solidFill>
              </a:rPr>
              <a:t>$ 6.10 M</a:t>
            </a:r>
            <a:endParaRPr lang="en-US" sz="1400" dirty="0"/>
          </a:p>
        </p:txBody>
      </p:sp>
      <p:sp>
        <p:nvSpPr>
          <p:cNvPr id="40" name="Text 37"/>
          <p:cNvSpPr/>
          <p:nvPr/>
        </p:nvSpPr>
        <p:spPr>
          <a:xfrm>
            <a:off x="7115315" y="4379976"/>
            <a:ext cx="1114286" cy="320040"/>
          </a:xfrm>
          <a:prstGeom prst="rect">
            <a:avLst/>
          </a:prstGeom>
          <a:noFill/>
          <a:ln/>
        </p:spPr>
        <p:txBody>
          <a:bodyPr wrap="square" lIns="0" tIns="0" rIns="0" bIns="0" rtlCol="0" anchor="ctr"/>
          <a:lstStyle/>
          <a:p>
            <a:pPr marL="0" indent="0">
              <a:buNone/>
            </a:pPr>
            <a:r>
              <a:rPr lang="en-US" sz="1400" b="1" dirty="0">
                <a:solidFill>
                  <a:srgbClr val="1E293B"/>
                </a:solidFill>
              </a:rPr>
              <a:t>$ 248</a:t>
            </a:r>
            <a:endParaRPr lang="en-US" sz="1400" dirty="0"/>
          </a:p>
        </p:txBody>
      </p:sp>
      <p:sp>
        <p:nvSpPr>
          <p:cNvPr id="41" name="Text 38"/>
          <p:cNvSpPr/>
          <p:nvPr/>
        </p:nvSpPr>
        <p:spPr>
          <a:xfrm>
            <a:off x="8395472" y="4379976"/>
            <a:ext cx="731520" cy="320040"/>
          </a:xfrm>
          <a:prstGeom prst="rect">
            <a:avLst/>
          </a:prstGeom>
          <a:noFill/>
          <a:ln/>
        </p:spPr>
        <p:txBody>
          <a:bodyPr wrap="square" lIns="0" tIns="0" rIns="0" bIns="0" rtlCol="0" anchor="ctr"/>
          <a:lstStyle/>
          <a:p>
            <a:pPr marL="0" indent="0">
              <a:buNone/>
            </a:pPr>
            <a:r>
              <a:rPr lang="en-US" sz="1100" dirty="0">
                <a:solidFill>
                  <a:srgbClr val="64748B"/>
                </a:solidFill>
              </a:rPr>
              <a:t>$ 201</a:t>
            </a:r>
            <a:endParaRPr lang="en-US" sz="1100" dirty="0"/>
          </a:p>
        </p:txBody>
      </p:sp>
      <p:graphicFrame>
        <p:nvGraphicFramePr>
          <p:cNvPr id="42" name="Chart 41">
            <a:extLst>
              <a:ext uri="{FF2B5EF4-FFF2-40B4-BE49-F238E27FC236}">
                <a16:creationId xmlns:a16="http://schemas.microsoft.com/office/drawing/2014/main" id="{D5A856A3-4297-4641-BB40-FD48B0153A36}"/>
              </a:ext>
            </a:extLst>
          </p:cNvPr>
          <p:cNvGraphicFramePr>
            <a:graphicFrameLocks/>
          </p:cNvGraphicFramePr>
          <p:nvPr>
            <p:extLst>
              <p:ext uri="{D42A27DB-BD31-4B8C-83A1-F6EECF244321}">
                <p14:modId xmlns:p14="http://schemas.microsoft.com/office/powerpoint/2010/main" val="2766712001"/>
              </p:ext>
            </p:extLst>
          </p:nvPr>
        </p:nvGraphicFramePr>
        <p:xfrm>
          <a:off x="65497" y="970293"/>
          <a:ext cx="4389120" cy="2602247"/>
        </p:xfrm>
        <a:graphic>
          <a:graphicData uri="http://schemas.openxmlformats.org/drawingml/2006/chart">
            <c:chart xmlns:c="http://schemas.openxmlformats.org/drawingml/2006/chart" xmlns:r="http://schemas.openxmlformats.org/officeDocument/2006/relationships" r:id="rId3"/>
          </a:graphicData>
        </a:graphic>
      </p:graphicFrame>
      <p:sp>
        <p:nvSpPr>
          <p:cNvPr id="43" name="Shape 3">
            <a:extLst>
              <a:ext uri="{FF2B5EF4-FFF2-40B4-BE49-F238E27FC236}">
                <a16:creationId xmlns:a16="http://schemas.microsoft.com/office/drawing/2014/main" id="{C646F19D-46C8-45F8-9FA0-4AF957B409D1}"/>
              </a:ext>
            </a:extLst>
          </p:cNvPr>
          <p:cNvSpPr/>
          <p:nvPr/>
        </p:nvSpPr>
        <p:spPr>
          <a:xfrm>
            <a:off x="78103" y="3652259"/>
            <a:ext cx="4366313" cy="1410433"/>
          </a:xfrm>
          <a:prstGeom prst="rect">
            <a:avLst/>
          </a:prstGeom>
          <a:solidFill>
            <a:srgbClr val="FFFFFF"/>
          </a:solidFill>
          <a:ln w="6350">
            <a:solidFill>
              <a:srgbClr val="E2E8F0"/>
            </a:solidFill>
            <a:prstDash val="solid"/>
          </a:ln>
          <a:effectLst>
            <a:outerShdw blurRad="50800" dist="38100" dir="2700000" algn="tl" rotWithShape="0">
              <a:prstClr val="black">
                <a:alpha val="40000"/>
              </a:prstClr>
            </a:outerShdw>
          </a:effectLst>
        </p:spPr>
        <p:txBody>
          <a:bodyPr/>
          <a:lstStyle/>
          <a:p>
            <a:endParaRPr lang="en-US" dirty="0">
              <a:latin typeface="Unesa" pitchFamily="50" charset="0"/>
            </a:endParaRPr>
          </a:p>
        </p:txBody>
      </p:sp>
      <p:sp>
        <p:nvSpPr>
          <p:cNvPr id="44" name="Text 5">
            <a:extLst>
              <a:ext uri="{FF2B5EF4-FFF2-40B4-BE49-F238E27FC236}">
                <a16:creationId xmlns:a16="http://schemas.microsoft.com/office/drawing/2014/main" id="{B4D770D4-0667-4A06-B3BF-9F4CFA6505DE}"/>
              </a:ext>
            </a:extLst>
          </p:cNvPr>
          <p:cNvSpPr/>
          <p:nvPr/>
        </p:nvSpPr>
        <p:spPr>
          <a:xfrm>
            <a:off x="146304" y="3697364"/>
            <a:ext cx="4243248" cy="1312163"/>
          </a:xfrm>
          <a:prstGeom prst="rect">
            <a:avLst/>
          </a:prstGeom>
          <a:noFill/>
          <a:ln/>
        </p:spPr>
        <p:txBody>
          <a:bodyPr wrap="square" lIns="0" tIns="0" rIns="0" bIns="0" rtlCol="0" anchor="ctr"/>
          <a:lstStyle/>
          <a:p>
            <a:pPr marL="0" indent="0" algn="just">
              <a:buNone/>
            </a:pPr>
            <a:r>
              <a:rPr lang="en-US" sz="1100" dirty="0">
                <a:latin typeface="Unesa" pitchFamily="50" charset="0"/>
              </a:rPr>
              <a:t>Payment method distribution is remarkably balanced across all 4methods, ranging from 24.87% to 25.09%, a difference of only 0.22%. Even average transaction value ($248-$249) and median ($198-$202) show virtually no meaningful difference between method. This strongly confirms that customers have no strong preference toward any single payment method, and that payment behavior is not the contributing factor to the </a:t>
            </a:r>
            <a:r>
              <a:rPr lang="en-US" sz="1100" dirty="0" err="1">
                <a:latin typeface="Unesa" pitchFamily="50" charset="0"/>
              </a:rPr>
              <a:t>feb-apr</a:t>
            </a:r>
            <a:r>
              <a:rPr lang="en-US" sz="1100" dirty="0">
                <a:latin typeface="Unesa" pitchFamily="50" charset="0"/>
              </a:rPr>
              <a:t> revenue decline, shifting </a:t>
            </a:r>
            <a:r>
              <a:rPr lang="en-US" sz="1100" dirty="0" err="1">
                <a:latin typeface="Unesa" pitchFamily="50" charset="0"/>
              </a:rPr>
              <a:t>ourt</a:t>
            </a:r>
            <a:r>
              <a:rPr lang="en-US" sz="1100" dirty="0">
                <a:latin typeface="Unesa" pitchFamily="50" charset="0"/>
              </a:rPr>
              <a:t> investigation toward external factors such as seasonality or market conditions.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0F2044"/>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p:spPr>
      </p:sp>
      <p:sp>
        <p:nvSpPr>
          <p:cNvPr id="3" name="Shape 1"/>
          <p:cNvSpPr/>
          <p:nvPr/>
        </p:nvSpPr>
        <p:spPr>
          <a:xfrm>
            <a:off x="0" y="4663440"/>
            <a:ext cx="9144000" cy="480060"/>
          </a:xfrm>
          <a:prstGeom prst="rect">
            <a:avLst/>
          </a:prstGeom>
          <a:solidFill>
            <a:srgbClr val="1A3260"/>
          </a:solidFill>
          <a:ln/>
        </p:spPr>
      </p:sp>
      <p:sp>
        <p:nvSpPr>
          <p:cNvPr id="4" name="Text 2"/>
          <p:cNvSpPr/>
          <p:nvPr/>
        </p:nvSpPr>
        <p:spPr>
          <a:xfrm>
            <a:off x="320040" y="137160"/>
            <a:ext cx="8229600" cy="351937"/>
          </a:xfrm>
          <a:prstGeom prst="rect">
            <a:avLst/>
          </a:prstGeom>
          <a:noFill/>
          <a:ln/>
        </p:spPr>
        <p:txBody>
          <a:bodyPr wrap="square" lIns="0" tIns="0" rIns="0" bIns="0" rtlCol="0" anchor="ctr"/>
          <a:lstStyle/>
          <a:p>
            <a:pPr marL="0" indent="0">
              <a:buNone/>
            </a:pPr>
            <a:r>
              <a:rPr lang="en-US" sz="2200" b="1" dirty="0">
                <a:solidFill>
                  <a:srgbClr val="FFFFFF"/>
                </a:solidFill>
                <a:latin typeface="Unesa" pitchFamily="50" charset="0"/>
              </a:rPr>
              <a:t>06  |  Summary of Key Findings</a:t>
            </a:r>
            <a:endParaRPr lang="en-US" sz="2200" dirty="0">
              <a:latin typeface="Unesa" pitchFamily="50" charset="0"/>
            </a:endParaRPr>
          </a:p>
        </p:txBody>
      </p:sp>
      <p:sp>
        <p:nvSpPr>
          <p:cNvPr id="5" name="Shape 3"/>
          <p:cNvSpPr/>
          <p:nvPr/>
        </p:nvSpPr>
        <p:spPr>
          <a:xfrm>
            <a:off x="320040" y="645387"/>
            <a:ext cx="4160520" cy="1188720"/>
          </a:xfrm>
          <a:prstGeom prst="rect">
            <a:avLst/>
          </a:prstGeom>
          <a:solidFill>
            <a:srgbClr val="1A3260"/>
          </a:solidFill>
          <a:ln w="6350">
            <a:solidFill>
              <a:srgbClr val="1E4080"/>
            </a:solidFill>
            <a:prstDash val="solid"/>
          </a:ln>
          <a:effectLst>
            <a:outerShdw blurRad="101600" dist="38100" dir="8100000" algn="bl" rotWithShape="0">
              <a:srgbClr val="000000">
                <a:alpha val="12000"/>
              </a:srgbClr>
            </a:outerShdw>
          </a:effectLst>
        </p:spPr>
      </p:sp>
      <p:sp>
        <p:nvSpPr>
          <p:cNvPr id="6" name="Shape 4"/>
          <p:cNvSpPr/>
          <p:nvPr/>
        </p:nvSpPr>
        <p:spPr>
          <a:xfrm>
            <a:off x="320040" y="645387"/>
            <a:ext cx="77724" cy="1188720"/>
          </a:xfrm>
          <a:prstGeom prst="rect">
            <a:avLst/>
          </a:prstGeom>
          <a:solidFill>
            <a:srgbClr val="0D9488"/>
          </a:solidFill>
          <a:ln/>
        </p:spPr>
      </p:sp>
      <p:sp>
        <p:nvSpPr>
          <p:cNvPr id="7" name="Text 5"/>
          <p:cNvSpPr/>
          <p:nvPr/>
        </p:nvSpPr>
        <p:spPr>
          <a:xfrm>
            <a:off x="457200" y="688015"/>
            <a:ext cx="3840480" cy="384048"/>
          </a:xfrm>
          <a:prstGeom prst="rect">
            <a:avLst/>
          </a:prstGeom>
          <a:noFill/>
          <a:ln/>
        </p:spPr>
        <p:txBody>
          <a:bodyPr wrap="square" lIns="0" tIns="0" rIns="0" bIns="0" rtlCol="0" anchor="ctr"/>
          <a:lstStyle/>
          <a:p>
            <a:pPr marL="0" indent="0">
              <a:buNone/>
            </a:pPr>
            <a:r>
              <a:rPr lang="en-US" sz="1300" b="1" dirty="0">
                <a:solidFill>
                  <a:srgbClr val="14B8A6"/>
                </a:solidFill>
                <a:latin typeface="Unesa" pitchFamily="50" charset="0"/>
              </a:rPr>
              <a:t>📈  Revenue</a:t>
            </a:r>
            <a:endParaRPr lang="en-US" sz="1300" dirty="0">
              <a:latin typeface="Unesa" pitchFamily="50" charset="0"/>
            </a:endParaRPr>
          </a:p>
        </p:txBody>
      </p:sp>
      <p:sp>
        <p:nvSpPr>
          <p:cNvPr id="8" name="Text 6"/>
          <p:cNvSpPr/>
          <p:nvPr/>
        </p:nvSpPr>
        <p:spPr>
          <a:xfrm>
            <a:off x="451485" y="959893"/>
            <a:ext cx="3840480" cy="836773"/>
          </a:xfrm>
          <a:prstGeom prst="rect">
            <a:avLst/>
          </a:prstGeom>
          <a:noFill/>
          <a:ln/>
        </p:spPr>
        <p:txBody>
          <a:bodyPr wrap="square" lIns="0" tIns="0" rIns="0" bIns="0" rtlCol="0" anchor="ctr"/>
          <a:lstStyle/>
          <a:p>
            <a:pPr marL="0" indent="0">
              <a:buNone/>
            </a:pPr>
            <a:r>
              <a:rPr lang="en-US" sz="1100" dirty="0">
                <a:solidFill>
                  <a:srgbClr val="CBD5E1"/>
                </a:solidFill>
                <a:latin typeface="Unesa" pitchFamily="50" charset="0"/>
              </a:rPr>
              <a:t>Revenue remained stable at ~$2.0M-$2.1M for 8 months (May 2023 – Jan 2024), before sharply declining in Feb (-7.02%) and Apr (-10.70%) 2024 , the steepest fall of the entire period</a:t>
            </a:r>
            <a:endParaRPr lang="en-US" sz="1100" dirty="0">
              <a:latin typeface="Unesa" pitchFamily="50" charset="0"/>
            </a:endParaRPr>
          </a:p>
        </p:txBody>
      </p:sp>
      <p:sp>
        <p:nvSpPr>
          <p:cNvPr id="9" name="Shape 7"/>
          <p:cNvSpPr/>
          <p:nvPr/>
        </p:nvSpPr>
        <p:spPr>
          <a:xfrm>
            <a:off x="4754880" y="645387"/>
            <a:ext cx="4160520" cy="1188720"/>
          </a:xfrm>
          <a:prstGeom prst="rect">
            <a:avLst/>
          </a:prstGeom>
          <a:solidFill>
            <a:srgbClr val="1A3260"/>
          </a:solidFill>
          <a:ln w="6350">
            <a:solidFill>
              <a:srgbClr val="1E4080"/>
            </a:solidFill>
            <a:prstDash val="solid"/>
          </a:ln>
          <a:effectLst>
            <a:outerShdw blurRad="101600" dist="38100" dir="8100000" algn="bl" rotWithShape="0">
              <a:srgbClr val="000000">
                <a:alpha val="12000"/>
              </a:srgbClr>
            </a:outerShdw>
          </a:effectLst>
        </p:spPr>
      </p:sp>
      <p:sp>
        <p:nvSpPr>
          <p:cNvPr id="10" name="Shape 8"/>
          <p:cNvSpPr/>
          <p:nvPr/>
        </p:nvSpPr>
        <p:spPr>
          <a:xfrm>
            <a:off x="4754880" y="645387"/>
            <a:ext cx="83820" cy="1188720"/>
          </a:xfrm>
          <a:prstGeom prst="rect">
            <a:avLst/>
          </a:prstGeom>
          <a:solidFill>
            <a:srgbClr val="0D9488"/>
          </a:solidFill>
          <a:ln/>
        </p:spPr>
      </p:sp>
      <p:sp>
        <p:nvSpPr>
          <p:cNvPr id="11" name="Text 9"/>
          <p:cNvSpPr/>
          <p:nvPr/>
        </p:nvSpPr>
        <p:spPr>
          <a:xfrm>
            <a:off x="4892040" y="667849"/>
            <a:ext cx="3840480" cy="384048"/>
          </a:xfrm>
          <a:prstGeom prst="rect">
            <a:avLst/>
          </a:prstGeom>
          <a:noFill/>
          <a:ln/>
        </p:spPr>
        <p:txBody>
          <a:bodyPr wrap="square" lIns="0" tIns="0" rIns="0" bIns="0" rtlCol="0" anchor="ctr"/>
          <a:lstStyle/>
          <a:p>
            <a:pPr marL="0" indent="0">
              <a:buNone/>
            </a:pPr>
            <a:r>
              <a:rPr lang="en-US" sz="1300" b="1" dirty="0">
                <a:solidFill>
                  <a:srgbClr val="14B8A6"/>
                </a:solidFill>
                <a:latin typeface="Unesa" pitchFamily="50" charset="0"/>
              </a:rPr>
              <a:t>🕐  Transaction Time</a:t>
            </a:r>
            <a:endParaRPr lang="en-US" sz="1300" dirty="0">
              <a:latin typeface="Unesa" pitchFamily="50" charset="0"/>
            </a:endParaRPr>
          </a:p>
        </p:txBody>
      </p:sp>
      <p:sp>
        <p:nvSpPr>
          <p:cNvPr id="12" name="Text 10"/>
          <p:cNvSpPr/>
          <p:nvPr/>
        </p:nvSpPr>
        <p:spPr>
          <a:xfrm>
            <a:off x="4892040" y="959893"/>
            <a:ext cx="3840480" cy="802075"/>
          </a:xfrm>
          <a:prstGeom prst="rect">
            <a:avLst/>
          </a:prstGeom>
          <a:noFill/>
          <a:ln/>
        </p:spPr>
        <p:txBody>
          <a:bodyPr wrap="square" lIns="0" tIns="0" rIns="0" bIns="0" rtlCol="0" anchor="ctr"/>
          <a:lstStyle/>
          <a:p>
            <a:pPr marL="0" indent="0">
              <a:buNone/>
            </a:pPr>
            <a:r>
              <a:rPr lang="en-US" sz="1100" dirty="0">
                <a:solidFill>
                  <a:srgbClr val="CBD5E1"/>
                </a:solidFill>
                <a:latin typeface="Unesa" pitchFamily="50" charset="0"/>
              </a:rPr>
              <a:t>Transactions peak at 7 PM (4,221) but remain consistently active 24/7 – even midnight sees 4,000+ transactions. No significant dead hours detected throughout the day</a:t>
            </a:r>
            <a:endParaRPr lang="en-US" sz="1100" dirty="0">
              <a:latin typeface="Unesa" pitchFamily="50" charset="0"/>
            </a:endParaRPr>
          </a:p>
        </p:txBody>
      </p:sp>
      <p:sp>
        <p:nvSpPr>
          <p:cNvPr id="13" name="Shape 11"/>
          <p:cNvSpPr/>
          <p:nvPr/>
        </p:nvSpPr>
        <p:spPr>
          <a:xfrm>
            <a:off x="320040" y="2050542"/>
            <a:ext cx="4160520" cy="1188720"/>
          </a:xfrm>
          <a:prstGeom prst="rect">
            <a:avLst/>
          </a:prstGeom>
          <a:solidFill>
            <a:srgbClr val="1A3260"/>
          </a:solidFill>
          <a:ln w="6350">
            <a:solidFill>
              <a:srgbClr val="1E4080"/>
            </a:solidFill>
            <a:prstDash val="solid"/>
          </a:ln>
          <a:effectLst>
            <a:outerShdw blurRad="101600" dist="38100" dir="8100000" algn="bl" rotWithShape="0">
              <a:srgbClr val="000000">
                <a:alpha val="12000"/>
              </a:srgbClr>
            </a:outerShdw>
          </a:effectLst>
        </p:spPr>
        <p:txBody>
          <a:bodyPr/>
          <a:lstStyle/>
          <a:p>
            <a:endParaRPr lang="en-US" dirty="0">
              <a:latin typeface="Unesa" pitchFamily="50" charset="0"/>
            </a:endParaRPr>
          </a:p>
        </p:txBody>
      </p:sp>
      <p:sp>
        <p:nvSpPr>
          <p:cNvPr id="14" name="Shape 12"/>
          <p:cNvSpPr/>
          <p:nvPr/>
        </p:nvSpPr>
        <p:spPr>
          <a:xfrm>
            <a:off x="320039" y="2042997"/>
            <a:ext cx="77725" cy="1203540"/>
          </a:xfrm>
          <a:prstGeom prst="rect">
            <a:avLst/>
          </a:prstGeom>
          <a:solidFill>
            <a:srgbClr val="0D9488"/>
          </a:solidFill>
          <a:ln/>
        </p:spPr>
      </p:sp>
      <p:sp>
        <p:nvSpPr>
          <p:cNvPr id="15" name="Text 13"/>
          <p:cNvSpPr/>
          <p:nvPr/>
        </p:nvSpPr>
        <p:spPr>
          <a:xfrm>
            <a:off x="457200" y="2075203"/>
            <a:ext cx="3840480" cy="288648"/>
          </a:xfrm>
          <a:prstGeom prst="rect">
            <a:avLst/>
          </a:prstGeom>
          <a:noFill/>
          <a:ln/>
        </p:spPr>
        <p:txBody>
          <a:bodyPr wrap="square" lIns="0" tIns="0" rIns="0" bIns="0" rtlCol="0" anchor="ctr"/>
          <a:lstStyle/>
          <a:p>
            <a:pPr marL="0" indent="0">
              <a:buNone/>
            </a:pPr>
            <a:r>
              <a:rPr lang="en-US" sz="1300" b="1" dirty="0">
                <a:solidFill>
                  <a:srgbClr val="14B8A6"/>
                </a:solidFill>
                <a:latin typeface="Unesa" pitchFamily="50" charset="0"/>
              </a:rPr>
              <a:t>📦 Product</a:t>
            </a:r>
            <a:endParaRPr lang="en-US" sz="1300" dirty="0">
              <a:latin typeface="Unesa" pitchFamily="50" charset="0"/>
            </a:endParaRPr>
          </a:p>
        </p:txBody>
      </p:sp>
      <p:sp>
        <p:nvSpPr>
          <p:cNvPr id="16" name="Text 14"/>
          <p:cNvSpPr/>
          <p:nvPr/>
        </p:nvSpPr>
        <p:spPr>
          <a:xfrm>
            <a:off x="457200" y="2443861"/>
            <a:ext cx="3840480" cy="755982"/>
          </a:xfrm>
          <a:prstGeom prst="rect">
            <a:avLst/>
          </a:prstGeom>
          <a:noFill/>
          <a:ln/>
        </p:spPr>
        <p:txBody>
          <a:bodyPr wrap="square" lIns="0" tIns="0" rIns="0" bIns="0" rtlCol="0" anchor="ctr"/>
          <a:lstStyle/>
          <a:p>
            <a:pPr marL="0" indent="0">
              <a:buNone/>
            </a:pPr>
            <a:r>
              <a:rPr lang="en-US" sz="1100" dirty="0">
                <a:solidFill>
                  <a:srgbClr val="CBD5E1"/>
                </a:solidFill>
                <a:latin typeface="Unesa" pitchFamily="50" charset="0"/>
              </a:rPr>
              <a:t>All 4 product categories perform almost equally in both revenue ($6.08M-$6.16M) and unit sold (122,673-124,164), with </a:t>
            </a:r>
            <a:r>
              <a:rPr lang="en-US" sz="1100" dirty="0" err="1">
                <a:solidFill>
                  <a:srgbClr val="CBD5E1"/>
                </a:solidFill>
                <a:latin typeface="Unesa" pitchFamily="50" charset="0"/>
              </a:rPr>
              <a:t>gapse</a:t>
            </a:r>
            <a:r>
              <a:rPr lang="en-US" sz="1100" dirty="0">
                <a:solidFill>
                  <a:srgbClr val="CBD5E1"/>
                </a:solidFill>
                <a:latin typeface="Unesa" pitchFamily="50" charset="0"/>
              </a:rPr>
              <a:t> under 1.5%. Product performance is not the root cause of the Feb-Apr decline</a:t>
            </a:r>
            <a:endParaRPr lang="en-US" sz="1100" dirty="0">
              <a:latin typeface="Unesa" pitchFamily="50" charset="0"/>
            </a:endParaRPr>
          </a:p>
        </p:txBody>
      </p:sp>
      <p:sp>
        <p:nvSpPr>
          <p:cNvPr id="17" name="Shape 15"/>
          <p:cNvSpPr/>
          <p:nvPr/>
        </p:nvSpPr>
        <p:spPr>
          <a:xfrm>
            <a:off x="4754880" y="2050535"/>
            <a:ext cx="4160520" cy="1188720"/>
          </a:xfrm>
          <a:prstGeom prst="rect">
            <a:avLst/>
          </a:prstGeom>
          <a:solidFill>
            <a:srgbClr val="1A3260"/>
          </a:solidFill>
          <a:ln w="6350">
            <a:solidFill>
              <a:srgbClr val="1E4080"/>
            </a:solidFill>
            <a:prstDash val="solid"/>
          </a:ln>
          <a:effectLst>
            <a:outerShdw blurRad="101600" dist="38100" dir="8100000" algn="bl" rotWithShape="0">
              <a:srgbClr val="000000">
                <a:alpha val="12000"/>
              </a:srgbClr>
            </a:outerShdw>
          </a:effectLst>
        </p:spPr>
        <p:txBody>
          <a:bodyPr/>
          <a:lstStyle/>
          <a:p>
            <a:endParaRPr lang="en-US" dirty="0">
              <a:latin typeface="Unesa" pitchFamily="50" charset="0"/>
            </a:endParaRPr>
          </a:p>
        </p:txBody>
      </p:sp>
      <p:sp>
        <p:nvSpPr>
          <p:cNvPr id="18" name="Shape 16"/>
          <p:cNvSpPr/>
          <p:nvPr/>
        </p:nvSpPr>
        <p:spPr>
          <a:xfrm>
            <a:off x="4754880" y="2043233"/>
            <a:ext cx="83820" cy="1196022"/>
          </a:xfrm>
          <a:prstGeom prst="rect">
            <a:avLst/>
          </a:prstGeom>
          <a:solidFill>
            <a:srgbClr val="0D9488"/>
          </a:solidFill>
          <a:ln/>
        </p:spPr>
      </p:sp>
      <p:sp>
        <p:nvSpPr>
          <p:cNvPr id="19" name="Text 17"/>
          <p:cNvSpPr/>
          <p:nvPr/>
        </p:nvSpPr>
        <p:spPr>
          <a:xfrm>
            <a:off x="4892040" y="2012770"/>
            <a:ext cx="3840480" cy="384048"/>
          </a:xfrm>
          <a:prstGeom prst="rect">
            <a:avLst/>
          </a:prstGeom>
          <a:noFill/>
          <a:ln/>
        </p:spPr>
        <p:txBody>
          <a:bodyPr wrap="square" lIns="0" tIns="0" rIns="0" bIns="0" rtlCol="0" anchor="ctr"/>
          <a:lstStyle/>
          <a:p>
            <a:pPr marL="0" indent="0">
              <a:buNone/>
            </a:pPr>
            <a:r>
              <a:rPr lang="en-US" sz="1300" dirty="0">
                <a:latin typeface="Unesa" pitchFamily="50" charset="0"/>
              </a:rPr>
              <a:t>🎖 </a:t>
            </a:r>
            <a:r>
              <a:rPr lang="en-US" sz="1300" b="1" dirty="0">
                <a:solidFill>
                  <a:srgbClr val="14B8A6"/>
                </a:solidFill>
                <a:latin typeface="Unesa" pitchFamily="50" charset="0"/>
              </a:rPr>
              <a:t>Regional</a:t>
            </a:r>
            <a:endParaRPr lang="en-US" sz="1300" dirty="0">
              <a:latin typeface="Unesa" pitchFamily="50" charset="0"/>
            </a:endParaRPr>
          </a:p>
        </p:txBody>
      </p:sp>
      <p:sp>
        <p:nvSpPr>
          <p:cNvPr id="20" name="Text 18"/>
          <p:cNvSpPr/>
          <p:nvPr/>
        </p:nvSpPr>
        <p:spPr>
          <a:xfrm>
            <a:off x="4892040" y="2385581"/>
            <a:ext cx="3840480" cy="860955"/>
          </a:xfrm>
          <a:prstGeom prst="rect">
            <a:avLst/>
          </a:prstGeom>
          <a:noFill/>
          <a:ln/>
        </p:spPr>
        <p:txBody>
          <a:bodyPr wrap="square" lIns="0" tIns="0" rIns="0" bIns="0" rtlCol="0" anchor="ctr"/>
          <a:lstStyle/>
          <a:p>
            <a:pPr marL="0" indent="0">
              <a:buNone/>
            </a:pPr>
            <a:r>
              <a:rPr lang="en-US" sz="1100" dirty="0">
                <a:solidFill>
                  <a:srgbClr val="CBD5E1"/>
                </a:solidFill>
                <a:latin typeface="Unesa" pitchFamily="50" charset="0"/>
              </a:rPr>
              <a:t>Armed Force regions (Europe, Americas, Pacific) dominate both transaction volume (~3.500+) and revenue (~$870k-$920k) – nearly 2x higher than regular regions (~$385k-$395k), driven by collective purchasing behavior of military-based customers.</a:t>
            </a:r>
            <a:endParaRPr lang="en-US" sz="1100" dirty="0">
              <a:latin typeface="Unesa" pitchFamily="50" charset="0"/>
            </a:endParaRPr>
          </a:p>
        </p:txBody>
      </p:sp>
      <p:sp>
        <p:nvSpPr>
          <p:cNvPr id="21" name="Text 19"/>
          <p:cNvSpPr/>
          <p:nvPr/>
        </p:nvSpPr>
        <p:spPr>
          <a:xfrm>
            <a:off x="320040" y="4743450"/>
            <a:ext cx="8229600" cy="320040"/>
          </a:xfrm>
          <a:prstGeom prst="rect">
            <a:avLst/>
          </a:prstGeom>
          <a:noFill/>
          <a:ln/>
        </p:spPr>
        <p:txBody>
          <a:bodyPr wrap="square" lIns="0" tIns="0" rIns="0" bIns="0" rtlCol="0" anchor="ctr"/>
          <a:lstStyle/>
          <a:p>
            <a:pPr marL="0" indent="0">
              <a:buNone/>
            </a:pPr>
            <a:r>
              <a:rPr lang="en-US" sz="1000" dirty="0">
                <a:solidFill>
                  <a:srgbClr val="64748B"/>
                </a:solidFill>
                <a:latin typeface="Unesa" pitchFamily="50" charset="0"/>
              </a:rPr>
              <a:t>Retail Transaction Analysis  •  May 2023 – April 2024</a:t>
            </a:r>
            <a:endParaRPr lang="en-US" sz="1000" dirty="0">
              <a:latin typeface="Unesa" pitchFamily="50" charset="0"/>
            </a:endParaRPr>
          </a:p>
        </p:txBody>
      </p:sp>
      <p:sp>
        <p:nvSpPr>
          <p:cNvPr id="29" name="Shape 11">
            <a:extLst>
              <a:ext uri="{FF2B5EF4-FFF2-40B4-BE49-F238E27FC236}">
                <a16:creationId xmlns:a16="http://schemas.microsoft.com/office/drawing/2014/main" id="{3DCE7AA3-76AB-41CA-90C9-AE55BAE22D81}"/>
              </a:ext>
            </a:extLst>
          </p:cNvPr>
          <p:cNvSpPr/>
          <p:nvPr/>
        </p:nvSpPr>
        <p:spPr>
          <a:xfrm>
            <a:off x="320040" y="3372935"/>
            <a:ext cx="4160520" cy="1188720"/>
          </a:xfrm>
          <a:prstGeom prst="rect">
            <a:avLst/>
          </a:prstGeom>
          <a:solidFill>
            <a:srgbClr val="1A3260"/>
          </a:solidFill>
          <a:ln w="6350">
            <a:solidFill>
              <a:srgbClr val="1E4080"/>
            </a:solidFill>
            <a:prstDash val="solid"/>
          </a:ln>
          <a:effectLst>
            <a:outerShdw blurRad="101600" dist="38100" dir="8100000" algn="bl" rotWithShape="0">
              <a:srgbClr val="000000">
                <a:alpha val="12000"/>
              </a:srgbClr>
            </a:outerShdw>
          </a:effectLst>
        </p:spPr>
      </p:sp>
      <p:sp>
        <p:nvSpPr>
          <p:cNvPr id="30" name="Shape 12">
            <a:extLst>
              <a:ext uri="{FF2B5EF4-FFF2-40B4-BE49-F238E27FC236}">
                <a16:creationId xmlns:a16="http://schemas.microsoft.com/office/drawing/2014/main" id="{0C0D7C4D-5007-4201-8417-842B4D981499}"/>
              </a:ext>
            </a:extLst>
          </p:cNvPr>
          <p:cNvSpPr/>
          <p:nvPr/>
        </p:nvSpPr>
        <p:spPr>
          <a:xfrm>
            <a:off x="312420" y="3368040"/>
            <a:ext cx="62484" cy="1193616"/>
          </a:xfrm>
          <a:prstGeom prst="rect">
            <a:avLst/>
          </a:prstGeom>
          <a:solidFill>
            <a:srgbClr val="0D9488"/>
          </a:solidFill>
          <a:ln/>
        </p:spPr>
      </p:sp>
      <p:sp>
        <p:nvSpPr>
          <p:cNvPr id="31" name="Text 13">
            <a:extLst>
              <a:ext uri="{FF2B5EF4-FFF2-40B4-BE49-F238E27FC236}">
                <a16:creationId xmlns:a16="http://schemas.microsoft.com/office/drawing/2014/main" id="{3C48EA01-0DB8-44CD-AFDF-6E1E7CEA4AD4}"/>
              </a:ext>
            </a:extLst>
          </p:cNvPr>
          <p:cNvSpPr/>
          <p:nvPr/>
        </p:nvSpPr>
        <p:spPr>
          <a:xfrm>
            <a:off x="426720" y="3448630"/>
            <a:ext cx="3840480" cy="288648"/>
          </a:xfrm>
          <a:prstGeom prst="rect">
            <a:avLst/>
          </a:prstGeom>
          <a:noFill/>
          <a:ln/>
        </p:spPr>
        <p:txBody>
          <a:bodyPr wrap="square" lIns="0" tIns="0" rIns="0" bIns="0" rtlCol="0" anchor="ctr"/>
          <a:lstStyle/>
          <a:p>
            <a:pPr marL="0" indent="0">
              <a:buNone/>
            </a:pPr>
            <a:r>
              <a:rPr lang="en-US" sz="1300" dirty="0">
                <a:latin typeface="Unesa" pitchFamily="50" charset="0"/>
              </a:rPr>
              <a:t>💳 </a:t>
            </a:r>
            <a:r>
              <a:rPr lang="en-US" sz="1300" b="1" dirty="0">
                <a:solidFill>
                  <a:srgbClr val="14B8A6"/>
                </a:solidFill>
                <a:latin typeface="Unesa" pitchFamily="50" charset="0"/>
              </a:rPr>
              <a:t>Payment Method</a:t>
            </a:r>
            <a:endParaRPr lang="en-US" sz="1300" dirty="0">
              <a:solidFill>
                <a:schemeClr val="accent6"/>
              </a:solidFill>
              <a:latin typeface="Unesa" pitchFamily="50" charset="0"/>
            </a:endParaRPr>
          </a:p>
        </p:txBody>
      </p:sp>
      <p:sp>
        <p:nvSpPr>
          <p:cNvPr id="32" name="Text 14">
            <a:extLst>
              <a:ext uri="{FF2B5EF4-FFF2-40B4-BE49-F238E27FC236}">
                <a16:creationId xmlns:a16="http://schemas.microsoft.com/office/drawing/2014/main" id="{1CFC5B0D-3EBB-4485-B586-F4236E8E4893}"/>
              </a:ext>
            </a:extLst>
          </p:cNvPr>
          <p:cNvSpPr/>
          <p:nvPr/>
        </p:nvSpPr>
        <p:spPr>
          <a:xfrm>
            <a:off x="426720" y="3753120"/>
            <a:ext cx="3840480" cy="755982"/>
          </a:xfrm>
          <a:prstGeom prst="rect">
            <a:avLst/>
          </a:prstGeom>
          <a:noFill/>
          <a:ln/>
        </p:spPr>
        <p:txBody>
          <a:bodyPr wrap="square" lIns="0" tIns="0" rIns="0" bIns="0" rtlCol="0" anchor="ctr"/>
          <a:lstStyle/>
          <a:p>
            <a:pPr marL="0" indent="0">
              <a:buNone/>
            </a:pPr>
            <a:r>
              <a:rPr lang="en-US" sz="1100" dirty="0">
                <a:solidFill>
                  <a:srgbClr val="CBD5E1"/>
                </a:solidFill>
                <a:latin typeface="Unesa" pitchFamily="50" charset="0"/>
              </a:rPr>
              <a:t>All 4 payment methods show virtually identical distribution (24.87%-25.09%), revenue ($6.10M-$6.14M), and average transaction value ($248-$249).Payment behavior is not the root cause of the Feb-Apr decline</a:t>
            </a:r>
            <a:endParaRPr lang="en-US" sz="1100" dirty="0">
              <a:latin typeface="Unesa" pitchFamily="50"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2044"/>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p:spPr>
      </p:sp>
      <p:sp>
        <p:nvSpPr>
          <p:cNvPr id="3" name="Shape 1"/>
          <p:cNvSpPr/>
          <p:nvPr/>
        </p:nvSpPr>
        <p:spPr>
          <a:xfrm>
            <a:off x="0" y="4663440"/>
            <a:ext cx="9144000" cy="480060"/>
          </a:xfrm>
          <a:prstGeom prst="rect">
            <a:avLst/>
          </a:prstGeom>
          <a:solidFill>
            <a:srgbClr val="1A3260"/>
          </a:solidFill>
          <a:ln/>
        </p:spPr>
      </p:sp>
      <p:sp>
        <p:nvSpPr>
          <p:cNvPr id="4" name="Text 2"/>
          <p:cNvSpPr/>
          <p:nvPr/>
        </p:nvSpPr>
        <p:spPr>
          <a:xfrm>
            <a:off x="320040" y="137160"/>
            <a:ext cx="8229600" cy="351937"/>
          </a:xfrm>
          <a:prstGeom prst="rect">
            <a:avLst/>
          </a:prstGeom>
          <a:noFill/>
          <a:ln/>
        </p:spPr>
        <p:txBody>
          <a:bodyPr wrap="square" lIns="0" tIns="0" rIns="0" bIns="0" rtlCol="0" anchor="ctr"/>
          <a:lstStyle/>
          <a:p>
            <a:pPr marL="0" indent="0">
              <a:buNone/>
            </a:pPr>
            <a:r>
              <a:rPr lang="en-US" sz="2000" b="1" dirty="0">
                <a:solidFill>
                  <a:srgbClr val="FFFFFF"/>
                </a:solidFill>
                <a:latin typeface="Unesa" pitchFamily="50" charset="0"/>
              </a:rPr>
              <a:t>06.a | Recommendations</a:t>
            </a:r>
            <a:endParaRPr lang="en-US" sz="2000" dirty="0">
              <a:latin typeface="Unesa" pitchFamily="50" charset="0"/>
            </a:endParaRPr>
          </a:p>
        </p:txBody>
      </p:sp>
      <p:sp>
        <p:nvSpPr>
          <p:cNvPr id="5" name="Shape 3"/>
          <p:cNvSpPr/>
          <p:nvPr/>
        </p:nvSpPr>
        <p:spPr>
          <a:xfrm>
            <a:off x="320040" y="645387"/>
            <a:ext cx="4160520" cy="1188720"/>
          </a:xfrm>
          <a:prstGeom prst="rect">
            <a:avLst/>
          </a:prstGeom>
          <a:solidFill>
            <a:srgbClr val="1A3260"/>
          </a:solidFill>
          <a:ln w="6350">
            <a:solidFill>
              <a:srgbClr val="1E4080"/>
            </a:solidFill>
            <a:prstDash val="solid"/>
          </a:ln>
          <a:effectLst>
            <a:outerShdw blurRad="101600" dist="38100" dir="8100000" algn="bl" rotWithShape="0">
              <a:srgbClr val="000000">
                <a:alpha val="12000"/>
              </a:srgbClr>
            </a:outerShdw>
          </a:effectLst>
        </p:spPr>
      </p:sp>
      <p:sp>
        <p:nvSpPr>
          <p:cNvPr id="6" name="Shape 4"/>
          <p:cNvSpPr/>
          <p:nvPr/>
        </p:nvSpPr>
        <p:spPr>
          <a:xfrm>
            <a:off x="320040" y="645387"/>
            <a:ext cx="77724" cy="1188720"/>
          </a:xfrm>
          <a:prstGeom prst="rect">
            <a:avLst/>
          </a:prstGeom>
          <a:solidFill>
            <a:srgbClr val="0D9488"/>
          </a:solidFill>
          <a:ln/>
        </p:spPr>
      </p:sp>
      <p:sp>
        <p:nvSpPr>
          <p:cNvPr id="7" name="Text 5"/>
          <p:cNvSpPr/>
          <p:nvPr/>
        </p:nvSpPr>
        <p:spPr>
          <a:xfrm>
            <a:off x="421576" y="688015"/>
            <a:ext cx="3888105" cy="219325"/>
          </a:xfrm>
          <a:prstGeom prst="rect">
            <a:avLst/>
          </a:prstGeom>
          <a:noFill/>
          <a:ln/>
        </p:spPr>
        <p:txBody>
          <a:bodyPr wrap="square" lIns="0" tIns="0" rIns="0" bIns="0" rtlCol="0" anchor="ctr"/>
          <a:lstStyle/>
          <a:p>
            <a:pPr marL="0" indent="0">
              <a:buNone/>
            </a:pPr>
            <a:r>
              <a:rPr lang="en-US" sz="1100" b="1" dirty="0">
                <a:solidFill>
                  <a:srgbClr val="14B8A6"/>
                </a:solidFill>
                <a:latin typeface="Unesa" pitchFamily="50" charset="0"/>
              </a:rPr>
              <a:t>01 | Investigate Seasonal Patterns as the Primary Root Cause</a:t>
            </a:r>
            <a:endParaRPr lang="en-US" sz="1100" dirty="0">
              <a:latin typeface="Unesa" pitchFamily="50" charset="0"/>
            </a:endParaRPr>
          </a:p>
        </p:txBody>
      </p:sp>
      <p:sp>
        <p:nvSpPr>
          <p:cNvPr id="8" name="Text 6"/>
          <p:cNvSpPr/>
          <p:nvPr/>
        </p:nvSpPr>
        <p:spPr>
          <a:xfrm>
            <a:off x="421576" y="949968"/>
            <a:ext cx="4029075" cy="836773"/>
          </a:xfrm>
          <a:prstGeom prst="rect">
            <a:avLst/>
          </a:prstGeom>
          <a:noFill/>
          <a:ln/>
        </p:spPr>
        <p:txBody>
          <a:bodyPr wrap="square" lIns="0" tIns="0" rIns="0" bIns="0" rtlCol="0" anchor="ctr"/>
          <a:lstStyle/>
          <a:p>
            <a:pPr marL="0" indent="0" algn="just">
              <a:buNone/>
            </a:pPr>
            <a:r>
              <a:rPr lang="en-US" sz="1000" dirty="0">
                <a:solidFill>
                  <a:srgbClr val="CBD5E1"/>
                </a:solidFill>
                <a:latin typeface="Unesa" pitchFamily="50" charset="0"/>
              </a:rPr>
              <a:t>The Feb-Apr revenue decline cannot be attributed to product, payment, or transaction behavior – all of which remained stable and balanced. This strongly points toward </a:t>
            </a:r>
            <a:r>
              <a:rPr lang="en-US" sz="1000" b="1" dirty="0">
                <a:solidFill>
                  <a:srgbClr val="CBD5E1"/>
                </a:solidFill>
                <a:latin typeface="Unesa" pitchFamily="50" charset="0"/>
              </a:rPr>
              <a:t>seasonality or external market conditions</a:t>
            </a:r>
            <a:r>
              <a:rPr lang="en-US" sz="1000" dirty="0">
                <a:solidFill>
                  <a:srgbClr val="CBD5E1"/>
                </a:solidFill>
                <a:latin typeface="Unesa" pitchFamily="50" charset="0"/>
              </a:rPr>
              <a:t> as the primary driver. A deeper time-series analysis across multiple years is recommended to confirm seasonal trends and anticipate future dips.</a:t>
            </a:r>
            <a:endParaRPr lang="en-US" sz="1000" dirty="0">
              <a:latin typeface="Unesa" pitchFamily="50" charset="0"/>
            </a:endParaRPr>
          </a:p>
        </p:txBody>
      </p:sp>
      <p:sp>
        <p:nvSpPr>
          <p:cNvPr id="9" name="Shape 7"/>
          <p:cNvSpPr/>
          <p:nvPr/>
        </p:nvSpPr>
        <p:spPr>
          <a:xfrm>
            <a:off x="4754880" y="645387"/>
            <a:ext cx="4160520" cy="1188720"/>
          </a:xfrm>
          <a:prstGeom prst="rect">
            <a:avLst/>
          </a:prstGeom>
          <a:solidFill>
            <a:srgbClr val="1A3260"/>
          </a:solidFill>
          <a:ln w="6350">
            <a:solidFill>
              <a:srgbClr val="1E4080"/>
            </a:solidFill>
            <a:prstDash val="solid"/>
          </a:ln>
          <a:effectLst>
            <a:outerShdw blurRad="101600" dist="38100" dir="8100000" algn="bl" rotWithShape="0">
              <a:srgbClr val="000000">
                <a:alpha val="12000"/>
              </a:srgbClr>
            </a:outerShdw>
          </a:effectLst>
        </p:spPr>
      </p:sp>
      <p:sp>
        <p:nvSpPr>
          <p:cNvPr id="10" name="Shape 8"/>
          <p:cNvSpPr/>
          <p:nvPr/>
        </p:nvSpPr>
        <p:spPr>
          <a:xfrm>
            <a:off x="4754880" y="645387"/>
            <a:ext cx="83820" cy="1188720"/>
          </a:xfrm>
          <a:prstGeom prst="rect">
            <a:avLst/>
          </a:prstGeom>
          <a:solidFill>
            <a:srgbClr val="0D9488"/>
          </a:solidFill>
          <a:ln/>
        </p:spPr>
      </p:sp>
      <p:sp>
        <p:nvSpPr>
          <p:cNvPr id="12" name="Text 10"/>
          <p:cNvSpPr/>
          <p:nvPr/>
        </p:nvSpPr>
        <p:spPr>
          <a:xfrm>
            <a:off x="4892040" y="959893"/>
            <a:ext cx="3931920" cy="802075"/>
          </a:xfrm>
          <a:prstGeom prst="rect">
            <a:avLst/>
          </a:prstGeom>
          <a:noFill/>
          <a:ln/>
        </p:spPr>
        <p:txBody>
          <a:bodyPr wrap="square" lIns="0" tIns="0" rIns="0" bIns="0" rtlCol="0" anchor="ctr"/>
          <a:lstStyle/>
          <a:p>
            <a:pPr marL="0" indent="0" algn="just">
              <a:buNone/>
            </a:pPr>
            <a:r>
              <a:rPr lang="en-US" sz="1050" dirty="0">
                <a:solidFill>
                  <a:srgbClr val="CBD5E1"/>
                </a:solidFill>
                <a:latin typeface="Unesa" pitchFamily="50" charset="0"/>
              </a:rPr>
              <a:t>Since all payment methods perform equally, the business should </a:t>
            </a:r>
            <a:r>
              <a:rPr lang="en-US" sz="1050" b="1" dirty="0">
                <a:solidFill>
                  <a:srgbClr val="CBD5E1"/>
                </a:solidFill>
                <a:latin typeface="Unesa" pitchFamily="50" charset="0"/>
              </a:rPr>
              <a:t>maintain and support all 4 channels </a:t>
            </a:r>
            <a:r>
              <a:rPr lang="en-US" sz="1050" dirty="0">
                <a:solidFill>
                  <a:srgbClr val="CBD5E1"/>
                </a:solidFill>
                <a:latin typeface="Unesa" pitchFamily="50" charset="0"/>
              </a:rPr>
              <a:t> without over-investing in one. Ensuring seamless payment experiences across PayPal, Cash, Credit Card and Debit Card will help retain customer convenience and avoid drop-offs</a:t>
            </a:r>
            <a:endParaRPr lang="en-US" sz="1050" dirty="0">
              <a:latin typeface="Unesa" pitchFamily="50" charset="0"/>
            </a:endParaRPr>
          </a:p>
        </p:txBody>
      </p:sp>
      <p:sp>
        <p:nvSpPr>
          <p:cNvPr id="13" name="Shape 11"/>
          <p:cNvSpPr/>
          <p:nvPr/>
        </p:nvSpPr>
        <p:spPr>
          <a:xfrm>
            <a:off x="320040" y="2050542"/>
            <a:ext cx="4160520" cy="1188720"/>
          </a:xfrm>
          <a:prstGeom prst="rect">
            <a:avLst/>
          </a:prstGeom>
          <a:solidFill>
            <a:srgbClr val="1A3260"/>
          </a:solidFill>
          <a:ln w="6350">
            <a:solidFill>
              <a:srgbClr val="1E4080"/>
            </a:solidFill>
            <a:prstDash val="solid"/>
          </a:ln>
          <a:effectLst>
            <a:outerShdw blurRad="101600" dist="38100" dir="8100000" algn="bl" rotWithShape="0">
              <a:srgbClr val="000000">
                <a:alpha val="12000"/>
              </a:srgbClr>
            </a:outerShdw>
          </a:effectLst>
        </p:spPr>
        <p:txBody>
          <a:bodyPr/>
          <a:lstStyle/>
          <a:p>
            <a:endParaRPr lang="en-US" sz="1600" dirty="0">
              <a:latin typeface="Unesa" pitchFamily="50" charset="0"/>
            </a:endParaRPr>
          </a:p>
        </p:txBody>
      </p:sp>
      <p:sp>
        <p:nvSpPr>
          <p:cNvPr id="14" name="Shape 12"/>
          <p:cNvSpPr/>
          <p:nvPr/>
        </p:nvSpPr>
        <p:spPr>
          <a:xfrm>
            <a:off x="320039" y="2042997"/>
            <a:ext cx="77725" cy="1203540"/>
          </a:xfrm>
          <a:prstGeom prst="rect">
            <a:avLst/>
          </a:prstGeom>
          <a:solidFill>
            <a:srgbClr val="0D9488"/>
          </a:solidFill>
          <a:ln/>
        </p:spPr>
      </p:sp>
      <p:sp>
        <p:nvSpPr>
          <p:cNvPr id="16" name="Text 14"/>
          <p:cNvSpPr/>
          <p:nvPr/>
        </p:nvSpPr>
        <p:spPr>
          <a:xfrm>
            <a:off x="426719" y="2310655"/>
            <a:ext cx="4023931" cy="900264"/>
          </a:xfrm>
          <a:prstGeom prst="rect">
            <a:avLst/>
          </a:prstGeom>
          <a:noFill/>
          <a:ln/>
        </p:spPr>
        <p:txBody>
          <a:bodyPr wrap="square" lIns="0" tIns="0" rIns="0" bIns="0" rtlCol="0" anchor="ctr"/>
          <a:lstStyle/>
          <a:p>
            <a:pPr marL="0" indent="0" algn="just">
              <a:buNone/>
            </a:pPr>
            <a:r>
              <a:rPr lang="en-US" sz="1000" dirty="0">
                <a:solidFill>
                  <a:srgbClr val="CBD5E1"/>
                </a:solidFill>
                <a:latin typeface="Unesa" pitchFamily="50" charset="0"/>
              </a:rPr>
              <a:t>Armed Forces regions generate nearly 2x more revenue and transaction volume than regular regions. The business should double down this segment, through exclusive promotions, loyalty programs, or tailored product bundles for </a:t>
            </a:r>
            <a:r>
              <a:rPr lang="en-US" sz="900" dirty="0">
                <a:solidFill>
                  <a:srgbClr val="CBD5E1"/>
                </a:solidFill>
                <a:latin typeface="Unesa" pitchFamily="50" charset="0"/>
              </a:rPr>
              <a:t>military-based</a:t>
            </a:r>
            <a:r>
              <a:rPr lang="en-US" sz="1000" dirty="0">
                <a:solidFill>
                  <a:srgbClr val="CBD5E1"/>
                </a:solidFill>
                <a:latin typeface="Unesa" pitchFamily="50" charset="0"/>
              </a:rPr>
              <a:t> customers. Meanwhile, regular regions show untapped potential and could benefit from </a:t>
            </a:r>
            <a:r>
              <a:rPr lang="en-US" sz="1000" b="1" dirty="0">
                <a:solidFill>
                  <a:srgbClr val="CBD5E1"/>
                </a:solidFill>
                <a:latin typeface="Unesa" pitchFamily="50" charset="0"/>
              </a:rPr>
              <a:t>targeted regional campaigns</a:t>
            </a:r>
            <a:r>
              <a:rPr lang="en-US" sz="1000" dirty="0">
                <a:solidFill>
                  <a:srgbClr val="CBD5E1"/>
                </a:solidFill>
                <a:latin typeface="Unesa" pitchFamily="50" charset="0"/>
              </a:rPr>
              <a:t> to close the gap</a:t>
            </a:r>
            <a:endParaRPr lang="en-US" sz="1000" dirty="0">
              <a:latin typeface="Unesa" pitchFamily="50" charset="0"/>
            </a:endParaRPr>
          </a:p>
        </p:txBody>
      </p:sp>
      <p:sp>
        <p:nvSpPr>
          <p:cNvPr id="17" name="Shape 15"/>
          <p:cNvSpPr/>
          <p:nvPr/>
        </p:nvSpPr>
        <p:spPr>
          <a:xfrm>
            <a:off x="4754880" y="2050535"/>
            <a:ext cx="4160520" cy="1188720"/>
          </a:xfrm>
          <a:prstGeom prst="rect">
            <a:avLst/>
          </a:prstGeom>
          <a:solidFill>
            <a:srgbClr val="1A3260"/>
          </a:solidFill>
          <a:ln w="6350">
            <a:solidFill>
              <a:srgbClr val="1E4080"/>
            </a:solidFill>
            <a:prstDash val="solid"/>
          </a:ln>
          <a:effectLst>
            <a:outerShdw blurRad="101600" dist="38100" dir="8100000" algn="bl" rotWithShape="0">
              <a:srgbClr val="000000">
                <a:alpha val="12000"/>
              </a:srgbClr>
            </a:outerShdw>
          </a:effectLst>
        </p:spPr>
        <p:txBody>
          <a:bodyPr/>
          <a:lstStyle/>
          <a:p>
            <a:endParaRPr lang="en-US" sz="1600" dirty="0">
              <a:latin typeface="Unesa" pitchFamily="50" charset="0"/>
            </a:endParaRPr>
          </a:p>
        </p:txBody>
      </p:sp>
      <p:sp>
        <p:nvSpPr>
          <p:cNvPr id="18" name="Shape 16"/>
          <p:cNvSpPr/>
          <p:nvPr/>
        </p:nvSpPr>
        <p:spPr>
          <a:xfrm>
            <a:off x="4754880" y="2043233"/>
            <a:ext cx="83820" cy="1196022"/>
          </a:xfrm>
          <a:prstGeom prst="rect">
            <a:avLst/>
          </a:prstGeom>
          <a:solidFill>
            <a:srgbClr val="0D9488"/>
          </a:solidFill>
          <a:ln/>
        </p:spPr>
      </p:sp>
      <p:sp>
        <p:nvSpPr>
          <p:cNvPr id="20" name="Text 18"/>
          <p:cNvSpPr/>
          <p:nvPr/>
        </p:nvSpPr>
        <p:spPr>
          <a:xfrm>
            <a:off x="4876800" y="2279654"/>
            <a:ext cx="3960875" cy="906492"/>
          </a:xfrm>
          <a:prstGeom prst="rect">
            <a:avLst/>
          </a:prstGeom>
          <a:noFill/>
          <a:ln/>
        </p:spPr>
        <p:txBody>
          <a:bodyPr wrap="square" lIns="0" tIns="0" rIns="0" bIns="0" rtlCol="0" anchor="ctr"/>
          <a:lstStyle/>
          <a:p>
            <a:pPr marL="0" indent="0" algn="just">
              <a:buNone/>
            </a:pPr>
            <a:r>
              <a:rPr lang="en-US" sz="1000" dirty="0">
                <a:solidFill>
                  <a:srgbClr val="CBD5E1"/>
                </a:solidFill>
                <a:latin typeface="Unesa" pitchFamily="50" charset="0"/>
              </a:rPr>
              <a:t>Despite stable product, payment and transaction behavior, revenue dropped significantly in Feb &amp; Apr. Recommend conducting a deeper drill-down analysis on:</a:t>
            </a:r>
          </a:p>
          <a:p>
            <a:pPr marL="171450" indent="-171450" algn="just">
              <a:buFontTx/>
              <a:buChar char="-"/>
            </a:pPr>
            <a:r>
              <a:rPr lang="en-US" sz="1000" dirty="0">
                <a:solidFill>
                  <a:srgbClr val="CBD5E1"/>
                </a:solidFill>
                <a:latin typeface="Unesa" pitchFamily="50" charset="0"/>
              </a:rPr>
              <a:t>External Factor (holidays, economic conditions, competitor activity)</a:t>
            </a:r>
          </a:p>
          <a:p>
            <a:pPr marL="171450" indent="-171450" algn="just">
              <a:buFontTx/>
              <a:buChar char="-"/>
            </a:pPr>
            <a:r>
              <a:rPr lang="en-US" sz="1000" dirty="0">
                <a:solidFill>
                  <a:srgbClr val="CBD5E1"/>
                </a:solidFill>
                <a:latin typeface="Unesa" pitchFamily="50" charset="0"/>
              </a:rPr>
              <a:t>Customer retention &amp; churn rate during that period</a:t>
            </a:r>
          </a:p>
          <a:p>
            <a:pPr marL="171450" indent="-171450" algn="just">
              <a:buFontTx/>
              <a:buChar char="-"/>
            </a:pPr>
            <a:r>
              <a:rPr lang="en-US" sz="1000" dirty="0">
                <a:solidFill>
                  <a:srgbClr val="CBD5E1"/>
                </a:solidFill>
                <a:latin typeface="Unesa" pitchFamily="50" charset="0"/>
              </a:rPr>
              <a:t>Whether Armed Forces segment also experienced the same drop</a:t>
            </a:r>
          </a:p>
        </p:txBody>
      </p:sp>
      <p:sp>
        <p:nvSpPr>
          <p:cNvPr id="21" name="Text 19"/>
          <p:cNvSpPr/>
          <p:nvPr/>
        </p:nvSpPr>
        <p:spPr>
          <a:xfrm>
            <a:off x="320040" y="4743450"/>
            <a:ext cx="8229600" cy="320040"/>
          </a:xfrm>
          <a:prstGeom prst="rect">
            <a:avLst/>
          </a:prstGeom>
          <a:noFill/>
          <a:ln/>
        </p:spPr>
        <p:txBody>
          <a:bodyPr wrap="square" lIns="0" tIns="0" rIns="0" bIns="0" rtlCol="0" anchor="ctr"/>
          <a:lstStyle/>
          <a:p>
            <a:pPr marL="0" indent="0">
              <a:buNone/>
            </a:pPr>
            <a:r>
              <a:rPr lang="en-US" sz="900" dirty="0">
                <a:solidFill>
                  <a:srgbClr val="64748B"/>
                </a:solidFill>
                <a:latin typeface="Unesa" pitchFamily="50" charset="0"/>
              </a:rPr>
              <a:t>Retail Transaction Analysis  •  May 2023 – April 2024</a:t>
            </a:r>
            <a:endParaRPr lang="en-US" sz="900" dirty="0">
              <a:latin typeface="Unesa" pitchFamily="50" charset="0"/>
            </a:endParaRPr>
          </a:p>
        </p:txBody>
      </p:sp>
      <p:sp>
        <p:nvSpPr>
          <p:cNvPr id="29" name="Shape 11">
            <a:extLst>
              <a:ext uri="{FF2B5EF4-FFF2-40B4-BE49-F238E27FC236}">
                <a16:creationId xmlns:a16="http://schemas.microsoft.com/office/drawing/2014/main" id="{3DCE7AA3-76AB-41CA-90C9-AE55BAE22D81}"/>
              </a:ext>
            </a:extLst>
          </p:cNvPr>
          <p:cNvSpPr/>
          <p:nvPr/>
        </p:nvSpPr>
        <p:spPr>
          <a:xfrm>
            <a:off x="320040" y="3372935"/>
            <a:ext cx="4160520" cy="1188720"/>
          </a:xfrm>
          <a:prstGeom prst="rect">
            <a:avLst/>
          </a:prstGeom>
          <a:solidFill>
            <a:srgbClr val="1A3260"/>
          </a:solidFill>
          <a:ln w="6350">
            <a:solidFill>
              <a:srgbClr val="1E4080"/>
            </a:solidFill>
            <a:prstDash val="solid"/>
          </a:ln>
          <a:effectLst>
            <a:outerShdw blurRad="101600" dist="38100" dir="8100000" algn="bl" rotWithShape="0">
              <a:srgbClr val="000000">
                <a:alpha val="12000"/>
              </a:srgbClr>
            </a:outerShdw>
          </a:effectLst>
        </p:spPr>
      </p:sp>
      <p:sp>
        <p:nvSpPr>
          <p:cNvPr id="30" name="Shape 12">
            <a:extLst>
              <a:ext uri="{FF2B5EF4-FFF2-40B4-BE49-F238E27FC236}">
                <a16:creationId xmlns:a16="http://schemas.microsoft.com/office/drawing/2014/main" id="{0C0D7C4D-5007-4201-8417-842B4D981499}"/>
              </a:ext>
            </a:extLst>
          </p:cNvPr>
          <p:cNvSpPr/>
          <p:nvPr/>
        </p:nvSpPr>
        <p:spPr>
          <a:xfrm>
            <a:off x="312420" y="3368040"/>
            <a:ext cx="62484" cy="1193616"/>
          </a:xfrm>
          <a:prstGeom prst="rect">
            <a:avLst/>
          </a:prstGeom>
          <a:solidFill>
            <a:srgbClr val="0D9488"/>
          </a:solidFill>
          <a:ln/>
        </p:spPr>
      </p:sp>
      <p:sp>
        <p:nvSpPr>
          <p:cNvPr id="32" name="Text 14">
            <a:extLst>
              <a:ext uri="{FF2B5EF4-FFF2-40B4-BE49-F238E27FC236}">
                <a16:creationId xmlns:a16="http://schemas.microsoft.com/office/drawing/2014/main" id="{1CFC5B0D-3EBB-4485-B586-F4236E8E4893}"/>
              </a:ext>
            </a:extLst>
          </p:cNvPr>
          <p:cNvSpPr/>
          <p:nvPr/>
        </p:nvSpPr>
        <p:spPr>
          <a:xfrm>
            <a:off x="397764" y="3625813"/>
            <a:ext cx="4052886" cy="872299"/>
          </a:xfrm>
          <a:prstGeom prst="rect">
            <a:avLst/>
          </a:prstGeom>
          <a:noFill/>
          <a:ln/>
        </p:spPr>
        <p:txBody>
          <a:bodyPr wrap="square" lIns="0" tIns="0" rIns="0" bIns="0" rtlCol="0" anchor="ctr"/>
          <a:lstStyle/>
          <a:p>
            <a:pPr marL="0" indent="0" algn="just">
              <a:buNone/>
            </a:pPr>
            <a:r>
              <a:rPr lang="en-US" sz="1050" dirty="0">
                <a:solidFill>
                  <a:srgbClr val="CBD5E1"/>
                </a:solidFill>
                <a:latin typeface="Unesa" pitchFamily="50" charset="0"/>
              </a:rPr>
              <a:t>With transactions consistently active around the clock, even at midnight the business must ensure </a:t>
            </a:r>
            <a:r>
              <a:rPr lang="en-US" sz="1050" b="1" dirty="0">
                <a:solidFill>
                  <a:srgbClr val="CBD5E1"/>
                </a:solidFill>
                <a:latin typeface="Unesa" pitchFamily="50" charset="0"/>
              </a:rPr>
              <a:t>system scalability, uptime, and operational readiness 24/7</a:t>
            </a:r>
            <a:r>
              <a:rPr lang="en-US" sz="1050" dirty="0">
                <a:solidFill>
                  <a:srgbClr val="CBD5E1"/>
                </a:solidFill>
                <a:latin typeface="Unesa" pitchFamily="50" charset="0"/>
              </a:rPr>
              <a:t>. Marketing campaigns and promotions should not be limited to peak hours (7 PM) but distributed throughout the day maximize reach.</a:t>
            </a:r>
            <a:endParaRPr lang="en-US" sz="1050" dirty="0">
              <a:latin typeface="Unesa" pitchFamily="50" charset="0"/>
            </a:endParaRPr>
          </a:p>
        </p:txBody>
      </p:sp>
      <p:sp>
        <p:nvSpPr>
          <p:cNvPr id="26" name="Text 5">
            <a:extLst>
              <a:ext uri="{FF2B5EF4-FFF2-40B4-BE49-F238E27FC236}">
                <a16:creationId xmlns:a16="http://schemas.microsoft.com/office/drawing/2014/main" id="{7EE656E8-5B3B-42AE-BDBA-1DA354BC900E}"/>
              </a:ext>
            </a:extLst>
          </p:cNvPr>
          <p:cNvSpPr/>
          <p:nvPr/>
        </p:nvSpPr>
        <p:spPr>
          <a:xfrm>
            <a:off x="433387" y="2063981"/>
            <a:ext cx="3888105" cy="219325"/>
          </a:xfrm>
          <a:prstGeom prst="rect">
            <a:avLst/>
          </a:prstGeom>
          <a:noFill/>
          <a:ln/>
        </p:spPr>
        <p:txBody>
          <a:bodyPr wrap="square" lIns="0" tIns="0" rIns="0" bIns="0" rtlCol="0" anchor="ctr"/>
          <a:lstStyle/>
          <a:p>
            <a:pPr marL="0" indent="0">
              <a:buNone/>
            </a:pPr>
            <a:r>
              <a:rPr lang="en-US" sz="1100" b="1" dirty="0">
                <a:solidFill>
                  <a:srgbClr val="14B8A6"/>
                </a:solidFill>
                <a:latin typeface="Unesa" pitchFamily="50" charset="0"/>
              </a:rPr>
              <a:t>02 | Optimize Marketing Strategy for Armed Forces Segment</a:t>
            </a:r>
            <a:endParaRPr lang="en-US" sz="1100" dirty="0">
              <a:latin typeface="Unesa" pitchFamily="50" charset="0"/>
            </a:endParaRPr>
          </a:p>
        </p:txBody>
      </p:sp>
      <p:sp>
        <p:nvSpPr>
          <p:cNvPr id="27" name="Text 5">
            <a:extLst>
              <a:ext uri="{FF2B5EF4-FFF2-40B4-BE49-F238E27FC236}">
                <a16:creationId xmlns:a16="http://schemas.microsoft.com/office/drawing/2014/main" id="{B2E29F95-52A9-4B1B-9527-F93FEE78D585}"/>
              </a:ext>
            </a:extLst>
          </p:cNvPr>
          <p:cNvSpPr/>
          <p:nvPr/>
        </p:nvSpPr>
        <p:spPr>
          <a:xfrm>
            <a:off x="402907" y="3389712"/>
            <a:ext cx="3888105" cy="219325"/>
          </a:xfrm>
          <a:prstGeom prst="rect">
            <a:avLst/>
          </a:prstGeom>
          <a:noFill/>
          <a:ln/>
        </p:spPr>
        <p:txBody>
          <a:bodyPr wrap="square" lIns="0" tIns="0" rIns="0" bIns="0" rtlCol="0" anchor="ctr"/>
          <a:lstStyle/>
          <a:p>
            <a:pPr marL="0" indent="0">
              <a:buNone/>
            </a:pPr>
            <a:r>
              <a:rPr lang="en-US" sz="1100" b="1" dirty="0">
                <a:solidFill>
                  <a:srgbClr val="14B8A6"/>
                </a:solidFill>
                <a:latin typeface="Unesa" pitchFamily="50" charset="0"/>
              </a:rPr>
              <a:t>03 | Leverage 24/7 Customer Activity for Always-On Operations</a:t>
            </a:r>
            <a:endParaRPr lang="en-US" sz="1100" dirty="0">
              <a:latin typeface="Unesa" pitchFamily="50" charset="0"/>
            </a:endParaRPr>
          </a:p>
        </p:txBody>
      </p:sp>
      <p:sp>
        <p:nvSpPr>
          <p:cNvPr id="28" name="Text 5">
            <a:extLst>
              <a:ext uri="{FF2B5EF4-FFF2-40B4-BE49-F238E27FC236}">
                <a16:creationId xmlns:a16="http://schemas.microsoft.com/office/drawing/2014/main" id="{D357E333-9887-4F1A-8FF5-84A964284C9B}"/>
              </a:ext>
            </a:extLst>
          </p:cNvPr>
          <p:cNvSpPr/>
          <p:nvPr/>
        </p:nvSpPr>
        <p:spPr>
          <a:xfrm>
            <a:off x="4868227" y="662423"/>
            <a:ext cx="3888105" cy="219325"/>
          </a:xfrm>
          <a:prstGeom prst="rect">
            <a:avLst/>
          </a:prstGeom>
          <a:noFill/>
          <a:ln/>
        </p:spPr>
        <p:txBody>
          <a:bodyPr wrap="square" lIns="0" tIns="0" rIns="0" bIns="0" rtlCol="0" anchor="ctr"/>
          <a:lstStyle/>
          <a:p>
            <a:pPr marL="0" indent="0">
              <a:buNone/>
            </a:pPr>
            <a:r>
              <a:rPr lang="en-US" sz="1100" b="1" dirty="0">
                <a:solidFill>
                  <a:srgbClr val="14B8A6"/>
                </a:solidFill>
                <a:latin typeface="Unesa" pitchFamily="50" charset="0"/>
              </a:rPr>
              <a:t>04 | Maintain Payment Channel Diversity</a:t>
            </a:r>
            <a:endParaRPr lang="en-US" sz="1100" dirty="0">
              <a:latin typeface="Unesa" pitchFamily="50" charset="0"/>
            </a:endParaRPr>
          </a:p>
        </p:txBody>
      </p:sp>
      <p:sp>
        <p:nvSpPr>
          <p:cNvPr id="33" name="Text 5">
            <a:extLst>
              <a:ext uri="{FF2B5EF4-FFF2-40B4-BE49-F238E27FC236}">
                <a16:creationId xmlns:a16="http://schemas.microsoft.com/office/drawing/2014/main" id="{D1E50E53-EE29-4D38-826C-326D4DF5BF75}"/>
              </a:ext>
            </a:extLst>
          </p:cNvPr>
          <p:cNvSpPr/>
          <p:nvPr/>
        </p:nvSpPr>
        <p:spPr>
          <a:xfrm>
            <a:off x="4868227" y="2060329"/>
            <a:ext cx="3888105" cy="219325"/>
          </a:xfrm>
          <a:prstGeom prst="rect">
            <a:avLst/>
          </a:prstGeom>
          <a:noFill/>
          <a:ln/>
        </p:spPr>
        <p:txBody>
          <a:bodyPr wrap="square" lIns="0" tIns="0" rIns="0" bIns="0" rtlCol="0" anchor="ctr"/>
          <a:lstStyle/>
          <a:p>
            <a:pPr marL="0" indent="0">
              <a:buNone/>
            </a:pPr>
            <a:r>
              <a:rPr lang="en-US" sz="1100" b="1" dirty="0">
                <a:solidFill>
                  <a:srgbClr val="14B8A6"/>
                </a:solidFill>
                <a:latin typeface="Unesa" pitchFamily="50" charset="0"/>
              </a:rPr>
              <a:t>05 | Prioritize Further Investigation on Feb-Apr Anomaly</a:t>
            </a:r>
            <a:endParaRPr lang="en-US" sz="1100" dirty="0">
              <a:latin typeface="Unesa" pitchFamily="50" charset="0"/>
            </a:endParaRPr>
          </a:p>
        </p:txBody>
      </p:sp>
    </p:spTree>
    <p:extLst>
      <p:ext uri="{BB962C8B-B14F-4D97-AF65-F5344CB8AC3E}">
        <p14:creationId xmlns:p14="http://schemas.microsoft.com/office/powerpoint/2010/main" val="28775446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bg>
      <p:bgPr>
        <a:solidFill>
          <a:srgbClr val="0D9488"/>
        </a:solidFill>
        <a:effectLst/>
      </p:bgPr>
    </p:bg>
    <p:spTree>
      <p:nvGrpSpPr>
        <p:cNvPr id="1" name=""/>
        <p:cNvGrpSpPr/>
        <p:nvPr/>
      </p:nvGrpSpPr>
      <p:grpSpPr>
        <a:xfrm>
          <a:off x="0" y="0"/>
          <a:ext cx="0" cy="0"/>
          <a:chOff x="0" y="0"/>
          <a:chExt cx="0" cy="0"/>
        </a:xfrm>
      </p:grpSpPr>
      <p:sp>
        <p:nvSpPr>
          <p:cNvPr id="2" name="Shape 0"/>
          <p:cNvSpPr/>
          <p:nvPr/>
        </p:nvSpPr>
        <p:spPr>
          <a:xfrm>
            <a:off x="0" y="0"/>
            <a:ext cx="9144000" cy="1828800"/>
          </a:xfrm>
          <a:prstGeom prst="rect">
            <a:avLst/>
          </a:prstGeom>
          <a:solidFill>
            <a:srgbClr val="0F2044"/>
          </a:solidFill>
          <a:ln/>
        </p:spPr>
      </p:sp>
      <p:sp>
        <p:nvSpPr>
          <p:cNvPr id="3" name="Shape 1"/>
          <p:cNvSpPr/>
          <p:nvPr/>
        </p:nvSpPr>
        <p:spPr>
          <a:xfrm>
            <a:off x="0" y="0"/>
            <a:ext cx="109728" cy="5143500"/>
          </a:xfrm>
          <a:prstGeom prst="rect">
            <a:avLst/>
          </a:prstGeom>
          <a:solidFill>
            <a:srgbClr val="F59E0B"/>
          </a:solidFill>
          <a:ln/>
        </p:spPr>
      </p:sp>
      <p:sp>
        <p:nvSpPr>
          <p:cNvPr id="4" name="Text 2"/>
          <p:cNvSpPr/>
          <p:nvPr/>
        </p:nvSpPr>
        <p:spPr>
          <a:xfrm>
            <a:off x="320040" y="138223"/>
            <a:ext cx="8229600" cy="569905"/>
          </a:xfrm>
          <a:prstGeom prst="rect">
            <a:avLst/>
          </a:prstGeom>
          <a:noFill/>
          <a:ln/>
        </p:spPr>
        <p:txBody>
          <a:bodyPr wrap="square" lIns="0" tIns="0" rIns="0" bIns="0" rtlCol="0" anchor="ctr"/>
          <a:lstStyle/>
          <a:p>
            <a:pPr marL="0" indent="0">
              <a:buNone/>
            </a:pPr>
            <a:r>
              <a:rPr lang="en-US" sz="3200" b="1" dirty="0">
                <a:solidFill>
                  <a:srgbClr val="FFFFFF"/>
                </a:solidFill>
                <a:latin typeface="Unesa" pitchFamily="50" charset="0"/>
              </a:rPr>
              <a:t>Dashboard</a:t>
            </a:r>
            <a:endParaRPr lang="en-US" sz="3200" dirty="0">
              <a:latin typeface="Unesa" pitchFamily="50" charset="0"/>
            </a:endParaRPr>
          </a:p>
        </p:txBody>
      </p:sp>
      <p:sp>
        <p:nvSpPr>
          <p:cNvPr id="6" name="Shape 4"/>
          <p:cNvSpPr/>
          <p:nvPr/>
        </p:nvSpPr>
        <p:spPr>
          <a:xfrm>
            <a:off x="320040" y="4817615"/>
            <a:ext cx="8600676" cy="45719"/>
          </a:xfrm>
          <a:prstGeom prst="rect">
            <a:avLst/>
          </a:prstGeom>
          <a:solidFill>
            <a:srgbClr val="0F2044"/>
          </a:solidFill>
          <a:ln/>
        </p:spPr>
      </p:sp>
      <p:pic>
        <p:nvPicPr>
          <p:cNvPr id="9" name="Picture 8">
            <a:extLst>
              <a:ext uri="{FF2B5EF4-FFF2-40B4-BE49-F238E27FC236}">
                <a16:creationId xmlns:a16="http://schemas.microsoft.com/office/drawing/2014/main" id="{8822E4D3-3586-4F21-9160-E6197B882FD8}"/>
              </a:ext>
            </a:extLst>
          </p:cNvPr>
          <p:cNvPicPr>
            <a:picLocks noChangeAspect="1"/>
          </p:cNvPicPr>
          <p:nvPr/>
        </p:nvPicPr>
        <p:blipFill>
          <a:blip r:embed="rId3"/>
          <a:stretch>
            <a:fillRect/>
          </a:stretch>
        </p:blipFill>
        <p:spPr>
          <a:xfrm>
            <a:off x="4572000" y="2193339"/>
            <a:ext cx="4523622" cy="2540096"/>
          </a:xfrm>
          <a:prstGeom prst="rect">
            <a:avLst/>
          </a:prstGeom>
        </p:spPr>
      </p:pic>
      <p:pic>
        <p:nvPicPr>
          <p:cNvPr id="13" name="Picture 12">
            <a:extLst>
              <a:ext uri="{FF2B5EF4-FFF2-40B4-BE49-F238E27FC236}">
                <a16:creationId xmlns:a16="http://schemas.microsoft.com/office/drawing/2014/main" id="{81C30A1F-8CB8-4D7B-B80D-B07D0DF4B53F}"/>
              </a:ext>
            </a:extLst>
          </p:cNvPr>
          <p:cNvPicPr>
            <a:picLocks noChangeAspect="1"/>
          </p:cNvPicPr>
          <p:nvPr/>
        </p:nvPicPr>
        <p:blipFill>
          <a:blip r:embed="rId4"/>
          <a:stretch>
            <a:fillRect/>
          </a:stretch>
        </p:blipFill>
        <p:spPr>
          <a:xfrm>
            <a:off x="109728" y="846351"/>
            <a:ext cx="4413895" cy="248605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9488"/>
        </a:solidFill>
        <a:effectLst/>
      </p:bgPr>
    </p:bg>
    <p:spTree>
      <p:nvGrpSpPr>
        <p:cNvPr id="1" name=""/>
        <p:cNvGrpSpPr/>
        <p:nvPr/>
      </p:nvGrpSpPr>
      <p:grpSpPr>
        <a:xfrm>
          <a:off x="0" y="0"/>
          <a:ext cx="0" cy="0"/>
          <a:chOff x="0" y="0"/>
          <a:chExt cx="0" cy="0"/>
        </a:xfrm>
      </p:grpSpPr>
      <p:sp>
        <p:nvSpPr>
          <p:cNvPr id="2" name="Shape 0"/>
          <p:cNvSpPr/>
          <p:nvPr/>
        </p:nvSpPr>
        <p:spPr>
          <a:xfrm>
            <a:off x="0" y="0"/>
            <a:ext cx="9144000" cy="1828800"/>
          </a:xfrm>
          <a:prstGeom prst="rect">
            <a:avLst/>
          </a:prstGeom>
          <a:solidFill>
            <a:srgbClr val="0F2044"/>
          </a:solidFill>
          <a:ln/>
        </p:spPr>
      </p:sp>
      <p:sp>
        <p:nvSpPr>
          <p:cNvPr id="3" name="Shape 1"/>
          <p:cNvSpPr/>
          <p:nvPr/>
        </p:nvSpPr>
        <p:spPr>
          <a:xfrm>
            <a:off x="0" y="0"/>
            <a:ext cx="109728" cy="5143500"/>
          </a:xfrm>
          <a:prstGeom prst="rect">
            <a:avLst/>
          </a:prstGeom>
          <a:solidFill>
            <a:srgbClr val="F59E0B"/>
          </a:solidFill>
          <a:ln/>
        </p:spPr>
      </p:sp>
      <p:sp>
        <p:nvSpPr>
          <p:cNvPr id="6" name="Shape 4"/>
          <p:cNvSpPr/>
          <p:nvPr/>
        </p:nvSpPr>
        <p:spPr>
          <a:xfrm>
            <a:off x="320040" y="4817615"/>
            <a:ext cx="8600676" cy="45719"/>
          </a:xfrm>
          <a:prstGeom prst="rect">
            <a:avLst/>
          </a:prstGeom>
          <a:solidFill>
            <a:srgbClr val="0F2044"/>
          </a:solidFill>
          <a:ln/>
        </p:spPr>
      </p:sp>
      <p:pic>
        <p:nvPicPr>
          <p:cNvPr id="11" name="Picture 10">
            <a:extLst>
              <a:ext uri="{FF2B5EF4-FFF2-40B4-BE49-F238E27FC236}">
                <a16:creationId xmlns:a16="http://schemas.microsoft.com/office/drawing/2014/main" id="{011FA532-3617-44A7-8263-97AF9A35A4C1}"/>
              </a:ext>
            </a:extLst>
          </p:cNvPr>
          <p:cNvPicPr>
            <a:picLocks noChangeAspect="1"/>
          </p:cNvPicPr>
          <p:nvPr/>
        </p:nvPicPr>
        <p:blipFill>
          <a:blip r:embed="rId3"/>
          <a:stretch>
            <a:fillRect/>
          </a:stretch>
        </p:blipFill>
        <p:spPr>
          <a:xfrm>
            <a:off x="1286540" y="785409"/>
            <a:ext cx="6472111" cy="3991800"/>
          </a:xfrm>
          <a:prstGeom prst="rect">
            <a:avLst/>
          </a:prstGeom>
        </p:spPr>
      </p:pic>
    </p:spTree>
    <p:extLst>
      <p:ext uri="{BB962C8B-B14F-4D97-AF65-F5344CB8AC3E}">
        <p14:creationId xmlns:p14="http://schemas.microsoft.com/office/powerpoint/2010/main" val="36027649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9488"/>
        </a:solidFill>
        <a:effectLst/>
      </p:bgPr>
    </p:bg>
    <p:spTree>
      <p:nvGrpSpPr>
        <p:cNvPr id="1" name=""/>
        <p:cNvGrpSpPr/>
        <p:nvPr/>
      </p:nvGrpSpPr>
      <p:grpSpPr>
        <a:xfrm>
          <a:off x="0" y="0"/>
          <a:ext cx="0" cy="0"/>
          <a:chOff x="0" y="0"/>
          <a:chExt cx="0" cy="0"/>
        </a:xfrm>
      </p:grpSpPr>
      <p:sp>
        <p:nvSpPr>
          <p:cNvPr id="2" name="Shape 0"/>
          <p:cNvSpPr/>
          <p:nvPr/>
        </p:nvSpPr>
        <p:spPr>
          <a:xfrm>
            <a:off x="0" y="0"/>
            <a:ext cx="9144000" cy="1828800"/>
          </a:xfrm>
          <a:prstGeom prst="rect">
            <a:avLst/>
          </a:prstGeom>
          <a:solidFill>
            <a:srgbClr val="0F2044"/>
          </a:solidFill>
          <a:ln/>
        </p:spPr>
      </p:sp>
      <p:sp>
        <p:nvSpPr>
          <p:cNvPr id="3" name="Shape 1"/>
          <p:cNvSpPr/>
          <p:nvPr/>
        </p:nvSpPr>
        <p:spPr>
          <a:xfrm>
            <a:off x="0" y="0"/>
            <a:ext cx="109728" cy="5143500"/>
          </a:xfrm>
          <a:prstGeom prst="rect">
            <a:avLst/>
          </a:prstGeom>
          <a:solidFill>
            <a:srgbClr val="F59E0B"/>
          </a:solidFill>
          <a:ln/>
        </p:spPr>
      </p:sp>
      <p:sp>
        <p:nvSpPr>
          <p:cNvPr id="4" name="Text 2"/>
          <p:cNvSpPr/>
          <p:nvPr/>
        </p:nvSpPr>
        <p:spPr>
          <a:xfrm>
            <a:off x="320040" y="1280160"/>
            <a:ext cx="8229600" cy="1097280"/>
          </a:xfrm>
          <a:prstGeom prst="rect">
            <a:avLst/>
          </a:prstGeom>
          <a:noFill/>
          <a:ln/>
        </p:spPr>
        <p:txBody>
          <a:bodyPr wrap="square" lIns="0" tIns="0" rIns="0" bIns="0" rtlCol="0" anchor="ctr"/>
          <a:lstStyle/>
          <a:p>
            <a:pPr marL="0" indent="0">
              <a:buNone/>
            </a:pPr>
            <a:r>
              <a:rPr lang="en-US" sz="5000" b="1" dirty="0">
                <a:solidFill>
                  <a:srgbClr val="FFFFFF"/>
                </a:solidFill>
              </a:rPr>
              <a:t>Thank You</a:t>
            </a:r>
            <a:endParaRPr lang="en-US" sz="5000" dirty="0"/>
          </a:p>
        </p:txBody>
      </p:sp>
      <p:sp>
        <p:nvSpPr>
          <p:cNvPr id="5" name="Text 3"/>
          <p:cNvSpPr/>
          <p:nvPr/>
        </p:nvSpPr>
        <p:spPr>
          <a:xfrm>
            <a:off x="320040" y="2746394"/>
            <a:ext cx="6400800" cy="1097280"/>
          </a:xfrm>
          <a:prstGeom prst="rect">
            <a:avLst/>
          </a:prstGeom>
          <a:noFill/>
          <a:ln/>
        </p:spPr>
        <p:txBody>
          <a:bodyPr wrap="square" lIns="0" tIns="0" rIns="0" bIns="0" rtlCol="0" anchor="ctr"/>
          <a:lstStyle/>
          <a:p>
            <a:pPr marL="0" indent="0">
              <a:buNone/>
            </a:pPr>
            <a:r>
              <a:rPr lang="en-US" sz="1800" i="1" dirty="0">
                <a:solidFill>
                  <a:srgbClr val="1A3260"/>
                </a:solidFill>
              </a:rPr>
              <a:t>Social Media Link :</a:t>
            </a:r>
          </a:p>
          <a:p>
            <a:pPr marL="285750" indent="-285750">
              <a:buFontTx/>
              <a:buChar char="-"/>
            </a:pPr>
            <a:r>
              <a:rPr lang="en-US" i="1" dirty="0" err="1">
                <a:solidFill>
                  <a:srgbClr val="1A3260"/>
                </a:solidFill>
              </a:rPr>
              <a:t>Linkedin</a:t>
            </a:r>
            <a:r>
              <a:rPr lang="en-US" i="1" dirty="0">
                <a:solidFill>
                  <a:srgbClr val="1A3260"/>
                </a:solidFill>
              </a:rPr>
              <a:t>	: </a:t>
            </a:r>
            <a:r>
              <a:rPr lang="en-US" b="0" i="0" dirty="0">
                <a:effectLst/>
                <a:latin typeface="-apple-system"/>
              </a:rPr>
              <a:t>www.linkedin.com/in/faraj-hafidh</a:t>
            </a:r>
            <a:endParaRPr lang="en-US" i="1" dirty="0">
              <a:solidFill>
                <a:srgbClr val="1A3260"/>
              </a:solidFill>
            </a:endParaRPr>
          </a:p>
          <a:p>
            <a:pPr marL="285750" indent="-285750">
              <a:buFontTx/>
              <a:buChar char="-"/>
            </a:pPr>
            <a:r>
              <a:rPr lang="en-US" sz="1800" i="1" dirty="0">
                <a:solidFill>
                  <a:srgbClr val="1A3260"/>
                </a:solidFill>
              </a:rPr>
              <a:t>Instagram	: https://www.instagram.com/hahahafidh_/</a:t>
            </a:r>
          </a:p>
          <a:p>
            <a:pPr marL="285750" indent="-285750">
              <a:buFontTx/>
              <a:buChar char="-"/>
            </a:pPr>
            <a:r>
              <a:rPr lang="en-US" i="1" dirty="0">
                <a:solidFill>
                  <a:srgbClr val="1A3260"/>
                </a:solidFill>
              </a:rPr>
              <a:t>Portfolio	: https://farajhafidh.vercel.app/</a:t>
            </a:r>
            <a:endParaRPr lang="en-US" sz="1800" dirty="0"/>
          </a:p>
        </p:txBody>
      </p:sp>
      <p:sp>
        <p:nvSpPr>
          <p:cNvPr id="6" name="Shape 4"/>
          <p:cNvSpPr/>
          <p:nvPr/>
        </p:nvSpPr>
        <p:spPr>
          <a:xfrm>
            <a:off x="320040" y="3935114"/>
            <a:ext cx="2743200" cy="36576"/>
          </a:xfrm>
          <a:prstGeom prst="rect">
            <a:avLst/>
          </a:prstGeom>
          <a:solidFill>
            <a:srgbClr val="0F2044"/>
          </a:solidFill>
          <a:ln/>
        </p:spPr>
      </p:sp>
      <p:sp>
        <p:nvSpPr>
          <p:cNvPr id="7" name="Text 5"/>
          <p:cNvSpPr/>
          <p:nvPr/>
        </p:nvSpPr>
        <p:spPr>
          <a:xfrm>
            <a:off x="320040" y="4072274"/>
            <a:ext cx="5486400" cy="640080"/>
          </a:xfrm>
          <a:prstGeom prst="rect">
            <a:avLst/>
          </a:prstGeom>
          <a:noFill/>
          <a:ln/>
        </p:spPr>
        <p:txBody>
          <a:bodyPr wrap="square" lIns="0" tIns="0" rIns="0" bIns="0" rtlCol="0" anchor="ctr"/>
          <a:lstStyle/>
          <a:p>
            <a:pPr marL="0" indent="0">
              <a:buNone/>
            </a:pPr>
            <a:r>
              <a:rPr lang="en-US" sz="1200" dirty="0">
                <a:solidFill>
                  <a:srgbClr val="1A3260"/>
                </a:solidFill>
              </a:rPr>
              <a:t>Analysis for the period May 2023 – April 2024</a:t>
            </a:r>
          </a:p>
          <a:p>
            <a:pPr marL="0" indent="0">
              <a:buNone/>
            </a:pPr>
            <a:r>
              <a:rPr lang="en-US" sz="1200" dirty="0">
                <a:solidFill>
                  <a:srgbClr val="1A3260"/>
                </a:solidFill>
              </a:rPr>
              <a:t>Data: Retail Transaction Dataset</a:t>
            </a:r>
            <a:endParaRPr lang="en-US" sz="1200" dirty="0"/>
          </a:p>
        </p:txBody>
      </p:sp>
    </p:spTree>
    <p:extLst>
      <p:ext uri="{BB962C8B-B14F-4D97-AF65-F5344CB8AC3E}">
        <p14:creationId xmlns:p14="http://schemas.microsoft.com/office/powerpoint/2010/main" val="37700101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546</TotalTime>
  <Words>2083</Words>
  <Application>Microsoft Office PowerPoint</Application>
  <PresentationFormat>On-screen Show (16:9)</PresentationFormat>
  <Paragraphs>253</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-apple-system</vt:lpstr>
      <vt:lpstr>Arial</vt:lpstr>
      <vt:lpstr>Calibri</vt:lpstr>
      <vt:lpstr>Unesa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Retail Transaction Analysis</dc:title>
  <dc:subject>PptxGenJS Presentation</dc:subject>
  <dc:creator>PptxGenJS</dc:creator>
  <cp:lastModifiedBy>Faraj Hafidh</cp:lastModifiedBy>
  <cp:revision>49</cp:revision>
  <dcterms:created xsi:type="dcterms:W3CDTF">2026-05-03T11:46:34Z</dcterms:created>
  <dcterms:modified xsi:type="dcterms:W3CDTF">2026-05-15T06:14:56Z</dcterms:modified>
</cp:coreProperties>
</file>